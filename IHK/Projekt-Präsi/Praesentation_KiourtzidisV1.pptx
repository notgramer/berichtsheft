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78" r:id="rId7"/>
    <p:sldId id="279" r:id="rId8"/>
    <p:sldId id="280" r:id="rId9"/>
    <p:sldId id="281" r:id="rId10"/>
    <p:sldId id="282" r:id="rId11"/>
    <p:sldId id="261" r:id="rId12"/>
    <p:sldId id="262" r:id="rId13"/>
    <p:sldId id="283" r:id="rId14"/>
    <p:sldId id="264" r:id="rId15"/>
    <p:sldId id="265" r:id="rId16"/>
    <p:sldId id="266" r:id="rId17"/>
    <p:sldId id="267" r:id="rId18"/>
    <p:sldId id="268" r:id="rId19"/>
    <p:sldId id="269" r:id="rId20"/>
    <p:sldId id="284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9144000" cy="5143500" type="screen16x9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74B5"/>
    <a:srgbClr val="A6A6A6"/>
    <a:srgbClr val="1F4E79"/>
    <a:srgbClr val="B3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158" d="100"/>
          <a:sy n="158" d="100"/>
        </p:scale>
        <p:origin x="300" y="138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0134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422205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6/29/2026</a:t>
            </a:fld>
            <a:endParaRPr lang="en-US"/>
          </a:p>
        </p:txBody>
      </p:sp>
      <p:sp>
        <p:nvSpPr>
          <p:cNvPr id="1881156916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0880307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574755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877760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214026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927186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4088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50842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147782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969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346920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478594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9400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B8E202-5E66-541C-B729-3C4639B749A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97967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174470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268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C38AB1-618D-DE5D-2D15-C8BD595D9050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89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66278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240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FFFDDA-D214-BED8-9077-7D8E24A43589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9C5E3-B88D-0E14-6703-BDDDE2E3AEC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899" name="Slide Image Placeholder 1">
            <a:extLst>
              <a:ext uri="{FF2B5EF4-FFF2-40B4-BE49-F238E27FC236}">
                <a16:creationId xmlns:a16="http://schemas.microsoft.com/office/drawing/2014/main" id="{6221F78E-90DB-EE07-AA28-5EA0CF06D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66278484" name="Notes Placeholder 2">
            <a:extLst>
              <a:ext uri="{FF2B5EF4-FFF2-40B4-BE49-F238E27FC236}">
                <a16:creationId xmlns:a16="http://schemas.microsoft.com/office/drawing/2014/main" id="{8CCE87FE-D121-545C-DCD9-77A22E8A92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240216" name="Slide Number Placeholder 3">
            <a:extLst>
              <a:ext uri="{FF2B5EF4-FFF2-40B4-BE49-F238E27FC236}">
                <a16:creationId xmlns:a16="http://schemas.microsoft.com/office/drawing/2014/main" id="{45BC82A0-BB67-0400-099E-635C05475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FFFDDA-D214-BED8-9077-7D8E24A43589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69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4152B-D247-13B1-7DCB-2D0FA546AFE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899" name="Slide Image Placeholder 1">
            <a:extLst>
              <a:ext uri="{FF2B5EF4-FFF2-40B4-BE49-F238E27FC236}">
                <a16:creationId xmlns:a16="http://schemas.microsoft.com/office/drawing/2014/main" id="{F7FB6C79-99A1-091F-8EB2-86C4360AE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66278484" name="Notes Placeholder 2">
            <a:extLst>
              <a:ext uri="{FF2B5EF4-FFF2-40B4-BE49-F238E27FC236}">
                <a16:creationId xmlns:a16="http://schemas.microsoft.com/office/drawing/2014/main" id="{DE2A2646-1E77-531F-BAB7-316B1086A5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240216" name="Slide Number Placeholder 3">
            <a:extLst>
              <a:ext uri="{FF2B5EF4-FFF2-40B4-BE49-F238E27FC236}">
                <a16:creationId xmlns:a16="http://schemas.microsoft.com/office/drawing/2014/main" id="{ACD03A2D-76DF-1EE0-1FFB-44B7132E4E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FFFDDA-D214-BED8-9077-7D8E24A43589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1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7835E-C0F1-638B-F2DF-58C788EEC64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899" name="Slide Image Placeholder 1">
            <a:extLst>
              <a:ext uri="{FF2B5EF4-FFF2-40B4-BE49-F238E27FC236}">
                <a16:creationId xmlns:a16="http://schemas.microsoft.com/office/drawing/2014/main" id="{35E16B2B-BCD6-71BF-9D99-BE6EEF8DA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66278484" name="Notes Placeholder 2">
            <a:extLst>
              <a:ext uri="{FF2B5EF4-FFF2-40B4-BE49-F238E27FC236}">
                <a16:creationId xmlns:a16="http://schemas.microsoft.com/office/drawing/2014/main" id="{8B3A9CE9-3816-1E94-02C0-72C43F8AB8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240216" name="Slide Number Placeholder 3">
            <a:extLst>
              <a:ext uri="{FF2B5EF4-FFF2-40B4-BE49-F238E27FC236}">
                <a16:creationId xmlns:a16="http://schemas.microsoft.com/office/drawing/2014/main" id="{548BD9EB-2BFC-F023-2EBA-8354DFFCFF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FFFDDA-D214-BED8-9077-7D8E24A43589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06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8BF48-B0C1-64E7-E4F5-6731BFEB19A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899" name="Slide Image Placeholder 1">
            <a:extLst>
              <a:ext uri="{FF2B5EF4-FFF2-40B4-BE49-F238E27FC236}">
                <a16:creationId xmlns:a16="http://schemas.microsoft.com/office/drawing/2014/main" id="{A53FD1C4-46D6-722F-D206-863526CF8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66278484" name="Notes Placeholder 2">
            <a:extLst>
              <a:ext uri="{FF2B5EF4-FFF2-40B4-BE49-F238E27FC236}">
                <a16:creationId xmlns:a16="http://schemas.microsoft.com/office/drawing/2014/main" id="{09C525C2-CDFA-5C5F-759F-6669C2D8D3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240216" name="Slide Number Placeholder 3">
            <a:extLst>
              <a:ext uri="{FF2B5EF4-FFF2-40B4-BE49-F238E27FC236}">
                <a16:creationId xmlns:a16="http://schemas.microsoft.com/office/drawing/2014/main" id="{58081A28-D331-0A80-1F0C-6BE2C2C5D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FFFDDA-D214-BED8-9077-7D8E24A43589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6048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E8049-CCE3-7A9F-DDD6-87FD24CFB5D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899" name="Slide Image Placeholder 1">
            <a:extLst>
              <a:ext uri="{FF2B5EF4-FFF2-40B4-BE49-F238E27FC236}">
                <a16:creationId xmlns:a16="http://schemas.microsoft.com/office/drawing/2014/main" id="{CC5CD47C-B777-E7CE-C057-F61BE4C2B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66278484" name="Notes Placeholder 2">
            <a:extLst>
              <a:ext uri="{FF2B5EF4-FFF2-40B4-BE49-F238E27FC236}">
                <a16:creationId xmlns:a16="http://schemas.microsoft.com/office/drawing/2014/main" id="{15B8EC4A-3C86-E613-68C3-BD404BDDBE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240216" name="Slide Number Placeholder 3">
            <a:extLst>
              <a:ext uri="{FF2B5EF4-FFF2-40B4-BE49-F238E27FC236}">
                <a16:creationId xmlns:a16="http://schemas.microsoft.com/office/drawing/2014/main" id="{F2A32D41-E799-9B11-3E0E-048475DC2D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FFFDDA-D214-BED8-9077-7D8E24A43589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854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751614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831808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41411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531828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2083221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107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769DC-24E2-2337-94E6-4E1239C81B2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149099" name="Slide Image Placeholder 1">
            <a:extLst>
              <a:ext uri="{FF2B5EF4-FFF2-40B4-BE49-F238E27FC236}">
                <a16:creationId xmlns:a16="http://schemas.microsoft.com/office/drawing/2014/main" id="{F4CFC919-0D49-24BC-FB1D-335039A9D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1344971908" name="Notes Placeholder 2">
            <a:extLst>
              <a:ext uri="{FF2B5EF4-FFF2-40B4-BE49-F238E27FC236}">
                <a16:creationId xmlns:a16="http://schemas.microsoft.com/office/drawing/2014/main" id="{52C070EF-1F3F-4264-2CC6-77DAB06AE3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4647959" name="Slide Number Placeholder 3">
            <a:extLst>
              <a:ext uri="{FF2B5EF4-FFF2-40B4-BE49-F238E27FC236}">
                <a16:creationId xmlns:a16="http://schemas.microsoft.com/office/drawing/2014/main" id="{E2D79415-CBFB-4477-BE39-D5C8C09464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180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056111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620551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07869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0069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2139728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449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589858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2000686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6416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030513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2093643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726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524206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319068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0824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914214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307192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4062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7DAF8-5BA2-9194-79C6-34E73D06714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4079" name="Slide Image Placeholder 1">
            <a:extLst>
              <a:ext uri="{FF2B5EF4-FFF2-40B4-BE49-F238E27FC236}">
                <a16:creationId xmlns:a16="http://schemas.microsoft.com/office/drawing/2014/main" id="{D6E97316-8D9E-EB40-FBB4-4EB54AA8D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1297289152" name="Notes Placeholder 2">
            <a:extLst>
              <a:ext uri="{FF2B5EF4-FFF2-40B4-BE49-F238E27FC236}">
                <a16:creationId xmlns:a16="http://schemas.microsoft.com/office/drawing/2014/main" id="{2AE35CF8-0DCA-3DC1-8514-7F28D17FD8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4165430" name="Slide Number Placeholder 3">
            <a:extLst>
              <a:ext uri="{FF2B5EF4-FFF2-40B4-BE49-F238E27FC236}">
                <a16:creationId xmlns:a16="http://schemas.microsoft.com/office/drawing/2014/main" id="{07492EF5-C4DF-20E8-8BA4-05E8D14963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8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407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1297289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4165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43740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703091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691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59300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639590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9442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730725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803926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4580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753077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19600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52130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073367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488955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79780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797586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78708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327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2485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197082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22149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A15BADC9-E388-BD87-9DD6-A204363B647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855075" y="4973320"/>
            <a:ext cx="242888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342327" name="!!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66338050" name="Text 1"/>
          <p:cNvSpPr/>
          <p:nvPr/>
        </p:nvSpPr>
        <p:spPr bwMode="auto">
          <a:xfrm>
            <a:off x="502920" y="91440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Aufbau </a:t>
            </a: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einer</a:t>
            </a: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virtuellen</a:t>
            </a: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 IT-</a:t>
            </a: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Infrastruktur</a:t>
            </a:r>
            <a:endParaRPr lang="en-US" sz="38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0" indent="0" algn="l">
              <a:buNone/>
              <a:defRPr/>
            </a:pP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zur</a:t>
            </a: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Implementierung</a:t>
            </a: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eines</a:t>
            </a: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zentralen</a:t>
            </a:r>
            <a:endParaRPr lang="en-US" sz="38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0" indent="0" algn="l">
              <a:buNone/>
              <a:defRPr/>
            </a:pP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Monitoring-Systems</a:t>
            </a:r>
            <a:endParaRPr lang="en-US" sz="38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10456591" name="Text 2"/>
          <p:cNvSpPr/>
          <p:nvPr/>
        </p:nvSpPr>
        <p:spPr bwMode="auto">
          <a:xfrm>
            <a:off x="502920" y="2834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0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Abschlussprojekt Fachinformatiker Systemintegration · Sommer 2026</a:t>
            </a:r>
            <a:endParaRPr lang="en-US" sz="2000"/>
          </a:p>
        </p:txBody>
      </p:sp>
      <p:sp>
        <p:nvSpPr>
          <p:cNvPr id="357178745" name="Text 3"/>
          <p:cNvSpPr/>
          <p:nvPr/>
        </p:nvSpPr>
        <p:spPr bwMode="auto">
          <a:xfrm>
            <a:off x="502920" y="4480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8BAFC8"/>
                </a:solidFill>
                <a:latin typeface="Calibri"/>
                <a:ea typeface="Calibri"/>
                <a:cs typeface="Calibri"/>
              </a:rPr>
              <a:t>Ioannis Kiourtzidis  |  Bissantz &amp; Company GmbH  |  Sommer 2026</a:t>
            </a:r>
            <a:endParaRPr lang="en-US" sz="13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351199" name="Shape 3"/>
          <p:cNvSpPr/>
          <p:nvPr/>
        </p:nvSpPr>
        <p:spPr bwMode="auto">
          <a:xfrm>
            <a:off x="411480" y="1014984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2033021" name="Shape 9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3280750" name="Shape 8"/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63769775" name="!!Shape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 dirty="0"/>
          </a:p>
        </p:txBody>
      </p:sp>
      <p:sp>
        <p:nvSpPr>
          <p:cNvPr id="1211097787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5611619" name="Shape 4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04840831" name="Text 5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1026750607" name="Text 6"/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lang="en-US" sz="1300"/>
          </a:p>
        </p:txBody>
      </p:sp>
      <p:sp>
        <p:nvSpPr>
          <p:cNvPr id="30156623" name="Text 10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400"/>
          </a:p>
        </p:txBody>
      </p:sp>
      <p:sp>
        <p:nvSpPr>
          <p:cNvPr id="752962867" name="Text 11"/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Projektziel</a:t>
            </a:r>
            <a:endParaRPr lang="en-US" sz="1300" dirty="0"/>
          </a:p>
        </p:txBody>
      </p:sp>
      <p:sp>
        <p:nvSpPr>
          <p:cNvPr id="632577923" name="Shape 13"/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6186051" name="Shape 14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81764811" name="Text 15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1523102982" name="Text 16"/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Systemarchitektur</a:t>
            </a:r>
            <a:endParaRPr lang="en-US" sz="1300"/>
          </a:p>
        </p:txBody>
      </p:sp>
      <p:sp>
        <p:nvSpPr>
          <p:cNvPr id="660524581" name="Shape 18"/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11362712" name="Shape 19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73094154" name="Text 20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89037806" name="Text 21"/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lang="en-US" sz="1300"/>
          </a:p>
        </p:txBody>
      </p:sp>
      <p:sp>
        <p:nvSpPr>
          <p:cNvPr id="1106073471" name="Shape 23"/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6053288" name="Shape 24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89451003" name="Text 25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626687986" name="Text 26"/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Implementierung</a:t>
            </a:r>
            <a:endParaRPr lang="en-US" sz="1300"/>
          </a:p>
        </p:txBody>
      </p:sp>
      <p:sp>
        <p:nvSpPr>
          <p:cNvPr id="875132478" name="Shape 28"/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16930259" name="Shape 29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1118695" name="Text 30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71463573" name="Text 31"/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lang="en-US" sz="1300"/>
          </a:p>
        </p:txBody>
      </p:sp>
      <p:sp>
        <p:nvSpPr>
          <p:cNvPr id="1248020954" name="Shape 33"/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6535827" name="Shape 34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69407709" name="Text 35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1778507062" name="Text 36"/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lang="en-US" sz="1300"/>
          </a:p>
        </p:txBody>
      </p:sp>
      <p:sp>
        <p:nvSpPr>
          <p:cNvPr id="1609885425" name="Shape 38"/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0939996" name="Shape 39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48073713" name="Text 40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965357587" name="Text 41"/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Fazit &amp; Ausblick</a:t>
            </a:r>
            <a:endParaRPr lang="en-US" sz="1300"/>
          </a:p>
        </p:txBody>
      </p:sp>
      <p:sp>
        <p:nvSpPr>
          <p:cNvPr id="4" name="Anzeiger">
            <a:extLst>
              <a:ext uri="{FF2B5EF4-FFF2-40B4-BE49-F238E27FC236}">
                <a16:creationId xmlns:a16="http://schemas.microsoft.com/office/drawing/2014/main" id="{347CB75D-8076-B202-0462-2D959EF0600E}"/>
              </a:ext>
            </a:extLst>
          </p:cNvPr>
          <p:cNvSpPr/>
          <p:nvPr/>
        </p:nvSpPr>
        <p:spPr bwMode="auto">
          <a:xfrm>
            <a:off x="450963" y="-1627632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865769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1180477243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97553891" name="Shape 3"/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86617083" name="Shape 4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34630197" name="Text 5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20717504" name="Text 6"/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lang="en-US" sz="1300"/>
          </a:p>
        </p:txBody>
      </p:sp>
      <p:sp>
        <p:nvSpPr>
          <p:cNvPr id="1069026900" name="Shape 8"/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93534599" name="Shape 9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24632613" name="Text 10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400"/>
          </a:p>
        </p:txBody>
      </p:sp>
      <p:sp>
        <p:nvSpPr>
          <p:cNvPr id="2060393772" name="Text 11"/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4152346" name="Shape 13"/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48734118" name="Shape 14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82284612" name="Text 15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720761890" name="Text 16"/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61233739" name="Shape 18"/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611453" name="Shape 19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53731652" name="Text 20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843744979" name="Text 21"/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80490211" name="Shape 23"/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91494536" name="Shape 24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9465826" name="Text 25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344605560" name="Text 26"/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05771511" name="Shape 28"/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4750572" name="Shape 29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68469905" name="Text 30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9813883" name="Text 31"/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73448204" name="Shape 33"/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7634101" name="Shape 34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84474072" name="Text 35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1227101324" name="Text 36"/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44234917" name="Shape 38"/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91711755" name="Shape 39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25092358" name="Text 40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976541983" name="Text 41"/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ED7871FD-D67F-9B4C-DF68-EE0204920C22}"/>
              </a:ext>
            </a:extLst>
          </p:cNvPr>
          <p:cNvSpPr/>
          <p:nvPr/>
        </p:nvSpPr>
        <p:spPr bwMode="auto">
          <a:xfrm>
            <a:off x="412864" y="100584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00387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626935657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09788228" name="Shape 3"/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9557890" name="Shape 4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22117928" name="Text 5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1609944422" name="Text 6"/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92623497" name="Shape 8"/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98139430" name="Shape 9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0547030" name="Text 10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7332363" name="Text 11"/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tx1"/>
              </a:solidFill>
            </a:endParaRPr>
          </a:p>
        </p:txBody>
      </p:sp>
      <p:sp>
        <p:nvSpPr>
          <p:cNvPr id="1913816319" name="Shape 13"/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3625843" name="Shape 14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96932930" name="Text 15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1073533166" name="Text 16"/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29106082" name="Shape 18"/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88531412" name="Shape 19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9993939" name="Text 20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2110354638" name="Text 21"/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08881272" name="Shape 23"/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715388" name="Shape 24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26432951" name="Text 25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1823361809" name="Text 26"/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46668116" name="Shape 28"/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59494867" name="Shape 29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14016406" name="Text 30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933118856" name="Text 31"/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035567326" name="Shape 33"/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23057362" name="Shape 34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1598580" name="Text 35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1472362019" name="Text 36"/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06883572" name="Shape 38"/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68767483" name="Shape 39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52661534" name="Text 40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90003663" name="Text 41"/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DF627B22-79D2-4C88-A426-5F8B1313F903}"/>
              </a:ext>
            </a:extLst>
          </p:cNvPr>
          <p:cNvSpPr/>
          <p:nvPr/>
        </p:nvSpPr>
        <p:spPr bwMode="auto">
          <a:xfrm>
            <a:off x="412864" y="1968727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78887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869437356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4453572" name="Shape 3"/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1337661" name="Shape 4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758461" name="Text 5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368860147" name="Text 6"/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8704985" name="Shape 8"/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21823693" name="Shape 9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113082" name="Text 10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45715279" name="Text 11"/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75426089" name="Shape 13"/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492451" name="Shape 14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4350226" name="Text 15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126149793" name="Text 16"/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30053037" name="Shape 18"/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4880504" name="Shape 19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4103900" name="Text 20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322012116" name="Text 21"/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82292812" name="Shape 23"/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8495548" name="Shape 24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97200296" name="Text 25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2121776462" name="Text 26"/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46939193" name="Shape 28"/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3839944" name="Shape 29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0231556" name="Text 30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783669986" name="Text 31"/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04377321" name="Shape 33"/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8786287" name="Shape 34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78365891" name="Text 35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560667217" name="Text 36"/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2782640" name="Shape 38"/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4790769" name="Shape 39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946519" name="Text 40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374344216" name="Text 41"/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BAB20858-EE91-AF1E-948B-3B58DD2F5B78}"/>
              </a:ext>
            </a:extLst>
          </p:cNvPr>
          <p:cNvSpPr/>
          <p:nvPr/>
        </p:nvSpPr>
        <p:spPr bwMode="auto">
          <a:xfrm>
            <a:off x="412864" y="292608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E3FF7-D6D9-F094-D2E8-6EC12C7C24E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78887" name="Text 0">
            <a:extLst>
              <a:ext uri="{FF2B5EF4-FFF2-40B4-BE49-F238E27FC236}">
                <a16:creationId xmlns:a16="http://schemas.microsoft.com/office/drawing/2014/main" id="{B887A3C8-4514-4704-E8C7-6C0FF5533D6B}"/>
              </a:ext>
            </a:extLst>
          </p:cNvPr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869437356" name="Shape 1">
            <a:extLst>
              <a:ext uri="{FF2B5EF4-FFF2-40B4-BE49-F238E27FC236}">
                <a16:creationId xmlns:a16="http://schemas.microsoft.com/office/drawing/2014/main" id="{14C44AC4-5AB4-DC0D-263A-DFBE3CC1556E}"/>
              </a:ext>
            </a:extLst>
          </p:cNvPr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4453572" name="Shape 3">
            <a:extLst>
              <a:ext uri="{FF2B5EF4-FFF2-40B4-BE49-F238E27FC236}">
                <a16:creationId xmlns:a16="http://schemas.microsoft.com/office/drawing/2014/main" id="{8AA96055-473D-8C45-2251-E5415C14B8BD}"/>
              </a:ext>
            </a:extLst>
          </p:cNvPr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1337661" name="Shape 4">
            <a:extLst>
              <a:ext uri="{FF2B5EF4-FFF2-40B4-BE49-F238E27FC236}">
                <a16:creationId xmlns:a16="http://schemas.microsoft.com/office/drawing/2014/main" id="{B0B3ED93-6583-F9ED-F979-89DDCDA1B36C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758461" name="Text 5">
            <a:extLst>
              <a:ext uri="{FF2B5EF4-FFF2-40B4-BE49-F238E27FC236}">
                <a16:creationId xmlns:a16="http://schemas.microsoft.com/office/drawing/2014/main" id="{D60670C6-EA31-6B9D-D21E-564DAEE08C11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368860147" name="Text 6">
            <a:extLst>
              <a:ext uri="{FF2B5EF4-FFF2-40B4-BE49-F238E27FC236}">
                <a16:creationId xmlns:a16="http://schemas.microsoft.com/office/drawing/2014/main" id="{AC7A63C7-987D-16C9-BD4B-75FE93B04AEA}"/>
              </a:ext>
            </a:extLst>
          </p:cNvPr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8704985" name="Shape 8">
            <a:extLst>
              <a:ext uri="{FF2B5EF4-FFF2-40B4-BE49-F238E27FC236}">
                <a16:creationId xmlns:a16="http://schemas.microsoft.com/office/drawing/2014/main" id="{006023BF-55EC-4715-E0AA-A13A29801079}"/>
              </a:ext>
            </a:extLst>
          </p:cNvPr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21823693" name="Shape 9">
            <a:extLst>
              <a:ext uri="{FF2B5EF4-FFF2-40B4-BE49-F238E27FC236}">
                <a16:creationId xmlns:a16="http://schemas.microsoft.com/office/drawing/2014/main" id="{263589FE-5CAA-C6D1-49DE-A2AC67C55D41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113082" name="Text 10">
            <a:extLst>
              <a:ext uri="{FF2B5EF4-FFF2-40B4-BE49-F238E27FC236}">
                <a16:creationId xmlns:a16="http://schemas.microsoft.com/office/drawing/2014/main" id="{7D3F108C-8DFE-9B83-20A2-D50D818BD584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45715279" name="Text 11">
            <a:extLst>
              <a:ext uri="{FF2B5EF4-FFF2-40B4-BE49-F238E27FC236}">
                <a16:creationId xmlns:a16="http://schemas.microsoft.com/office/drawing/2014/main" id="{CA6FCF21-7B30-CEF4-2376-7A164AB30AB1}"/>
              </a:ext>
            </a:extLst>
          </p:cNvPr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75426089" name="Shape 13">
            <a:extLst>
              <a:ext uri="{FF2B5EF4-FFF2-40B4-BE49-F238E27FC236}">
                <a16:creationId xmlns:a16="http://schemas.microsoft.com/office/drawing/2014/main" id="{BE7293CA-CED3-BC27-9C5A-7458B0167C8A}"/>
              </a:ext>
            </a:extLst>
          </p:cNvPr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492451" name="Shape 14">
            <a:extLst>
              <a:ext uri="{FF2B5EF4-FFF2-40B4-BE49-F238E27FC236}">
                <a16:creationId xmlns:a16="http://schemas.microsoft.com/office/drawing/2014/main" id="{9BA9786F-7A7C-618A-CF6D-8591CC14691C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4350226" name="Text 15">
            <a:extLst>
              <a:ext uri="{FF2B5EF4-FFF2-40B4-BE49-F238E27FC236}">
                <a16:creationId xmlns:a16="http://schemas.microsoft.com/office/drawing/2014/main" id="{3B502357-EA61-616C-5708-EC3D60D4E043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2126149793" name="Text 16">
            <a:extLst>
              <a:ext uri="{FF2B5EF4-FFF2-40B4-BE49-F238E27FC236}">
                <a16:creationId xmlns:a16="http://schemas.microsoft.com/office/drawing/2014/main" id="{F9C7FF19-C714-6A1D-0789-A0AC32DEDB8C}"/>
              </a:ext>
            </a:extLst>
          </p:cNvPr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30053037" name="Shape 18">
            <a:extLst>
              <a:ext uri="{FF2B5EF4-FFF2-40B4-BE49-F238E27FC236}">
                <a16:creationId xmlns:a16="http://schemas.microsoft.com/office/drawing/2014/main" id="{9B4A25CE-9268-B830-F2DB-C18CC75B7592}"/>
              </a:ext>
            </a:extLst>
          </p:cNvPr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4880504" name="Shape 19">
            <a:extLst>
              <a:ext uri="{FF2B5EF4-FFF2-40B4-BE49-F238E27FC236}">
                <a16:creationId xmlns:a16="http://schemas.microsoft.com/office/drawing/2014/main" id="{67EA39EF-0A04-4A1F-CE80-9C9C098575B3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4103900" name="Text 20">
            <a:extLst>
              <a:ext uri="{FF2B5EF4-FFF2-40B4-BE49-F238E27FC236}">
                <a16:creationId xmlns:a16="http://schemas.microsoft.com/office/drawing/2014/main" id="{F831276A-DB92-0267-04A9-347CE409212C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2012116" name="Text 21">
            <a:extLst>
              <a:ext uri="{FF2B5EF4-FFF2-40B4-BE49-F238E27FC236}">
                <a16:creationId xmlns:a16="http://schemas.microsoft.com/office/drawing/2014/main" id="{F041D095-A28E-145B-3DF7-C1296C79D653}"/>
              </a:ext>
            </a:extLst>
          </p:cNvPr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latin typeface="Calibri"/>
                <a:ea typeface="Calibri"/>
                <a:cs typeface="Calibri"/>
              </a:rPr>
              <a:t>Technologie-</a:t>
            </a:r>
            <a:r>
              <a:rPr lang="en-US" sz="1300" b="1" dirty="0" err="1">
                <a:latin typeface="Calibri"/>
                <a:ea typeface="Calibri"/>
                <a:cs typeface="Calibri"/>
              </a:rPr>
              <a:t>Entscheidung</a:t>
            </a:r>
            <a:endParaRPr sz="1300" dirty="0"/>
          </a:p>
        </p:txBody>
      </p:sp>
      <p:sp>
        <p:nvSpPr>
          <p:cNvPr id="782292812" name="Shape 23">
            <a:extLst>
              <a:ext uri="{FF2B5EF4-FFF2-40B4-BE49-F238E27FC236}">
                <a16:creationId xmlns:a16="http://schemas.microsoft.com/office/drawing/2014/main" id="{650E2422-4DCF-DA75-E52F-E11BAB156B76}"/>
              </a:ext>
            </a:extLst>
          </p:cNvPr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8495548" name="Shape 24">
            <a:extLst>
              <a:ext uri="{FF2B5EF4-FFF2-40B4-BE49-F238E27FC236}">
                <a16:creationId xmlns:a16="http://schemas.microsoft.com/office/drawing/2014/main" id="{05CD9701-FCB6-6B20-9ADD-064EF53B817B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97200296" name="Text 25">
            <a:extLst>
              <a:ext uri="{FF2B5EF4-FFF2-40B4-BE49-F238E27FC236}">
                <a16:creationId xmlns:a16="http://schemas.microsoft.com/office/drawing/2014/main" id="{D47B0830-69D8-0B4B-29FF-96FFB39C972D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2121776462" name="Text 26">
            <a:extLst>
              <a:ext uri="{FF2B5EF4-FFF2-40B4-BE49-F238E27FC236}">
                <a16:creationId xmlns:a16="http://schemas.microsoft.com/office/drawing/2014/main" id="{15DB669F-DADF-4637-852D-92B41D842967}"/>
              </a:ext>
            </a:extLst>
          </p:cNvPr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46939193" name="Shape 28">
            <a:extLst>
              <a:ext uri="{FF2B5EF4-FFF2-40B4-BE49-F238E27FC236}">
                <a16:creationId xmlns:a16="http://schemas.microsoft.com/office/drawing/2014/main" id="{057B70E8-4C1A-063C-A857-815250DF6C12}"/>
              </a:ext>
            </a:extLst>
          </p:cNvPr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3839944" name="Shape 29">
            <a:extLst>
              <a:ext uri="{FF2B5EF4-FFF2-40B4-BE49-F238E27FC236}">
                <a16:creationId xmlns:a16="http://schemas.microsoft.com/office/drawing/2014/main" id="{9C6AEC18-00C0-7F00-9435-95D4E0F61F8F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0231556" name="Text 30">
            <a:extLst>
              <a:ext uri="{FF2B5EF4-FFF2-40B4-BE49-F238E27FC236}">
                <a16:creationId xmlns:a16="http://schemas.microsoft.com/office/drawing/2014/main" id="{F4A0B423-609C-A810-2DFC-5167ED1AD145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783669986" name="Text 31">
            <a:extLst>
              <a:ext uri="{FF2B5EF4-FFF2-40B4-BE49-F238E27FC236}">
                <a16:creationId xmlns:a16="http://schemas.microsoft.com/office/drawing/2014/main" id="{7E0667A6-1A67-8B24-F59C-4BE176F69640}"/>
              </a:ext>
            </a:extLst>
          </p:cNvPr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04377321" name="Shape 33">
            <a:extLst>
              <a:ext uri="{FF2B5EF4-FFF2-40B4-BE49-F238E27FC236}">
                <a16:creationId xmlns:a16="http://schemas.microsoft.com/office/drawing/2014/main" id="{5D33A06B-2143-3AFA-9759-9627D930F482}"/>
              </a:ext>
            </a:extLst>
          </p:cNvPr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8786287" name="Shape 34">
            <a:extLst>
              <a:ext uri="{FF2B5EF4-FFF2-40B4-BE49-F238E27FC236}">
                <a16:creationId xmlns:a16="http://schemas.microsoft.com/office/drawing/2014/main" id="{53BAFCDB-51DD-8B09-9548-B0A7B1E76418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78365891" name="Text 35">
            <a:extLst>
              <a:ext uri="{FF2B5EF4-FFF2-40B4-BE49-F238E27FC236}">
                <a16:creationId xmlns:a16="http://schemas.microsoft.com/office/drawing/2014/main" id="{99B641A3-E2FA-AAF4-1366-609BE27432A2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560667217" name="Text 36">
            <a:extLst>
              <a:ext uri="{FF2B5EF4-FFF2-40B4-BE49-F238E27FC236}">
                <a16:creationId xmlns:a16="http://schemas.microsoft.com/office/drawing/2014/main" id="{EBA9DFCC-CF9F-70D5-D16E-44190EEE42E7}"/>
              </a:ext>
            </a:extLst>
          </p:cNvPr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2782640" name="Shape 38">
            <a:extLst>
              <a:ext uri="{FF2B5EF4-FFF2-40B4-BE49-F238E27FC236}">
                <a16:creationId xmlns:a16="http://schemas.microsoft.com/office/drawing/2014/main" id="{02AFD7CB-431C-58D8-B6D5-5BFF63F8919C}"/>
              </a:ext>
            </a:extLst>
          </p:cNvPr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4790769" name="Shape 39">
            <a:extLst>
              <a:ext uri="{FF2B5EF4-FFF2-40B4-BE49-F238E27FC236}">
                <a16:creationId xmlns:a16="http://schemas.microsoft.com/office/drawing/2014/main" id="{A3F798AE-8F76-3457-D822-CD78D7CD250B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946519" name="Text 40">
            <a:extLst>
              <a:ext uri="{FF2B5EF4-FFF2-40B4-BE49-F238E27FC236}">
                <a16:creationId xmlns:a16="http://schemas.microsoft.com/office/drawing/2014/main" id="{E5AAB196-FE8A-FA92-B5D5-E2BEC78D4F4E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374344216" name="Text 41">
            <a:extLst>
              <a:ext uri="{FF2B5EF4-FFF2-40B4-BE49-F238E27FC236}">
                <a16:creationId xmlns:a16="http://schemas.microsoft.com/office/drawing/2014/main" id="{FCCD7CE6-EE58-F7D9-3890-2AD92476F72E}"/>
              </a:ext>
            </a:extLst>
          </p:cNvPr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20FF0414-CC55-8625-B089-542A373FAE93}"/>
              </a:ext>
            </a:extLst>
          </p:cNvPr>
          <p:cNvSpPr/>
          <p:nvPr/>
        </p:nvSpPr>
        <p:spPr bwMode="auto">
          <a:xfrm>
            <a:off x="412864" y="388620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8284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13599-8CF3-7EDC-B210-E79BEE271E1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78887" name="Text 0">
            <a:extLst>
              <a:ext uri="{FF2B5EF4-FFF2-40B4-BE49-F238E27FC236}">
                <a16:creationId xmlns:a16="http://schemas.microsoft.com/office/drawing/2014/main" id="{415C17BC-03CB-1CE0-DE32-F83B5D2847CC}"/>
              </a:ext>
            </a:extLst>
          </p:cNvPr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869437356" name="Shape 1">
            <a:extLst>
              <a:ext uri="{FF2B5EF4-FFF2-40B4-BE49-F238E27FC236}">
                <a16:creationId xmlns:a16="http://schemas.microsoft.com/office/drawing/2014/main" id="{3B508ED7-9766-28F2-D969-314036928611}"/>
              </a:ext>
            </a:extLst>
          </p:cNvPr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4453572" name="Shape 3">
            <a:extLst>
              <a:ext uri="{FF2B5EF4-FFF2-40B4-BE49-F238E27FC236}">
                <a16:creationId xmlns:a16="http://schemas.microsoft.com/office/drawing/2014/main" id="{4CBD3066-DD6C-34CF-042B-109857B58335}"/>
              </a:ext>
            </a:extLst>
          </p:cNvPr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1337661" name="Shape 4">
            <a:extLst>
              <a:ext uri="{FF2B5EF4-FFF2-40B4-BE49-F238E27FC236}">
                <a16:creationId xmlns:a16="http://schemas.microsoft.com/office/drawing/2014/main" id="{20C3FC52-F5EA-4B64-B086-C71B82C21FF5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758461" name="Text 5">
            <a:extLst>
              <a:ext uri="{FF2B5EF4-FFF2-40B4-BE49-F238E27FC236}">
                <a16:creationId xmlns:a16="http://schemas.microsoft.com/office/drawing/2014/main" id="{BD9CF79C-E016-4DD8-5CED-05C7F0015B35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368860147" name="Text 6">
            <a:extLst>
              <a:ext uri="{FF2B5EF4-FFF2-40B4-BE49-F238E27FC236}">
                <a16:creationId xmlns:a16="http://schemas.microsoft.com/office/drawing/2014/main" id="{8D04FAB1-E4DC-2C43-05DC-507A0EE45D7B}"/>
              </a:ext>
            </a:extLst>
          </p:cNvPr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8704985" name="Shape 8">
            <a:extLst>
              <a:ext uri="{FF2B5EF4-FFF2-40B4-BE49-F238E27FC236}">
                <a16:creationId xmlns:a16="http://schemas.microsoft.com/office/drawing/2014/main" id="{9CC6BC81-5588-A761-1472-434902A0583A}"/>
              </a:ext>
            </a:extLst>
          </p:cNvPr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21823693" name="Shape 9">
            <a:extLst>
              <a:ext uri="{FF2B5EF4-FFF2-40B4-BE49-F238E27FC236}">
                <a16:creationId xmlns:a16="http://schemas.microsoft.com/office/drawing/2014/main" id="{D64EBEC6-EDFA-CDDF-54D8-8216A891D1E1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113082" name="Text 10">
            <a:extLst>
              <a:ext uri="{FF2B5EF4-FFF2-40B4-BE49-F238E27FC236}">
                <a16:creationId xmlns:a16="http://schemas.microsoft.com/office/drawing/2014/main" id="{0C5AEC30-92AA-A123-A5F7-1528AE57B3FF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45715279" name="Text 11">
            <a:extLst>
              <a:ext uri="{FF2B5EF4-FFF2-40B4-BE49-F238E27FC236}">
                <a16:creationId xmlns:a16="http://schemas.microsoft.com/office/drawing/2014/main" id="{307947E6-976B-3040-97D7-6FFA08D29F7A}"/>
              </a:ext>
            </a:extLst>
          </p:cNvPr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75426089" name="Shape 13">
            <a:extLst>
              <a:ext uri="{FF2B5EF4-FFF2-40B4-BE49-F238E27FC236}">
                <a16:creationId xmlns:a16="http://schemas.microsoft.com/office/drawing/2014/main" id="{7315B040-353D-D9CC-13EA-D340D1BD6A6C}"/>
              </a:ext>
            </a:extLst>
          </p:cNvPr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492451" name="Shape 14">
            <a:extLst>
              <a:ext uri="{FF2B5EF4-FFF2-40B4-BE49-F238E27FC236}">
                <a16:creationId xmlns:a16="http://schemas.microsoft.com/office/drawing/2014/main" id="{80529FE8-3A64-78A1-1865-58C296CDD1B7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4350226" name="Text 15">
            <a:extLst>
              <a:ext uri="{FF2B5EF4-FFF2-40B4-BE49-F238E27FC236}">
                <a16:creationId xmlns:a16="http://schemas.microsoft.com/office/drawing/2014/main" id="{EC88077D-72C9-21C5-7B26-2FB3868B6A8C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2126149793" name="Text 16">
            <a:extLst>
              <a:ext uri="{FF2B5EF4-FFF2-40B4-BE49-F238E27FC236}">
                <a16:creationId xmlns:a16="http://schemas.microsoft.com/office/drawing/2014/main" id="{7513285D-7C50-3B9B-D539-46459A969D13}"/>
              </a:ext>
            </a:extLst>
          </p:cNvPr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30053037" name="Shape 18">
            <a:extLst>
              <a:ext uri="{FF2B5EF4-FFF2-40B4-BE49-F238E27FC236}">
                <a16:creationId xmlns:a16="http://schemas.microsoft.com/office/drawing/2014/main" id="{9429A44C-AB7C-9021-6DD7-A409352D4AFD}"/>
              </a:ext>
            </a:extLst>
          </p:cNvPr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4880504" name="Shape 19">
            <a:extLst>
              <a:ext uri="{FF2B5EF4-FFF2-40B4-BE49-F238E27FC236}">
                <a16:creationId xmlns:a16="http://schemas.microsoft.com/office/drawing/2014/main" id="{DC5B6FBD-4C4D-51FB-266D-E7622E74571A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4103900" name="Text 20">
            <a:extLst>
              <a:ext uri="{FF2B5EF4-FFF2-40B4-BE49-F238E27FC236}">
                <a16:creationId xmlns:a16="http://schemas.microsoft.com/office/drawing/2014/main" id="{C7F584C7-2228-FE0A-5BE5-0F5AA144C303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322012116" name="Text 21">
            <a:extLst>
              <a:ext uri="{FF2B5EF4-FFF2-40B4-BE49-F238E27FC236}">
                <a16:creationId xmlns:a16="http://schemas.microsoft.com/office/drawing/2014/main" id="{42838062-A658-D0E7-C5DE-8FC92EA3315A}"/>
              </a:ext>
            </a:extLst>
          </p:cNvPr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82292812" name="Shape 23">
            <a:extLst>
              <a:ext uri="{FF2B5EF4-FFF2-40B4-BE49-F238E27FC236}">
                <a16:creationId xmlns:a16="http://schemas.microsoft.com/office/drawing/2014/main" id="{CB622151-5626-F46E-D75C-F185B5CF57C9}"/>
              </a:ext>
            </a:extLst>
          </p:cNvPr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8495548" name="Shape 24">
            <a:extLst>
              <a:ext uri="{FF2B5EF4-FFF2-40B4-BE49-F238E27FC236}">
                <a16:creationId xmlns:a16="http://schemas.microsoft.com/office/drawing/2014/main" id="{2875EEF6-1A67-F287-EC25-629CC7531978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97200296" name="Text 25">
            <a:extLst>
              <a:ext uri="{FF2B5EF4-FFF2-40B4-BE49-F238E27FC236}">
                <a16:creationId xmlns:a16="http://schemas.microsoft.com/office/drawing/2014/main" id="{053FD488-BC14-C8FD-31A1-103B56B13D55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121776462" name="Text 26">
            <a:extLst>
              <a:ext uri="{FF2B5EF4-FFF2-40B4-BE49-F238E27FC236}">
                <a16:creationId xmlns:a16="http://schemas.microsoft.com/office/drawing/2014/main" id="{1339C0B6-DCDA-14A6-CE65-BC41DF8D378F}"/>
              </a:ext>
            </a:extLst>
          </p:cNvPr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latin typeface="Calibri"/>
                <a:ea typeface="Calibri"/>
                <a:cs typeface="Calibri"/>
              </a:rPr>
              <a:t>Implementierung</a:t>
            </a:r>
            <a:endParaRPr sz="1300" dirty="0"/>
          </a:p>
        </p:txBody>
      </p:sp>
      <p:sp>
        <p:nvSpPr>
          <p:cNvPr id="1646939193" name="Shape 28">
            <a:extLst>
              <a:ext uri="{FF2B5EF4-FFF2-40B4-BE49-F238E27FC236}">
                <a16:creationId xmlns:a16="http://schemas.microsoft.com/office/drawing/2014/main" id="{42F8B5D7-F259-58F1-BA3F-755C94C54346}"/>
              </a:ext>
            </a:extLst>
          </p:cNvPr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3839944" name="Shape 29">
            <a:extLst>
              <a:ext uri="{FF2B5EF4-FFF2-40B4-BE49-F238E27FC236}">
                <a16:creationId xmlns:a16="http://schemas.microsoft.com/office/drawing/2014/main" id="{8BEAA260-661C-00AB-C0CF-BA5AE828F75B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0231556" name="Text 30">
            <a:extLst>
              <a:ext uri="{FF2B5EF4-FFF2-40B4-BE49-F238E27FC236}">
                <a16:creationId xmlns:a16="http://schemas.microsoft.com/office/drawing/2014/main" id="{7C6D037C-5428-6E77-A840-B7B586646843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783669986" name="Text 31">
            <a:extLst>
              <a:ext uri="{FF2B5EF4-FFF2-40B4-BE49-F238E27FC236}">
                <a16:creationId xmlns:a16="http://schemas.microsoft.com/office/drawing/2014/main" id="{B976FE09-2D0F-06E0-5037-11F1138270BD}"/>
              </a:ext>
            </a:extLst>
          </p:cNvPr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04377321" name="Shape 33">
            <a:extLst>
              <a:ext uri="{FF2B5EF4-FFF2-40B4-BE49-F238E27FC236}">
                <a16:creationId xmlns:a16="http://schemas.microsoft.com/office/drawing/2014/main" id="{7636BF73-1F7C-5411-2B37-1726DF3BA409}"/>
              </a:ext>
            </a:extLst>
          </p:cNvPr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8786287" name="Shape 34">
            <a:extLst>
              <a:ext uri="{FF2B5EF4-FFF2-40B4-BE49-F238E27FC236}">
                <a16:creationId xmlns:a16="http://schemas.microsoft.com/office/drawing/2014/main" id="{68D26DF3-DB69-8575-DAB2-AE8FE6921217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78365891" name="Text 35">
            <a:extLst>
              <a:ext uri="{FF2B5EF4-FFF2-40B4-BE49-F238E27FC236}">
                <a16:creationId xmlns:a16="http://schemas.microsoft.com/office/drawing/2014/main" id="{AEF0B9E0-8E00-5E5C-24BD-96F25108C634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560667217" name="Text 36">
            <a:extLst>
              <a:ext uri="{FF2B5EF4-FFF2-40B4-BE49-F238E27FC236}">
                <a16:creationId xmlns:a16="http://schemas.microsoft.com/office/drawing/2014/main" id="{73CB1EBA-503E-2DD3-E911-C7A158ABC231}"/>
              </a:ext>
            </a:extLst>
          </p:cNvPr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2782640" name="Shape 38">
            <a:extLst>
              <a:ext uri="{FF2B5EF4-FFF2-40B4-BE49-F238E27FC236}">
                <a16:creationId xmlns:a16="http://schemas.microsoft.com/office/drawing/2014/main" id="{B6D9A7CE-3A11-C748-3954-94448D19D70C}"/>
              </a:ext>
            </a:extLst>
          </p:cNvPr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4790769" name="Shape 39">
            <a:extLst>
              <a:ext uri="{FF2B5EF4-FFF2-40B4-BE49-F238E27FC236}">
                <a16:creationId xmlns:a16="http://schemas.microsoft.com/office/drawing/2014/main" id="{748705DD-B7E2-8CF0-A1AE-C2C262F5962A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946519" name="Text 40">
            <a:extLst>
              <a:ext uri="{FF2B5EF4-FFF2-40B4-BE49-F238E27FC236}">
                <a16:creationId xmlns:a16="http://schemas.microsoft.com/office/drawing/2014/main" id="{F6964C40-F7BB-389C-7270-74EAAB0B61C6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374344216" name="Text 41">
            <a:extLst>
              <a:ext uri="{FF2B5EF4-FFF2-40B4-BE49-F238E27FC236}">
                <a16:creationId xmlns:a16="http://schemas.microsoft.com/office/drawing/2014/main" id="{9B5928C8-85B8-D359-416C-6AA01A159171}"/>
              </a:ext>
            </a:extLst>
          </p:cNvPr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9863D36E-8D92-137F-BFE5-40AE1F5185AC}"/>
              </a:ext>
            </a:extLst>
          </p:cNvPr>
          <p:cNvSpPr/>
          <p:nvPr/>
        </p:nvSpPr>
        <p:spPr bwMode="auto">
          <a:xfrm>
            <a:off x="4741024" y="100584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E2698C-FAF1-521F-EC0F-1D4C035C247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78887" name="Text 0">
            <a:extLst>
              <a:ext uri="{FF2B5EF4-FFF2-40B4-BE49-F238E27FC236}">
                <a16:creationId xmlns:a16="http://schemas.microsoft.com/office/drawing/2014/main" id="{F309CFE1-BB27-DC8F-5896-E12ECA9F3D1D}"/>
              </a:ext>
            </a:extLst>
          </p:cNvPr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869437356" name="Shape 1">
            <a:extLst>
              <a:ext uri="{FF2B5EF4-FFF2-40B4-BE49-F238E27FC236}">
                <a16:creationId xmlns:a16="http://schemas.microsoft.com/office/drawing/2014/main" id="{522D5CB9-9D69-A691-8F2B-B5901322DAA9}"/>
              </a:ext>
            </a:extLst>
          </p:cNvPr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4453572" name="Shape 3">
            <a:extLst>
              <a:ext uri="{FF2B5EF4-FFF2-40B4-BE49-F238E27FC236}">
                <a16:creationId xmlns:a16="http://schemas.microsoft.com/office/drawing/2014/main" id="{E2741CB8-5311-C38C-78DF-C664DCB687E6}"/>
              </a:ext>
            </a:extLst>
          </p:cNvPr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1337661" name="Shape 4">
            <a:extLst>
              <a:ext uri="{FF2B5EF4-FFF2-40B4-BE49-F238E27FC236}">
                <a16:creationId xmlns:a16="http://schemas.microsoft.com/office/drawing/2014/main" id="{50F45054-064E-3525-BBAF-8100C710418D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758461" name="Text 5">
            <a:extLst>
              <a:ext uri="{FF2B5EF4-FFF2-40B4-BE49-F238E27FC236}">
                <a16:creationId xmlns:a16="http://schemas.microsoft.com/office/drawing/2014/main" id="{784A1918-ABCF-9BDA-8767-1301F9958DC2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368860147" name="Text 6">
            <a:extLst>
              <a:ext uri="{FF2B5EF4-FFF2-40B4-BE49-F238E27FC236}">
                <a16:creationId xmlns:a16="http://schemas.microsoft.com/office/drawing/2014/main" id="{E23DC4DE-A57B-D0E5-2E40-F3E8B719E732}"/>
              </a:ext>
            </a:extLst>
          </p:cNvPr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8704985" name="Shape 8">
            <a:extLst>
              <a:ext uri="{FF2B5EF4-FFF2-40B4-BE49-F238E27FC236}">
                <a16:creationId xmlns:a16="http://schemas.microsoft.com/office/drawing/2014/main" id="{EAAA7AEE-3D74-9601-EFC7-53025B02223B}"/>
              </a:ext>
            </a:extLst>
          </p:cNvPr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21823693" name="Shape 9">
            <a:extLst>
              <a:ext uri="{FF2B5EF4-FFF2-40B4-BE49-F238E27FC236}">
                <a16:creationId xmlns:a16="http://schemas.microsoft.com/office/drawing/2014/main" id="{B36D0BA7-D59F-4C04-30C7-206D2C2B6C10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113082" name="Text 10">
            <a:extLst>
              <a:ext uri="{FF2B5EF4-FFF2-40B4-BE49-F238E27FC236}">
                <a16:creationId xmlns:a16="http://schemas.microsoft.com/office/drawing/2014/main" id="{80CA5643-A3C8-CEFC-D8FE-1890913F68A1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45715279" name="Text 11">
            <a:extLst>
              <a:ext uri="{FF2B5EF4-FFF2-40B4-BE49-F238E27FC236}">
                <a16:creationId xmlns:a16="http://schemas.microsoft.com/office/drawing/2014/main" id="{F77A5F2D-92BC-CCB4-674A-B5B6AD506B45}"/>
              </a:ext>
            </a:extLst>
          </p:cNvPr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75426089" name="Shape 13">
            <a:extLst>
              <a:ext uri="{FF2B5EF4-FFF2-40B4-BE49-F238E27FC236}">
                <a16:creationId xmlns:a16="http://schemas.microsoft.com/office/drawing/2014/main" id="{5E4E840C-8A83-D280-CB9A-4747967AE3BE}"/>
              </a:ext>
            </a:extLst>
          </p:cNvPr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492451" name="Shape 14">
            <a:extLst>
              <a:ext uri="{FF2B5EF4-FFF2-40B4-BE49-F238E27FC236}">
                <a16:creationId xmlns:a16="http://schemas.microsoft.com/office/drawing/2014/main" id="{E66844E6-E32B-AB7B-B5D5-65ECFCCDA153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4350226" name="Text 15">
            <a:extLst>
              <a:ext uri="{FF2B5EF4-FFF2-40B4-BE49-F238E27FC236}">
                <a16:creationId xmlns:a16="http://schemas.microsoft.com/office/drawing/2014/main" id="{F5683389-1546-85FF-1027-B1FFB0B3F1E5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2126149793" name="Text 16">
            <a:extLst>
              <a:ext uri="{FF2B5EF4-FFF2-40B4-BE49-F238E27FC236}">
                <a16:creationId xmlns:a16="http://schemas.microsoft.com/office/drawing/2014/main" id="{238F49B4-EAD1-A822-DB72-737EE47FA455}"/>
              </a:ext>
            </a:extLst>
          </p:cNvPr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30053037" name="Shape 18">
            <a:extLst>
              <a:ext uri="{FF2B5EF4-FFF2-40B4-BE49-F238E27FC236}">
                <a16:creationId xmlns:a16="http://schemas.microsoft.com/office/drawing/2014/main" id="{CA380E2B-0172-E7DE-5AAA-8F93B4B90C4C}"/>
              </a:ext>
            </a:extLst>
          </p:cNvPr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4880504" name="Shape 19">
            <a:extLst>
              <a:ext uri="{FF2B5EF4-FFF2-40B4-BE49-F238E27FC236}">
                <a16:creationId xmlns:a16="http://schemas.microsoft.com/office/drawing/2014/main" id="{71CF0133-F1D7-0A17-003C-0990D4F57B86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4103900" name="Text 20">
            <a:extLst>
              <a:ext uri="{FF2B5EF4-FFF2-40B4-BE49-F238E27FC236}">
                <a16:creationId xmlns:a16="http://schemas.microsoft.com/office/drawing/2014/main" id="{9D03EE09-9873-C3A4-9016-BEE67FADC698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2012116" name="Text 21">
            <a:extLst>
              <a:ext uri="{FF2B5EF4-FFF2-40B4-BE49-F238E27FC236}">
                <a16:creationId xmlns:a16="http://schemas.microsoft.com/office/drawing/2014/main" id="{53A52F45-3305-2BC0-5244-3166BB0F1A53}"/>
              </a:ext>
            </a:extLst>
          </p:cNvPr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82292812" name="Shape 23">
            <a:extLst>
              <a:ext uri="{FF2B5EF4-FFF2-40B4-BE49-F238E27FC236}">
                <a16:creationId xmlns:a16="http://schemas.microsoft.com/office/drawing/2014/main" id="{57389C18-3AA5-DDAD-228C-8CD3144944A6}"/>
              </a:ext>
            </a:extLst>
          </p:cNvPr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8495548" name="Shape 24">
            <a:extLst>
              <a:ext uri="{FF2B5EF4-FFF2-40B4-BE49-F238E27FC236}">
                <a16:creationId xmlns:a16="http://schemas.microsoft.com/office/drawing/2014/main" id="{C5A6B055-FB3F-8DA9-FBAE-6A2CF044F67C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97200296" name="Text 25">
            <a:extLst>
              <a:ext uri="{FF2B5EF4-FFF2-40B4-BE49-F238E27FC236}">
                <a16:creationId xmlns:a16="http://schemas.microsoft.com/office/drawing/2014/main" id="{9D2D0181-C6ED-CB7C-93D1-E2A5C1DE8711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2121776462" name="Text 26">
            <a:extLst>
              <a:ext uri="{FF2B5EF4-FFF2-40B4-BE49-F238E27FC236}">
                <a16:creationId xmlns:a16="http://schemas.microsoft.com/office/drawing/2014/main" id="{59366592-DCC1-5F49-F253-A457FCEB97C4}"/>
              </a:ext>
            </a:extLst>
          </p:cNvPr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46939193" name="Shape 28">
            <a:extLst>
              <a:ext uri="{FF2B5EF4-FFF2-40B4-BE49-F238E27FC236}">
                <a16:creationId xmlns:a16="http://schemas.microsoft.com/office/drawing/2014/main" id="{32DB120F-B65D-E8AE-2E52-EDA351EEA207}"/>
              </a:ext>
            </a:extLst>
          </p:cNvPr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3839944" name="Shape 29">
            <a:extLst>
              <a:ext uri="{FF2B5EF4-FFF2-40B4-BE49-F238E27FC236}">
                <a16:creationId xmlns:a16="http://schemas.microsoft.com/office/drawing/2014/main" id="{0E976FC8-BF8F-F64A-0360-5BA66CEABCA3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0231556" name="Text 30">
            <a:extLst>
              <a:ext uri="{FF2B5EF4-FFF2-40B4-BE49-F238E27FC236}">
                <a16:creationId xmlns:a16="http://schemas.microsoft.com/office/drawing/2014/main" id="{4258B37E-C9D6-C63D-717A-0EEDA4DAAF20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83669986" name="Text 31">
            <a:extLst>
              <a:ext uri="{FF2B5EF4-FFF2-40B4-BE49-F238E27FC236}">
                <a16:creationId xmlns:a16="http://schemas.microsoft.com/office/drawing/2014/main" id="{0C0BECFD-C12B-1003-B72C-00AA28AF9146}"/>
              </a:ext>
            </a:extLst>
          </p:cNvPr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latin typeface="Calibri"/>
                <a:ea typeface="Calibri"/>
                <a:cs typeface="Calibri"/>
              </a:rPr>
              <a:t>Tests &amp; </a:t>
            </a:r>
            <a:r>
              <a:rPr lang="en-US" sz="1300" b="1" dirty="0" err="1">
                <a:latin typeface="Calibri"/>
                <a:ea typeface="Calibri"/>
                <a:cs typeface="Calibri"/>
              </a:rPr>
              <a:t>Ergebnisse</a:t>
            </a:r>
            <a:endParaRPr sz="1300" dirty="0"/>
          </a:p>
        </p:txBody>
      </p:sp>
      <p:sp>
        <p:nvSpPr>
          <p:cNvPr id="1304377321" name="Shape 33">
            <a:extLst>
              <a:ext uri="{FF2B5EF4-FFF2-40B4-BE49-F238E27FC236}">
                <a16:creationId xmlns:a16="http://schemas.microsoft.com/office/drawing/2014/main" id="{002E7ED6-EC81-807F-DC80-C8156E6743B1}"/>
              </a:ext>
            </a:extLst>
          </p:cNvPr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8786287" name="Shape 34">
            <a:extLst>
              <a:ext uri="{FF2B5EF4-FFF2-40B4-BE49-F238E27FC236}">
                <a16:creationId xmlns:a16="http://schemas.microsoft.com/office/drawing/2014/main" id="{89B1DCF7-6133-185E-224D-467F3B731F7C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78365891" name="Text 35">
            <a:extLst>
              <a:ext uri="{FF2B5EF4-FFF2-40B4-BE49-F238E27FC236}">
                <a16:creationId xmlns:a16="http://schemas.microsoft.com/office/drawing/2014/main" id="{4F23284E-27AB-E368-66AE-9F2D520D5871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560667217" name="Text 36">
            <a:extLst>
              <a:ext uri="{FF2B5EF4-FFF2-40B4-BE49-F238E27FC236}">
                <a16:creationId xmlns:a16="http://schemas.microsoft.com/office/drawing/2014/main" id="{E801D5B9-EA7F-639A-2E6F-7171F8DC8FFB}"/>
              </a:ext>
            </a:extLst>
          </p:cNvPr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2782640" name="Shape 38">
            <a:extLst>
              <a:ext uri="{FF2B5EF4-FFF2-40B4-BE49-F238E27FC236}">
                <a16:creationId xmlns:a16="http://schemas.microsoft.com/office/drawing/2014/main" id="{83E4BC19-8DC2-05F2-818C-F48A40EC36D8}"/>
              </a:ext>
            </a:extLst>
          </p:cNvPr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4790769" name="Shape 39">
            <a:extLst>
              <a:ext uri="{FF2B5EF4-FFF2-40B4-BE49-F238E27FC236}">
                <a16:creationId xmlns:a16="http://schemas.microsoft.com/office/drawing/2014/main" id="{ECFCF26B-EEB0-6518-9573-C1DD754EB34A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946519" name="Text 40">
            <a:extLst>
              <a:ext uri="{FF2B5EF4-FFF2-40B4-BE49-F238E27FC236}">
                <a16:creationId xmlns:a16="http://schemas.microsoft.com/office/drawing/2014/main" id="{00B2BBDB-00B7-76DD-4DB1-F8F86150502C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374344216" name="Text 41">
            <a:extLst>
              <a:ext uri="{FF2B5EF4-FFF2-40B4-BE49-F238E27FC236}">
                <a16:creationId xmlns:a16="http://schemas.microsoft.com/office/drawing/2014/main" id="{A8BF4214-4A54-C8A6-8C45-BB48478986C9}"/>
              </a:ext>
            </a:extLst>
          </p:cNvPr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19A1D267-FA26-4379-45AD-ACE3E885E187}"/>
              </a:ext>
            </a:extLst>
          </p:cNvPr>
          <p:cNvSpPr/>
          <p:nvPr/>
        </p:nvSpPr>
        <p:spPr bwMode="auto">
          <a:xfrm>
            <a:off x="4756264" y="196596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4420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E2836-663B-EF08-FFAE-5B50A2D9540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78887" name="Text 0">
            <a:extLst>
              <a:ext uri="{FF2B5EF4-FFF2-40B4-BE49-F238E27FC236}">
                <a16:creationId xmlns:a16="http://schemas.microsoft.com/office/drawing/2014/main" id="{1DF93EBC-8A42-0310-807C-DCDA20E1182F}"/>
              </a:ext>
            </a:extLst>
          </p:cNvPr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869437356" name="Shape 1">
            <a:extLst>
              <a:ext uri="{FF2B5EF4-FFF2-40B4-BE49-F238E27FC236}">
                <a16:creationId xmlns:a16="http://schemas.microsoft.com/office/drawing/2014/main" id="{32FF97F2-115A-1EBD-BF20-9D03A81AB853}"/>
              </a:ext>
            </a:extLst>
          </p:cNvPr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4453572" name="Shape 3">
            <a:extLst>
              <a:ext uri="{FF2B5EF4-FFF2-40B4-BE49-F238E27FC236}">
                <a16:creationId xmlns:a16="http://schemas.microsoft.com/office/drawing/2014/main" id="{33ECE8A3-69C1-9110-7F07-3E8E96B93A7F}"/>
              </a:ext>
            </a:extLst>
          </p:cNvPr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1337661" name="Shape 4">
            <a:extLst>
              <a:ext uri="{FF2B5EF4-FFF2-40B4-BE49-F238E27FC236}">
                <a16:creationId xmlns:a16="http://schemas.microsoft.com/office/drawing/2014/main" id="{F6D16B81-BEA4-8BFD-3496-D1D2A13CD90F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758461" name="Text 5">
            <a:extLst>
              <a:ext uri="{FF2B5EF4-FFF2-40B4-BE49-F238E27FC236}">
                <a16:creationId xmlns:a16="http://schemas.microsoft.com/office/drawing/2014/main" id="{CCC50A9F-A676-AF6A-B89A-12C5DB185BD2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368860147" name="Text 6">
            <a:extLst>
              <a:ext uri="{FF2B5EF4-FFF2-40B4-BE49-F238E27FC236}">
                <a16:creationId xmlns:a16="http://schemas.microsoft.com/office/drawing/2014/main" id="{4644B662-0AC9-46DB-5AA7-1952C7478089}"/>
              </a:ext>
            </a:extLst>
          </p:cNvPr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8704985" name="Shape 8">
            <a:extLst>
              <a:ext uri="{FF2B5EF4-FFF2-40B4-BE49-F238E27FC236}">
                <a16:creationId xmlns:a16="http://schemas.microsoft.com/office/drawing/2014/main" id="{46DD1959-F438-71EA-5516-D60AF05DD706}"/>
              </a:ext>
            </a:extLst>
          </p:cNvPr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21823693" name="Shape 9">
            <a:extLst>
              <a:ext uri="{FF2B5EF4-FFF2-40B4-BE49-F238E27FC236}">
                <a16:creationId xmlns:a16="http://schemas.microsoft.com/office/drawing/2014/main" id="{23A06019-0A03-2EF2-A2CA-BF39AD9AD10E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113082" name="Text 10">
            <a:extLst>
              <a:ext uri="{FF2B5EF4-FFF2-40B4-BE49-F238E27FC236}">
                <a16:creationId xmlns:a16="http://schemas.microsoft.com/office/drawing/2014/main" id="{00680B64-67B7-BB49-6A68-2A01D7A10CF6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45715279" name="Text 11">
            <a:extLst>
              <a:ext uri="{FF2B5EF4-FFF2-40B4-BE49-F238E27FC236}">
                <a16:creationId xmlns:a16="http://schemas.microsoft.com/office/drawing/2014/main" id="{F71AB986-8B96-B0C4-A030-C9DA98317B07}"/>
              </a:ext>
            </a:extLst>
          </p:cNvPr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75426089" name="Shape 13">
            <a:extLst>
              <a:ext uri="{FF2B5EF4-FFF2-40B4-BE49-F238E27FC236}">
                <a16:creationId xmlns:a16="http://schemas.microsoft.com/office/drawing/2014/main" id="{200CA4F4-FB8A-91A4-8E20-D47B8C2C49C1}"/>
              </a:ext>
            </a:extLst>
          </p:cNvPr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492451" name="Shape 14">
            <a:extLst>
              <a:ext uri="{FF2B5EF4-FFF2-40B4-BE49-F238E27FC236}">
                <a16:creationId xmlns:a16="http://schemas.microsoft.com/office/drawing/2014/main" id="{B59D7B4D-9EEA-F93D-07DB-E6E9492F5097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4350226" name="Text 15">
            <a:extLst>
              <a:ext uri="{FF2B5EF4-FFF2-40B4-BE49-F238E27FC236}">
                <a16:creationId xmlns:a16="http://schemas.microsoft.com/office/drawing/2014/main" id="{F919C992-E4A9-8C96-3B4E-144BF8088CFB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2126149793" name="Text 16">
            <a:extLst>
              <a:ext uri="{FF2B5EF4-FFF2-40B4-BE49-F238E27FC236}">
                <a16:creationId xmlns:a16="http://schemas.microsoft.com/office/drawing/2014/main" id="{4B903078-F861-2255-392C-A59B34A1EF8D}"/>
              </a:ext>
            </a:extLst>
          </p:cNvPr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solidFill>
                  <a:srgbClr val="B3AFAF"/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 dirty="0">
              <a:solidFill>
                <a:srgbClr val="B3AFAF"/>
              </a:solidFill>
            </a:endParaRPr>
          </a:p>
        </p:txBody>
      </p:sp>
      <p:sp>
        <p:nvSpPr>
          <p:cNvPr id="830053037" name="Shape 18">
            <a:extLst>
              <a:ext uri="{FF2B5EF4-FFF2-40B4-BE49-F238E27FC236}">
                <a16:creationId xmlns:a16="http://schemas.microsoft.com/office/drawing/2014/main" id="{AF338F4D-B0D2-BE52-DE65-841B9A5D779C}"/>
              </a:ext>
            </a:extLst>
          </p:cNvPr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4880504" name="Shape 19">
            <a:extLst>
              <a:ext uri="{FF2B5EF4-FFF2-40B4-BE49-F238E27FC236}">
                <a16:creationId xmlns:a16="http://schemas.microsoft.com/office/drawing/2014/main" id="{7A075264-F9EF-FBC9-D68D-49470D4135C7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4103900" name="Text 20">
            <a:extLst>
              <a:ext uri="{FF2B5EF4-FFF2-40B4-BE49-F238E27FC236}">
                <a16:creationId xmlns:a16="http://schemas.microsoft.com/office/drawing/2014/main" id="{B3CEA54B-7583-AAA1-2ED1-CE39B6F7FE11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 dirty="0"/>
          </a:p>
        </p:txBody>
      </p:sp>
      <p:sp>
        <p:nvSpPr>
          <p:cNvPr id="322012116" name="Text 21">
            <a:extLst>
              <a:ext uri="{FF2B5EF4-FFF2-40B4-BE49-F238E27FC236}">
                <a16:creationId xmlns:a16="http://schemas.microsoft.com/office/drawing/2014/main" id="{7E8DA4C1-1856-EE14-862C-C58B08DEC07A}"/>
              </a:ext>
            </a:extLst>
          </p:cNvPr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82292812" name="Shape 23">
            <a:extLst>
              <a:ext uri="{FF2B5EF4-FFF2-40B4-BE49-F238E27FC236}">
                <a16:creationId xmlns:a16="http://schemas.microsoft.com/office/drawing/2014/main" id="{46819CEF-AF49-F34B-2BED-A72E18225323}"/>
              </a:ext>
            </a:extLst>
          </p:cNvPr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8495548" name="Shape 24">
            <a:extLst>
              <a:ext uri="{FF2B5EF4-FFF2-40B4-BE49-F238E27FC236}">
                <a16:creationId xmlns:a16="http://schemas.microsoft.com/office/drawing/2014/main" id="{D298772B-FE31-0307-22B7-9569FF1FE147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97200296" name="Text 25">
            <a:extLst>
              <a:ext uri="{FF2B5EF4-FFF2-40B4-BE49-F238E27FC236}">
                <a16:creationId xmlns:a16="http://schemas.microsoft.com/office/drawing/2014/main" id="{66371AC7-C2CC-FC43-68C0-30D631557827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2121776462" name="Text 26">
            <a:extLst>
              <a:ext uri="{FF2B5EF4-FFF2-40B4-BE49-F238E27FC236}">
                <a16:creationId xmlns:a16="http://schemas.microsoft.com/office/drawing/2014/main" id="{4CEC8A81-7267-9FF4-246D-5F75AA4F3760}"/>
              </a:ext>
            </a:extLst>
          </p:cNvPr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46939193" name="Shape 28">
            <a:extLst>
              <a:ext uri="{FF2B5EF4-FFF2-40B4-BE49-F238E27FC236}">
                <a16:creationId xmlns:a16="http://schemas.microsoft.com/office/drawing/2014/main" id="{3CF9CC90-E1FF-07A1-6AE3-786EDA5C0720}"/>
              </a:ext>
            </a:extLst>
          </p:cNvPr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3839944" name="Shape 29">
            <a:extLst>
              <a:ext uri="{FF2B5EF4-FFF2-40B4-BE49-F238E27FC236}">
                <a16:creationId xmlns:a16="http://schemas.microsoft.com/office/drawing/2014/main" id="{1E780E88-DD1B-98D5-88F7-4554169972B2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0231556" name="Text 30">
            <a:extLst>
              <a:ext uri="{FF2B5EF4-FFF2-40B4-BE49-F238E27FC236}">
                <a16:creationId xmlns:a16="http://schemas.microsoft.com/office/drawing/2014/main" id="{9509A791-B982-82A6-1BB5-547917650A0E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783669986" name="Text 31">
            <a:extLst>
              <a:ext uri="{FF2B5EF4-FFF2-40B4-BE49-F238E27FC236}">
                <a16:creationId xmlns:a16="http://schemas.microsoft.com/office/drawing/2014/main" id="{64C821ED-34AF-9198-D2F5-36C42D3DEE88}"/>
              </a:ext>
            </a:extLst>
          </p:cNvPr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</a:t>
            </a:r>
            <a:r>
              <a:rPr lang="en-US" sz="1300" b="1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Ergebnisse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04377321" name="Shape 33">
            <a:extLst>
              <a:ext uri="{FF2B5EF4-FFF2-40B4-BE49-F238E27FC236}">
                <a16:creationId xmlns:a16="http://schemas.microsoft.com/office/drawing/2014/main" id="{D229A729-2919-EBAF-63F4-5C749D20FBC3}"/>
              </a:ext>
            </a:extLst>
          </p:cNvPr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8786287" name="Shape 34">
            <a:extLst>
              <a:ext uri="{FF2B5EF4-FFF2-40B4-BE49-F238E27FC236}">
                <a16:creationId xmlns:a16="http://schemas.microsoft.com/office/drawing/2014/main" id="{D4470038-09A9-1955-1362-9C680DC8DBE5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78365891" name="Text 35">
            <a:extLst>
              <a:ext uri="{FF2B5EF4-FFF2-40B4-BE49-F238E27FC236}">
                <a16:creationId xmlns:a16="http://schemas.microsoft.com/office/drawing/2014/main" id="{C869831A-775B-C279-74B2-9C88F81CD58C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60667217" name="Text 36">
            <a:extLst>
              <a:ext uri="{FF2B5EF4-FFF2-40B4-BE49-F238E27FC236}">
                <a16:creationId xmlns:a16="http://schemas.microsoft.com/office/drawing/2014/main" id="{129EB2E4-D7BE-CC53-7BA2-6257B054A564}"/>
              </a:ext>
            </a:extLst>
          </p:cNvPr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latin typeface="Calibri"/>
                <a:ea typeface="Calibri"/>
                <a:cs typeface="Calibri"/>
              </a:rPr>
              <a:t>Nutzwertanalyse</a:t>
            </a:r>
            <a:r>
              <a:rPr lang="en-US" sz="1300" b="1" dirty="0">
                <a:latin typeface="Calibri"/>
                <a:ea typeface="Calibri"/>
                <a:cs typeface="Calibri"/>
              </a:rPr>
              <a:t> &amp; </a:t>
            </a:r>
            <a:r>
              <a:rPr lang="en-US" sz="1300" b="1" dirty="0" err="1">
                <a:latin typeface="Calibri"/>
                <a:ea typeface="Calibri"/>
                <a:cs typeface="Calibri"/>
              </a:rPr>
              <a:t>Empfehlung</a:t>
            </a:r>
            <a:endParaRPr sz="1300" dirty="0"/>
          </a:p>
        </p:txBody>
      </p:sp>
      <p:sp>
        <p:nvSpPr>
          <p:cNvPr id="522782640" name="Shape 38">
            <a:extLst>
              <a:ext uri="{FF2B5EF4-FFF2-40B4-BE49-F238E27FC236}">
                <a16:creationId xmlns:a16="http://schemas.microsoft.com/office/drawing/2014/main" id="{8A70856C-E0C3-9269-924D-88C4F1280EAC}"/>
              </a:ext>
            </a:extLst>
          </p:cNvPr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4790769" name="Shape 39">
            <a:extLst>
              <a:ext uri="{FF2B5EF4-FFF2-40B4-BE49-F238E27FC236}">
                <a16:creationId xmlns:a16="http://schemas.microsoft.com/office/drawing/2014/main" id="{4516F239-EC78-5362-9B1C-CCBA381FF791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946519" name="Text 40">
            <a:extLst>
              <a:ext uri="{FF2B5EF4-FFF2-40B4-BE49-F238E27FC236}">
                <a16:creationId xmlns:a16="http://schemas.microsoft.com/office/drawing/2014/main" id="{EFF5E60A-8F6B-561C-C378-0FEDF9BECC59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374344216" name="Text 41">
            <a:extLst>
              <a:ext uri="{FF2B5EF4-FFF2-40B4-BE49-F238E27FC236}">
                <a16:creationId xmlns:a16="http://schemas.microsoft.com/office/drawing/2014/main" id="{2A09D38E-8E32-BF46-506E-FD4BC9234911}"/>
              </a:ext>
            </a:extLst>
          </p:cNvPr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97D4C697-C65B-F267-638B-14E0F51C028C}"/>
              </a:ext>
            </a:extLst>
          </p:cNvPr>
          <p:cNvSpPr/>
          <p:nvPr/>
        </p:nvSpPr>
        <p:spPr bwMode="auto">
          <a:xfrm>
            <a:off x="4756264" y="292608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7660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3FEF55-0101-54F0-7A53-D9E34209071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78887" name="Text 0">
            <a:extLst>
              <a:ext uri="{FF2B5EF4-FFF2-40B4-BE49-F238E27FC236}">
                <a16:creationId xmlns:a16="http://schemas.microsoft.com/office/drawing/2014/main" id="{122B7485-3A2D-B903-457B-83C03BD2F9F9}"/>
              </a:ext>
            </a:extLst>
          </p:cNvPr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869437356" name="Shape 1">
            <a:extLst>
              <a:ext uri="{FF2B5EF4-FFF2-40B4-BE49-F238E27FC236}">
                <a16:creationId xmlns:a16="http://schemas.microsoft.com/office/drawing/2014/main" id="{E5DFDE04-830F-B711-7F73-CF69EB811387}"/>
              </a:ext>
            </a:extLst>
          </p:cNvPr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4453572" name="Shape 3">
            <a:extLst>
              <a:ext uri="{FF2B5EF4-FFF2-40B4-BE49-F238E27FC236}">
                <a16:creationId xmlns:a16="http://schemas.microsoft.com/office/drawing/2014/main" id="{BBDFA748-EB6E-4BF4-CFF9-6A2B060D632D}"/>
              </a:ext>
            </a:extLst>
          </p:cNvPr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1337661" name="Shape 2">
            <a:extLst>
              <a:ext uri="{FF2B5EF4-FFF2-40B4-BE49-F238E27FC236}">
                <a16:creationId xmlns:a16="http://schemas.microsoft.com/office/drawing/2014/main" id="{98B66E64-041B-5F30-1BEF-F85921861F02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758461" name="Text 5">
            <a:extLst>
              <a:ext uri="{FF2B5EF4-FFF2-40B4-BE49-F238E27FC236}">
                <a16:creationId xmlns:a16="http://schemas.microsoft.com/office/drawing/2014/main" id="{B79EB9F6-E52E-7A82-F079-FE8D783C4FF8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368860147" name="Text 6">
            <a:extLst>
              <a:ext uri="{FF2B5EF4-FFF2-40B4-BE49-F238E27FC236}">
                <a16:creationId xmlns:a16="http://schemas.microsoft.com/office/drawing/2014/main" id="{3AC12F85-0545-622B-14A1-A4B814055D32}"/>
              </a:ext>
            </a:extLst>
          </p:cNvPr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8704985" name="Shape 8">
            <a:extLst>
              <a:ext uri="{FF2B5EF4-FFF2-40B4-BE49-F238E27FC236}">
                <a16:creationId xmlns:a16="http://schemas.microsoft.com/office/drawing/2014/main" id="{40F8064F-81EB-1280-4F5E-F9FD020C8C57}"/>
              </a:ext>
            </a:extLst>
          </p:cNvPr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21823693" name="Shape 9">
            <a:extLst>
              <a:ext uri="{FF2B5EF4-FFF2-40B4-BE49-F238E27FC236}">
                <a16:creationId xmlns:a16="http://schemas.microsoft.com/office/drawing/2014/main" id="{B7D47077-1707-E020-3428-3B8314E18466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113082" name="Text 10">
            <a:extLst>
              <a:ext uri="{FF2B5EF4-FFF2-40B4-BE49-F238E27FC236}">
                <a16:creationId xmlns:a16="http://schemas.microsoft.com/office/drawing/2014/main" id="{18E5928D-7DD5-3620-9E74-305B76F089A1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45715279" name="Text 11">
            <a:extLst>
              <a:ext uri="{FF2B5EF4-FFF2-40B4-BE49-F238E27FC236}">
                <a16:creationId xmlns:a16="http://schemas.microsoft.com/office/drawing/2014/main" id="{56A199F6-D633-B182-A441-3BF70155EF25}"/>
              </a:ext>
            </a:extLst>
          </p:cNvPr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75426089" name="Shape 13">
            <a:extLst>
              <a:ext uri="{FF2B5EF4-FFF2-40B4-BE49-F238E27FC236}">
                <a16:creationId xmlns:a16="http://schemas.microsoft.com/office/drawing/2014/main" id="{BA4BD3E3-ADA4-D477-9D8B-18514D547760}"/>
              </a:ext>
            </a:extLst>
          </p:cNvPr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492451" name="Shape 14">
            <a:extLst>
              <a:ext uri="{FF2B5EF4-FFF2-40B4-BE49-F238E27FC236}">
                <a16:creationId xmlns:a16="http://schemas.microsoft.com/office/drawing/2014/main" id="{8FEB494C-884A-FABC-3F96-6F8B932B1516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4350226" name="Text 15">
            <a:extLst>
              <a:ext uri="{FF2B5EF4-FFF2-40B4-BE49-F238E27FC236}">
                <a16:creationId xmlns:a16="http://schemas.microsoft.com/office/drawing/2014/main" id="{F471F81F-900B-A3BA-59A9-430A84CC4F8C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2126149793" name="Text 16">
            <a:extLst>
              <a:ext uri="{FF2B5EF4-FFF2-40B4-BE49-F238E27FC236}">
                <a16:creationId xmlns:a16="http://schemas.microsoft.com/office/drawing/2014/main" id="{5DBCCA98-5A98-8B43-1E36-5133F52E973F}"/>
              </a:ext>
            </a:extLst>
          </p:cNvPr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30053037" name="Shape 18">
            <a:extLst>
              <a:ext uri="{FF2B5EF4-FFF2-40B4-BE49-F238E27FC236}">
                <a16:creationId xmlns:a16="http://schemas.microsoft.com/office/drawing/2014/main" id="{A1C925B9-BC6F-A075-639F-FFB6830CE044}"/>
              </a:ext>
            </a:extLst>
          </p:cNvPr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4880504" name="Shape 19">
            <a:extLst>
              <a:ext uri="{FF2B5EF4-FFF2-40B4-BE49-F238E27FC236}">
                <a16:creationId xmlns:a16="http://schemas.microsoft.com/office/drawing/2014/main" id="{F4BB65C8-9445-8E56-CBCB-63E1BD7E9F50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4103900" name="Text 20">
            <a:extLst>
              <a:ext uri="{FF2B5EF4-FFF2-40B4-BE49-F238E27FC236}">
                <a16:creationId xmlns:a16="http://schemas.microsoft.com/office/drawing/2014/main" id="{C63D2309-305E-9996-7FDB-CF291D37138B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322012116" name="Text 21">
            <a:extLst>
              <a:ext uri="{FF2B5EF4-FFF2-40B4-BE49-F238E27FC236}">
                <a16:creationId xmlns:a16="http://schemas.microsoft.com/office/drawing/2014/main" id="{BEE7171F-AFF6-7B47-CA44-C3FF9FE69B1C}"/>
              </a:ext>
            </a:extLst>
          </p:cNvPr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rPr>
              <a:t>Technologie-</a:t>
            </a:r>
            <a:r>
              <a:rPr lang="en-US" sz="1300" b="1" dirty="0" err="1"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rPr>
              <a:t>Entscheidung</a:t>
            </a:r>
            <a:endParaRPr sz="13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82292812" name="Shape 23">
            <a:extLst>
              <a:ext uri="{FF2B5EF4-FFF2-40B4-BE49-F238E27FC236}">
                <a16:creationId xmlns:a16="http://schemas.microsoft.com/office/drawing/2014/main" id="{701CF955-3404-F854-79E8-A9073601F7EB}"/>
              </a:ext>
            </a:extLst>
          </p:cNvPr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8495548" name="Shape 24">
            <a:extLst>
              <a:ext uri="{FF2B5EF4-FFF2-40B4-BE49-F238E27FC236}">
                <a16:creationId xmlns:a16="http://schemas.microsoft.com/office/drawing/2014/main" id="{60A546C8-69FA-40FC-52DD-C549518E9575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97200296" name="Text 25">
            <a:extLst>
              <a:ext uri="{FF2B5EF4-FFF2-40B4-BE49-F238E27FC236}">
                <a16:creationId xmlns:a16="http://schemas.microsoft.com/office/drawing/2014/main" id="{B811FE56-968C-6F31-C03B-E6E35ED93BF4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2121776462" name="Text 26">
            <a:extLst>
              <a:ext uri="{FF2B5EF4-FFF2-40B4-BE49-F238E27FC236}">
                <a16:creationId xmlns:a16="http://schemas.microsoft.com/office/drawing/2014/main" id="{C5E1DE0B-9340-4FCE-62C5-77CE42858F2C}"/>
              </a:ext>
            </a:extLst>
          </p:cNvPr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46939193" name="Shape 28">
            <a:extLst>
              <a:ext uri="{FF2B5EF4-FFF2-40B4-BE49-F238E27FC236}">
                <a16:creationId xmlns:a16="http://schemas.microsoft.com/office/drawing/2014/main" id="{124D878A-CCEA-AE5F-038D-66F90BA885D4}"/>
              </a:ext>
            </a:extLst>
          </p:cNvPr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3839944" name="Shape 29">
            <a:extLst>
              <a:ext uri="{FF2B5EF4-FFF2-40B4-BE49-F238E27FC236}">
                <a16:creationId xmlns:a16="http://schemas.microsoft.com/office/drawing/2014/main" id="{3C955213-DACA-348B-7221-EEC2697A4329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0231556" name="Text 30">
            <a:extLst>
              <a:ext uri="{FF2B5EF4-FFF2-40B4-BE49-F238E27FC236}">
                <a16:creationId xmlns:a16="http://schemas.microsoft.com/office/drawing/2014/main" id="{E9474FF2-C121-2328-A710-F4BFE68AD2D4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783669986" name="Text 31">
            <a:extLst>
              <a:ext uri="{FF2B5EF4-FFF2-40B4-BE49-F238E27FC236}">
                <a16:creationId xmlns:a16="http://schemas.microsoft.com/office/drawing/2014/main" id="{9785DB7D-24D2-72FF-DA89-053B4ECB1F01}"/>
              </a:ext>
            </a:extLst>
          </p:cNvPr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04377321" name="Shape 33">
            <a:extLst>
              <a:ext uri="{FF2B5EF4-FFF2-40B4-BE49-F238E27FC236}">
                <a16:creationId xmlns:a16="http://schemas.microsoft.com/office/drawing/2014/main" id="{F7D99BCC-351E-5393-FFE4-A20F2C153100}"/>
              </a:ext>
            </a:extLst>
          </p:cNvPr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8786287" name="Shape 34">
            <a:extLst>
              <a:ext uri="{FF2B5EF4-FFF2-40B4-BE49-F238E27FC236}">
                <a16:creationId xmlns:a16="http://schemas.microsoft.com/office/drawing/2014/main" id="{CA39E8ED-C8EC-B396-3EB3-28DEF40DE2FB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78365891" name="Text 35">
            <a:extLst>
              <a:ext uri="{FF2B5EF4-FFF2-40B4-BE49-F238E27FC236}">
                <a16:creationId xmlns:a16="http://schemas.microsoft.com/office/drawing/2014/main" id="{DD1CFD62-6364-921D-27B9-43AEA1FF3FE4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560667217" name="Text 36">
            <a:extLst>
              <a:ext uri="{FF2B5EF4-FFF2-40B4-BE49-F238E27FC236}">
                <a16:creationId xmlns:a16="http://schemas.microsoft.com/office/drawing/2014/main" id="{51989034-1211-4A73-A52E-E9FA0DBF618C}"/>
              </a:ext>
            </a:extLst>
          </p:cNvPr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2782640" name="Shape 38">
            <a:extLst>
              <a:ext uri="{FF2B5EF4-FFF2-40B4-BE49-F238E27FC236}">
                <a16:creationId xmlns:a16="http://schemas.microsoft.com/office/drawing/2014/main" id="{25D56FD4-3544-139B-EDCC-CD485B15F458}"/>
              </a:ext>
            </a:extLst>
          </p:cNvPr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4790769" name="Shape 39">
            <a:extLst>
              <a:ext uri="{FF2B5EF4-FFF2-40B4-BE49-F238E27FC236}">
                <a16:creationId xmlns:a16="http://schemas.microsoft.com/office/drawing/2014/main" id="{A1A692F2-E93D-628A-82E5-84D882A14569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946519" name="Text 40">
            <a:extLst>
              <a:ext uri="{FF2B5EF4-FFF2-40B4-BE49-F238E27FC236}">
                <a16:creationId xmlns:a16="http://schemas.microsoft.com/office/drawing/2014/main" id="{2C51C4BF-B234-5141-003C-A8E0892AB5F9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74344216" name="Text 41">
            <a:extLst>
              <a:ext uri="{FF2B5EF4-FFF2-40B4-BE49-F238E27FC236}">
                <a16:creationId xmlns:a16="http://schemas.microsoft.com/office/drawing/2014/main" id="{C9F85284-412A-A4B5-F3C9-2D0768C61250}"/>
              </a:ext>
            </a:extLst>
          </p:cNvPr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latin typeface="Calibri"/>
                <a:ea typeface="Calibri"/>
                <a:cs typeface="Calibri"/>
              </a:rPr>
              <a:t>Fazit</a:t>
            </a:r>
            <a:r>
              <a:rPr lang="en-US" sz="1300" b="1" dirty="0">
                <a:latin typeface="Calibri"/>
                <a:ea typeface="Calibri"/>
                <a:cs typeface="Calibri"/>
              </a:rPr>
              <a:t> &amp; </a:t>
            </a:r>
            <a:r>
              <a:rPr lang="en-US" sz="1300" b="1" dirty="0" err="1">
                <a:latin typeface="Calibri"/>
                <a:ea typeface="Calibri"/>
                <a:cs typeface="Calibri"/>
              </a:rPr>
              <a:t>Ausblick</a:t>
            </a:r>
            <a:endParaRPr sz="1300" dirty="0"/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EBE14F73-6BA3-A889-47EF-DFEB42A71582}"/>
              </a:ext>
            </a:extLst>
          </p:cNvPr>
          <p:cNvSpPr/>
          <p:nvPr/>
        </p:nvSpPr>
        <p:spPr bwMode="auto">
          <a:xfrm>
            <a:off x="4748644" y="388620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4008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3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7DCB129D-D2A9-A747-0B02-1C7E7835DB16}"/>
              </a:ext>
            </a:extLst>
          </p:cNvPr>
          <p:cNvSpPr/>
          <p:nvPr/>
        </p:nvSpPr>
        <p:spPr bwMode="auto">
          <a:xfrm>
            <a:off x="2971800" y="1219200"/>
            <a:ext cx="457200" cy="17068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0150301" name="!!something1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96000"/>
              </a:srgbClr>
            </a:solidFill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22920587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glow>
                    <a:schemeClr val="bg1">
                      <a:alpha val="0"/>
                    </a:schemeClr>
                  </a:glow>
                  <a:outerShdw blurRad="50800" dist="38100" dir="16200000" rotWithShape="0">
                    <a:schemeClr val="tx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01</a:t>
            </a:r>
            <a:endParaRPr lang="en-US" sz="7200" dirty="0">
              <a:effectLst>
                <a:glow>
                  <a:schemeClr val="bg1">
                    <a:alpha val="0"/>
                  </a:schemeClr>
                </a:glow>
                <a:outerShdw blurRad="50800" dist="38100" dir="16200000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498627751" name="!!Text 0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Ausgangssituation</a:t>
            </a:r>
            <a:r>
              <a:rPr lang="en-US" sz="32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 &amp; Problem</a:t>
            </a:r>
            <a:endParaRPr lang="en-US" sz="3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BFDB871-1EA3-92A7-9737-BA6F499960D8}"/>
              </a:ext>
            </a:extLst>
          </p:cNvPr>
          <p:cNvSpPr/>
          <p:nvPr/>
        </p:nvSpPr>
        <p:spPr>
          <a:xfrm>
            <a:off x="1280160" y="3436620"/>
            <a:ext cx="4518660" cy="40386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35C1321-D242-EB30-914C-B6AF1353093F}"/>
              </a:ext>
            </a:extLst>
          </p:cNvPr>
          <p:cNvSpPr/>
          <p:nvPr/>
        </p:nvSpPr>
        <p:spPr>
          <a:xfrm>
            <a:off x="5798820" y="3436620"/>
            <a:ext cx="457200" cy="17068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A40D9CD-784B-3EDA-D9CF-E488BAB2325E}"/>
              </a:ext>
            </a:extLst>
          </p:cNvPr>
          <p:cNvSpPr/>
          <p:nvPr/>
        </p:nvSpPr>
        <p:spPr bwMode="auto">
          <a:xfrm>
            <a:off x="1882140" y="1219200"/>
            <a:ext cx="457200" cy="17068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4B26AD2-9C65-7CCE-B180-B28121441A63}"/>
              </a:ext>
            </a:extLst>
          </p:cNvPr>
          <p:cNvSpPr/>
          <p:nvPr/>
        </p:nvSpPr>
        <p:spPr bwMode="auto">
          <a:xfrm>
            <a:off x="3444240" y="2522220"/>
            <a:ext cx="3924300" cy="40386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A7B104A-49AE-98BB-D15B-3B8942D9B0C7}"/>
              </a:ext>
            </a:extLst>
          </p:cNvPr>
          <p:cNvSpPr/>
          <p:nvPr/>
        </p:nvSpPr>
        <p:spPr bwMode="auto">
          <a:xfrm>
            <a:off x="4110990" y="7620"/>
            <a:ext cx="457200" cy="17068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804918C-D18C-A6E3-FDF7-D0E9F0CD4063}"/>
              </a:ext>
            </a:extLst>
          </p:cNvPr>
          <p:cNvSpPr/>
          <p:nvPr/>
        </p:nvSpPr>
        <p:spPr bwMode="auto">
          <a:xfrm>
            <a:off x="4583430" y="4503420"/>
            <a:ext cx="457200" cy="6400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C227F41-D706-C77E-C848-70FD626261A8}"/>
              </a:ext>
            </a:extLst>
          </p:cNvPr>
          <p:cNvSpPr/>
          <p:nvPr/>
        </p:nvSpPr>
        <p:spPr bwMode="auto">
          <a:xfrm>
            <a:off x="7368540" y="594360"/>
            <a:ext cx="457200" cy="233172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E87DE87A-62E1-BFA0-9B2D-AD1A09F69A0D}"/>
              </a:ext>
            </a:extLst>
          </p:cNvPr>
          <p:cNvSpPr/>
          <p:nvPr/>
        </p:nvSpPr>
        <p:spPr bwMode="auto">
          <a:xfrm>
            <a:off x="228600" y="815340"/>
            <a:ext cx="2108835" cy="40386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DAE73320-8824-921B-3C1A-77E71AC30B81}"/>
              </a:ext>
            </a:extLst>
          </p:cNvPr>
          <p:cNvSpPr/>
          <p:nvPr/>
        </p:nvSpPr>
        <p:spPr bwMode="auto">
          <a:xfrm>
            <a:off x="2339341" y="4503420"/>
            <a:ext cx="2228850" cy="40386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26A35CA-9C26-512A-85F5-833A8DBC73F6}"/>
              </a:ext>
            </a:extLst>
          </p:cNvPr>
          <p:cNvSpPr/>
          <p:nvPr/>
        </p:nvSpPr>
        <p:spPr bwMode="auto">
          <a:xfrm>
            <a:off x="1876425" y="4503420"/>
            <a:ext cx="457200" cy="6400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45" name="Rechteck 1498627744">
            <a:extLst>
              <a:ext uri="{FF2B5EF4-FFF2-40B4-BE49-F238E27FC236}">
                <a16:creationId xmlns:a16="http://schemas.microsoft.com/office/drawing/2014/main" id="{720AEED2-8658-FF2A-A3E8-A8A19E61C26B}"/>
              </a:ext>
            </a:extLst>
          </p:cNvPr>
          <p:cNvSpPr/>
          <p:nvPr/>
        </p:nvSpPr>
        <p:spPr bwMode="auto">
          <a:xfrm>
            <a:off x="813435" y="3436620"/>
            <a:ext cx="457200" cy="17068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47" name="Rechteck 1498627746">
            <a:extLst>
              <a:ext uri="{FF2B5EF4-FFF2-40B4-BE49-F238E27FC236}">
                <a16:creationId xmlns:a16="http://schemas.microsoft.com/office/drawing/2014/main" id="{EB387899-869F-7B61-2A80-A36FFB776196}"/>
              </a:ext>
            </a:extLst>
          </p:cNvPr>
          <p:cNvSpPr/>
          <p:nvPr/>
        </p:nvSpPr>
        <p:spPr bwMode="auto">
          <a:xfrm>
            <a:off x="5177790" y="594360"/>
            <a:ext cx="457200" cy="160020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49" name="Rechteck 1498627748">
            <a:extLst>
              <a:ext uri="{FF2B5EF4-FFF2-40B4-BE49-F238E27FC236}">
                <a16:creationId xmlns:a16="http://schemas.microsoft.com/office/drawing/2014/main" id="{CECCB60A-4281-6742-224B-8CB64AD5FB94}"/>
              </a:ext>
            </a:extLst>
          </p:cNvPr>
          <p:cNvSpPr/>
          <p:nvPr/>
        </p:nvSpPr>
        <p:spPr bwMode="auto">
          <a:xfrm>
            <a:off x="5177790" y="194310"/>
            <a:ext cx="3966210" cy="40386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52" name="Rechteck 1498627751">
            <a:extLst>
              <a:ext uri="{FF2B5EF4-FFF2-40B4-BE49-F238E27FC236}">
                <a16:creationId xmlns:a16="http://schemas.microsoft.com/office/drawing/2014/main" id="{0FFB9E5A-6F5C-5DF6-AE17-B68A796B6FB1}"/>
              </a:ext>
            </a:extLst>
          </p:cNvPr>
          <p:cNvSpPr/>
          <p:nvPr/>
        </p:nvSpPr>
        <p:spPr bwMode="auto">
          <a:xfrm>
            <a:off x="6235065" y="1177290"/>
            <a:ext cx="457200" cy="6400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54" name="Rechteck 1498627753">
            <a:extLst>
              <a:ext uri="{FF2B5EF4-FFF2-40B4-BE49-F238E27FC236}">
                <a16:creationId xmlns:a16="http://schemas.microsoft.com/office/drawing/2014/main" id="{3DC1A168-0190-F768-3620-205DDAFD967D}"/>
              </a:ext>
            </a:extLst>
          </p:cNvPr>
          <p:cNvSpPr/>
          <p:nvPr/>
        </p:nvSpPr>
        <p:spPr bwMode="auto">
          <a:xfrm>
            <a:off x="8763000" y="1177290"/>
            <a:ext cx="369570" cy="174879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56" name="Rechteck 1498627755">
            <a:extLst>
              <a:ext uri="{FF2B5EF4-FFF2-40B4-BE49-F238E27FC236}">
                <a16:creationId xmlns:a16="http://schemas.microsoft.com/office/drawing/2014/main" id="{8FEC471F-9C36-2E75-A3AF-138C0E8D5AA1}"/>
              </a:ext>
            </a:extLst>
          </p:cNvPr>
          <p:cNvSpPr/>
          <p:nvPr/>
        </p:nvSpPr>
        <p:spPr bwMode="auto">
          <a:xfrm>
            <a:off x="2987040" y="7620"/>
            <a:ext cx="457200" cy="6400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58" name="Rechteck 1498627757">
            <a:extLst>
              <a:ext uri="{FF2B5EF4-FFF2-40B4-BE49-F238E27FC236}">
                <a16:creationId xmlns:a16="http://schemas.microsoft.com/office/drawing/2014/main" id="{1669C589-34BD-5244-E5A1-D6231CC0EC7B}"/>
              </a:ext>
            </a:extLst>
          </p:cNvPr>
          <p:cNvSpPr/>
          <p:nvPr/>
        </p:nvSpPr>
        <p:spPr bwMode="auto">
          <a:xfrm>
            <a:off x="813435" y="0"/>
            <a:ext cx="1626870" cy="19431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60" name="Rechteck 1498627759">
            <a:extLst>
              <a:ext uri="{FF2B5EF4-FFF2-40B4-BE49-F238E27FC236}">
                <a16:creationId xmlns:a16="http://schemas.microsoft.com/office/drawing/2014/main" id="{07C2FE0E-1C92-D523-A3C4-5A4E041D9872}"/>
              </a:ext>
            </a:extLst>
          </p:cNvPr>
          <p:cNvSpPr/>
          <p:nvPr/>
        </p:nvSpPr>
        <p:spPr bwMode="auto">
          <a:xfrm>
            <a:off x="8096250" y="4198620"/>
            <a:ext cx="457200" cy="6400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3D9951B-D2D1-6BB1-727F-DAF9BC63D8C5}"/>
              </a:ext>
            </a:extLst>
          </p:cNvPr>
          <p:cNvSpPr/>
          <p:nvPr/>
        </p:nvSpPr>
        <p:spPr bwMode="auto">
          <a:xfrm>
            <a:off x="6911340" y="3436620"/>
            <a:ext cx="457200" cy="17068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60C9A5F-495F-3D47-E2A1-188CF7722938}"/>
              </a:ext>
            </a:extLst>
          </p:cNvPr>
          <p:cNvSpPr/>
          <p:nvPr/>
        </p:nvSpPr>
        <p:spPr bwMode="auto">
          <a:xfrm>
            <a:off x="7368540" y="3436620"/>
            <a:ext cx="1775460" cy="40386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888308" name="!!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Ausgangssituation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bei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Bissantz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&amp; Company</a:t>
            </a:r>
            <a:endParaRPr lang="en-US" sz="2600" dirty="0"/>
          </a:p>
        </p:txBody>
      </p:sp>
      <p:sp>
        <p:nvSpPr>
          <p:cNvPr id="738687418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6305465" name="Text 3"/>
          <p:cNvSpPr/>
          <p:nvPr/>
        </p:nvSpPr>
        <p:spPr bwMode="auto">
          <a:xfrm>
            <a:off x="41148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Bissantz &amp; Company GmbH</a:t>
            </a:r>
            <a:endParaRPr lang="en-US" sz="1500"/>
          </a:p>
        </p:txBody>
      </p:sp>
      <p:sp>
        <p:nvSpPr>
          <p:cNvPr id="1188911920" name="Text 4"/>
          <p:cNvSpPr/>
          <p:nvPr/>
        </p:nvSpPr>
        <p:spPr bwMode="auto">
          <a:xfrm>
            <a:off x="41148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  <a:defRPr/>
            </a:pPr>
            <a:r>
              <a:rPr lang="en-US" sz="13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▪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BI-Software DeltaMaster</a:t>
            </a:r>
            <a:b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</a:br>
            <a:r>
              <a:rPr lang="en-US" sz="13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▪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Standorte: Nürnberg, Hamburg, Schweiz</a:t>
            </a:r>
            <a:b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</a:br>
            <a:r>
              <a:rPr lang="en-US" sz="13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▪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~100 Mitarbeitende</a:t>
            </a:r>
            <a:b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</a:br>
            <a:r>
              <a:rPr lang="en-US" sz="13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▪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Kunden: Bosch, Porsche, Leica, Würth</a:t>
            </a:r>
            <a:endParaRPr lang="en-US" sz="1300"/>
          </a:p>
        </p:txBody>
      </p:sp>
      <p:sp>
        <p:nvSpPr>
          <p:cNvPr id="1850133411" name="Text 5"/>
          <p:cNvSpPr/>
          <p:nvPr/>
        </p:nvSpPr>
        <p:spPr bwMode="auto">
          <a:xfrm>
            <a:off x="41148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Probleme mit PRTG (kostenlos)</a:t>
            </a:r>
            <a:endParaRPr lang="en-US" sz="1500"/>
          </a:p>
        </p:txBody>
      </p:sp>
      <p:sp>
        <p:nvSpPr>
          <p:cNvPr id="1599779526" name="Shape 6"/>
          <p:cNvSpPr/>
          <p:nvPr/>
        </p:nvSpPr>
        <p:spPr bwMode="auto">
          <a:xfrm>
            <a:off x="411480" y="3291840"/>
            <a:ext cx="39319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9605300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3355848"/>
            <a:ext cx="292608" cy="292608"/>
          </a:xfrm>
          <a:prstGeom prst="rect">
            <a:avLst/>
          </a:prstGeom>
        </p:spPr>
      </p:pic>
      <p:sp>
        <p:nvSpPr>
          <p:cNvPr id="2052574400" name="Text 7"/>
          <p:cNvSpPr/>
          <p:nvPr/>
        </p:nvSpPr>
        <p:spPr bwMode="auto">
          <a:xfrm>
            <a:off x="9601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100 Sensor-Limit</a:t>
            </a:r>
            <a:endParaRPr lang="en-US" sz="1200"/>
          </a:p>
        </p:txBody>
      </p:sp>
      <p:sp>
        <p:nvSpPr>
          <p:cNvPr id="1846717344" name="Text 8"/>
          <p:cNvSpPr/>
          <p:nvPr/>
        </p:nvSpPr>
        <p:spPr bwMode="auto">
          <a:xfrm>
            <a:off x="2286000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Grenze wird mit wachsender Infrastruktur absehbar erreicht</a:t>
            </a:r>
            <a:endParaRPr lang="en-US" sz="1100"/>
          </a:p>
        </p:txBody>
      </p:sp>
      <p:sp>
        <p:nvSpPr>
          <p:cNvPr id="276940611" name="Shape 9"/>
          <p:cNvSpPr/>
          <p:nvPr/>
        </p:nvSpPr>
        <p:spPr bwMode="auto">
          <a:xfrm>
            <a:off x="411480" y="3840480"/>
            <a:ext cx="39319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3802121" name="Image 1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3904488"/>
            <a:ext cx="292608" cy="292608"/>
          </a:xfrm>
          <a:prstGeom prst="rect">
            <a:avLst/>
          </a:prstGeom>
        </p:spPr>
      </p:pic>
      <p:sp>
        <p:nvSpPr>
          <p:cNvPr id="1516464048" name="Text 10"/>
          <p:cNvSpPr/>
          <p:nvPr/>
        </p:nvSpPr>
        <p:spPr bwMode="auto">
          <a:xfrm>
            <a:off x="96012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Unflexible Dashboards</a:t>
            </a:r>
            <a:endParaRPr lang="en-US" sz="1200"/>
          </a:p>
        </p:txBody>
      </p:sp>
      <p:sp>
        <p:nvSpPr>
          <p:cNvPr id="2073709880" name="Text 11"/>
          <p:cNvSpPr/>
          <p:nvPr/>
        </p:nvSpPr>
        <p:spPr bwMode="auto">
          <a:xfrm>
            <a:off x="228600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Alle Geräte in einer langen Liste – kein individuelles Layout</a:t>
            </a:r>
            <a:endParaRPr lang="en-US" sz="1100"/>
          </a:p>
        </p:txBody>
      </p:sp>
      <p:sp>
        <p:nvSpPr>
          <p:cNvPr id="1115381195" name="Shape 12"/>
          <p:cNvSpPr/>
          <p:nvPr/>
        </p:nvSpPr>
        <p:spPr bwMode="auto">
          <a:xfrm>
            <a:off x="411480" y="4389120"/>
            <a:ext cx="39319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690282771" name="Image 2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4453128"/>
            <a:ext cx="292608" cy="292608"/>
          </a:xfrm>
          <a:prstGeom prst="rect">
            <a:avLst/>
          </a:prstGeom>
        </p:spPr>
      </p:pic>
      <p:sp>
        <p:nvSpPr>
          <p:cNvPr id="1000692971" name="Text 13"/>
          <p:cNvSpPr/>
          <p:nvPr/>
        </p:nvSpPr>
        <p:spPr bwMode="auto">
          <a:xfrm>
            <a:off x="960120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Lizenzkosten</a:t>
            </a:r>
            <a:endParaRPr lang="en-US" sz="1200"/>
          </a:p>
        </p:txBody>
      </p:sp>
      <p:sp>
        <p:nvSpPr>
          <p:cNvPr id="1919364312" name="Text 14"/>
          <p:cNvSpPr/>
          <p:nvPr/>
        </p:nvSpPr>
        <p:spPr bwMode="auto">
          <a:xfrm>
            <a:off x="228600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Erweiterung auf mehr Sensoren: mehrere Tausend € / Jahr</a:t>
            </a:r>
            <a:endParaRPr lang="en-US" sz="1100"/>
          </a:p>
        </p:txBody>
      </p:sp>
      <p:sp>
        <p:nvSpPr>
          <p:cNvPr id="1584684426" name="Shape 15"/>
          <p:cNvSpPr/>
          <p:nvPr/>
        </p:nvSpPr>
        <p:spPr bwMode="auto">
          <a:xfrm>
            <a:off x="4754880" y="914400"/>
            <a:ext cx="192024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25466324" name="Text 16"/>
          <p:cNvSpPr/>
          <p:nvPr/>
        </p:nvSpPr>
        <p:spPr bwMode="auto">
          <a:xfrm>
            <a:off x="4754880" y="1051560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100</a:t>
            </a:r>
            <a:endParaRPr lang="en-US" sz="3600"/>
          </a:p>
        </p:txBody>
      </p:sp>
      <p:sp>
        <p:nvSpPr>
          <p:cNvPr id="857464497" name="Text 17"/>
          <p:cNvSpPr/>
          <p:nvPr/>
        </p:nvSpPr>
        <p:spPr bwMode="auto">
          <a:xfrm>
            <a:off x="4754880" y="1651406"/>
            <a:ext cx="19202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Sensor-Limit (kostenlos)</a:t>
            </a:r>
            <a:endParaRPr lang="en-US" sz="1200"/>
          </a:p>
        </p:txBody>
      </p:sp>
      <p:sp>
        <p:nvSpPr>
          <p:cNvPr id="907514919" name="Shape 18"/>
          <p:cNvSpPr/>
          <p:nvPr/>
        </p:nvSpPr>
        <p:spPr bwMode="auto">
          <a:xfrm>
            <a:off x="6812280" y="914400"/>
            <a:ext cx="1920240" cy="11887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2368189" name="Text 19"/>
          <p:cNvSpPr/>
          <p:nvPr/>
        </p:nvSpPr>
        <p:spPr bwMode="auto">
          <a:xfrm>
            <a:off x="6812280" y="1051560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5+</a:t>
            </a:r>
            <a:endParaRPr lang="en-US" sz="3600"/>
          </a:p>
        </p:txBody>
      </p:sp>
      <p:sp>
        <p:nvSpPr>
          <p:cNvPr id="977488763" name="Text 20"/>
          <p:cNvSpPr/>
          <p:nvPr/>
        </p:nvSpPr>
        <p:spPr bwMode="auto">
          <a:xfrm>
            <a:off x="6812280" y="1651406"/>
            <a:ext cx="19202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Systeme zu überwachen</a:t>
            </a:r>
            <a:endParaRPr lang="en-US" sz="1200"/>
          </a:p>
        </p:txBody>
      </p:sp>
      <p:sp>
        <p:nvSpPr>
          <p:cNvPr id="560082008" name="Shape 21"/>
          <p:cNvSpPr/>
          <p:nvPr/>
        </p:nvSpPr>
        <p:spPr bwMode="auto">
          <a:xfrm>
            <a:off x="4754880" y="2240280"/>
            <a:ext cx="397764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6639340" name="Text 22"/>
          <p:cNvSpPr/>
          <p:nvPr/>
        </p:nvSpPr>
        <p:spPr bwMode="auto">
          <a:xfrm>
            <a:off x="4754880" y="2377440"/>
            <a:ext cx="39776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mehrere T€</a:t>
            </a:r>
            <a:endParaRPr lang="en-US" sz="3600"/>
          </a:p>
        </p:txBody>
      </p:sp>
      <p:sp>
        <p:nvSpPr>
          <p:cNvPr id="184173501" name="Text 23"/>
          <p:cNvSpPr/>
          <p:nvPr/>
        </p:nvSpPr>
        <p:spPr bwMode="auto">
          <a:xfrm>
            <a:off x="4754880" y="2977286"/>
            <a:ext cx="39776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Lizenzkosten p.a. für unbegrenzte Sensoren</a:t>
            </a:r>
            <a:endParaRPr lang="en-US" sz="1200"/>
          </a:p>
        </p:txBody>
      </p:sp>
      <p:sp>
        <p:nvSpPr>
          <p:cNvPr id="955833805" name="Text 24"/>
          <p:cNvSpPr/>
          <p:nvPr/>
        </p:nvSpPr>
        <p:spPr bwMode="auto">
          <a:xfrm>
            <a:off x="4663440" y="3611880"/>
            <a:ext cx="4069080" cy="548640"/>
          </a:xfrm>
          <a:prstGeom prst="rect">
            <a:avLst/>
          </a:prstGeom>
          <a:solidFill>
            <a:srgbClr val="D6E4F0"/>
          </a:solidFill>
          <a:ln/>
        </p:spPr>
        <p:txBody>
          <a:bodyPr wrap="square" lIns="101600" tIns="152400" rIns="152400" bIns="10160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→  Ziel: Kostenfreie, skalierbare Alternative evaluieren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F4E7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7A71C-7D3D-D316-55FC-68BE7CBB2AB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102927" name="Shape 0">
            <a:extLst>
              <a:ext uri="{FF2B5EF4-FFF2-40B4-BE49-F238E27FC236}">
                <a16:creationId xmlns:a16="http://schemas.microsoft.com/office/drawing/2014/main" id="{8940BB90-EE6F-CFB0-E276-F61C9CAB041F}"/>
              </a:ext>
            </a:extLst>
          </p:cNvPr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9976351" name="Text 1">
            <a:extLst>
              <a:ext uri="{FF2B5EF4-FFF2-40B4-BE49-F238E27FC236}">
                <a16:creationId xmlns:a16="http://schemas.microsoft.com/office/drawing/2014/main" id="{24D9CBA4-B8E9-DDF8-5A6A-A7C793BFBCDA}"/>
              </a:ext>
            </a:extLst>
          </p:cNvPr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02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31C868B-481E-5778-1165-D77492C06430}"/>
              </a:ext>
            </a:extLst>
          </p:cNvPr>
          <p:cNvSpPr/>
          <p:nvPr/>
        </p:nvSpPr>
        <p:spPr>
          <a:xfrm>
            <a:off x="6271260" y="773430"/>
            <a:ext cx="2369820" cy="3608070"/>
          </a:xfrm>
          <a:prstGeom prst="ellipse">
            <a:avLst/>
          </a:prstGeom>
          <a:solidFill>
            <a:schemeClr val="bg1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6B9E0176-D286-3177-D89C-4F4FD6AA2040}"/>
              </a:ext>
            </a:extLst>
          </p:cNvPr>
          <p:cNvSpPr/>
          <p:nvPr/>
        </p:nvSpPr>
        <p:spPr bwMode="auto">
          <a:xfrm>
            <a:off x="6537960" y="1122045"/>
            <a:ext cx="1729740" cy="289941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427994B-3169-865E-A748-667CF749531F}"/>
              </a:ext>
            </a:extLst>
          </p:cNvPr>
          <p:cNvSpPr/>
          <p:nvPr/>
        </p:nvSpPr>
        <p:spPr bwMode="auto">
          <a:xfrm>
            <a:off x="6789420" y="1509713"/>
            <a:ext cx="1165860" cy="20564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BEADC0C9-C428-5B3E-C9B4-F9643242D1CF}"/>
              </a:ext>
            </a:extLst>
          </p:cNvPr>
          <p:cNvSpPr/>
          <p:nvPr/>
        </p:nvSpPr>
        <p:spPr bwMode="auto">
          <a:xfrm>
            <a:off x="7048500" y="1939766"/>
            <a:ext cx="632460" cy="1263967"/>
          </a:xfrm>
          <a:prstGeom prst="ellipse">
            <a:avLst/>
          </a:prstGeom>
          <a:solidFill>
            <a:srgbClr val="E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1B71199-E98A-DE17-FCA8-2A03BDEF5233}"/>
              </a:ext>
            </a:extLst>
          </p:cNvPr>
          <p:cNvSpPr/>
          <p:nvPr/>
        </p:nvSpPr>
        <p:spPr bwMode="auto">
          <a:xfrm>
            <a:off x="7239000" y="2325290"/>
            <a:ext cx="251460" cy="514827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9093C5C9-AD23-B010-1C5C-F25B97D92170}"/>
              </a:ext>
            </a:extLst>
          </p:cNvPr>
          <p:cNvSpPr/>
          <p:nvPr/>
        </p:nvSpPr>
        <p:spPr bwMode="auto">
          <a:xfrm rot="18580740">
            <a:off x="6258343" y="2874454"/>
            <a:ext cx="1329998" cy="449580"/>
          </a:xfrm>
          <a:prstGeom prst="rightArrow">
            <a:avLst>
              <a:gd name="adj1" fmla="val 17113"/>
              <a:gd name="adj2" fmla="val 24224"/>
            </a:avLst>
          </a:prstGeom>
          <a:solidFill>
            <a:schemeClr val="bg1">
              <a:lumMod val="75000"/>
              <a:alpha val="50000"/>
            </a:schemeClr>
          </a:solidFill>
          <a:ln>
            <a:solidFill>
              <a:srgbClr val="A6A6A6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9C46E1FD-7670-141B-E3D5-509E9EDCE147}"/>
              </a:ext>
            </a:extLst>
          </p:cNvPr>
          <p:cNvGrpSpPr/>
          <p:nvPr/>
        </p:nvGrpSpPr>
        <p:grpSpPr>
          <a:xfrm>
            <a:off x="3916680" y="1868090"/>
            <a:ext cx="3448050" cy="949405"/>
            <a:chOff x="3916680" y="1868090"/>
            <a:chExt cx="3448050" cy="949405"/>
          </a:xfrm>
        </p:grpSpPr>
        <p:sp>
          <p:nvSpPr>
            <p:cNvPr id="56929695" name="Text 2">
              <a:extLst>
                <a:ext uri="{FF2B5EF4-FFF2-40B4-BE49-F238E27FC236}">
                  <a16:creationId xmlns:a16="http://schemas.microsoft.com/office/drawing/2014/main" id="{DC6D0DDF-EED4-BAA3-7544-9D81156E34BA}"/>
                </a:ext>
              </a:extLst>
            </p:cNvPr>
            <p:cNvSpPr/>
            <p:nvPr/>
          </p:nvSpPr>
          <p:spPr bwMode="auto">
            <a:xfrm>
              <a:off x="3916680" y="1868090"/>
              <a:ext cx="216408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  <a:defRPr/>
              </a:pPr>
              <a:r>
                <a:rPr lang="en-US" sz="3200" b="1" dirty="0">
                  <a:solidFill>
                    <a:srgbClr val="FFFFFF"/>
                  </a:solidFill>
                  <a:effectLst>
                    <a:outerShdw blurRad="50800" dist="38100" dir="16200000" rotWithShape="0">
                      <a:prstClr val="black">
                        <a:alpha val="40000"/>
                      </a:prstClr>
                    </a:outerShdw>
                  </a:effectLst>
                  <a:latin typeface="Calibri"/>
                  <a:ea typeface="Calibri"/>
                  <a:cs typeface="Calibri"/>
                </a:rPr>
                <a:t>Projektziel</a:t>
              </a:r>
              <a:endParaRPr lang="en-US" sz="3200" dirty="0"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15" name="Pfeil: nach rechts 14">
              <a:extLst>
                <a:ext uri="{FF2B5EF4-FFF2-40B4-BE49-F238E27FC236}">
                  <a16:creationId xmlns:a16="http://schemas.microsoft.com/office/drawing/2014/main" id="{7F96A45F-B104-92BA-2504-8FC95F48F0EC}"/>
                </a:ext>
              </a:extLst>
            </p:cNvPr>
            <p:cNvSpPr/>
            <p:nvPr/>
          </p:nvSpPr>
          <p:spPr>
            <a:xfrm>
              <a:off x="3966210" y="2367915"/>
              <a:ext cx="3398520" cy="449580"/>
            </a:xfrm>
            <a:prstGeom prst="rightArrow">
              <a:avLst>
                <a:gd name="adj1" fmla="val 17113"/>
                <a:gd name="adj2" fmla="val 24224"/>
              </a:avLst>
            </a:prstGeom>
            <a:solidFill>
              <a:srgbClr val="2E74B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1767419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716581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Projektziel</a:t>
            </a:r>
            <a:endParaRPr lang="en-US" sz="2600" dirty="0"/>
          </a:p>
        </p:txBody>
      </p:sp>
      <p:sp>
        <p:nvSpPr>
          <p:cNvPr id="1229888583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56826145" name="Shape 3"/>
          <p:cNvSpPr/>
          <p:nvPr/>
        </p:nvSpPr>
        <p:spPr bwMode="auto">
          <a:xfrm>
            <a:off x="411480" y="96012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32693626" name="Shape 4"/>
          <p:cNvSpPr/>
          <p:nvPr/>
        </p:nvSpPr>
        <p:spPr bwMode="auto">
          <a:xfrm>
            <a:off x="548640" y="1143000"/>
            <a:ext cx="64008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9967699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2648" y="1207008"/>
            <a:ext cx="502920" cy="502920"/>
          </a:xfrm>
          <a:prstGeom prst="rect">
            <a:avLst/>
          </a:prstGeom>
        </p:spPr>
      </p:pic>
      <p:sp>
        <p:nvSpPr>
          <p:cNvPr id="1418867774" name="Text 5"/>
          <p:cNvSpPr/>
          <p:nvPr/>
        </p:nvSpPr>
        <p:spPr bwMode="auto">
          <a:xfrm>
            <a:off x="1325880" y="11247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Virtuelle Testumgebung aufbauen</a:t>
            </a:r>
            <a:endParaRPr lang="en-US" sz="1300"/>
          </a:p>
        </p:txBody>
      </p:sp>
      <p:sp>
        <p:nvSpPr>
          <p:cNvPr id="965645027" name="Text 6"/>
          <p:cNvSpPr/>
          <p:nvPr/>
        </p:nvSpPr>
        <p:spPr bwMode="auto">
          <a:xfrm>
            <a:off x="1325880" y="1554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VMs + Host-Rechner als überwachte Systeme</a:t>
            </a:r>
            <a:endParaRPr lang="en-US" sz="1200"/>
          </a:p>
        </p:txBody>
      </p:sp>
      <p:sp>
        <p:nvSpPr>
          <p:cNvPr id="70640016" name="Shape 7"/>
          <p:cNvSpPr/>
          <p:nvPr/>
        </p:nvSpPr>
        <p:spPr bwMode="auto">
          <a:xfrm>
            <a:off x="411480" y="960120"/>
            <a:ext cx="64008" cy="155448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9696432" name="Shape 8"/>
          <p:cNvSpPr/>
          <p:nvPr/>
        </p:nvSpPr>
        <p:spPr bwMode="auto">
          <a:xfrm>
            <a:off x="4800600" y="96012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75466906" name="Shape 9"/>
          <p:cNvSpPr/>
          <p:nvPr/>
        </p:nvSpPr>
        <p:spPr bwMode="auto">
          <a:xfrm>
            <a:off x="4937760" y="1143000"/>
            <a:ext cx="64008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06532521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01768" y="1207008"/>
            <a:ext cx="502920" cy="502920"/>
          </a:xfrm>
          <a:prstGeom prst="rect">
            <a:avLst/>
          </a:prstGeom>
        </p:spPr>
      </p:pic>
      <p:sp>
        <p:nvSpPr>
          <p:cNvPr id="445741387" name="Text 10"/>
          <p:cNvSpPr/>
          <p:nvPr/>
        </p:nvSpPr>
        <p:spPr bwMode="auto">
          <a:xfrm>
            <a:off x="5715000" y="11247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Prometheus &amp; Grafana implementieren</a:t>
            </a:r>
            <a:endParaRPr lang="en-US" sz="1300"/>
          </a:p>
        </p:txBody>
      </p:sp>
      <p:sp>
        <p:nvSpPr>
          <p:cNvPr id="720098675" name="Text 11"/>
          <p:cNvSpPr/>
          <p:nvPr/>
        </p:nvSpPr>
        <p:spPr bwMode="auto">
          <a:xfrm>
            <a:off x="5715000" y="1554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Metriken erfassen, speichern und visualisieren</a:t>
            </a:r>
            <a:endParaRPr lang="en-US" sz="1200"/>
          </a:p>
        </p:txBody>
      </p:sp>
      <p:sp>
        <p:nvSpPr>
          <p:cNvPr id="147486795" name="Shape 12"/>
          <p:cNvSpPr/>
          <p:nvPr/>
        </p:nvSpPr>
        <p:spPr bwMode="auto">
          <a:xfrm>
            <a:off x="4800600" y="960120"/>
            <a:ext cx="64008" cy="155448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34199099" name="Shape 13"/>
          <p:cNvSpPr/>
          <p:nvPr/>
        </p:nvSpPr>
        <p:spPr bwMode="auto">
          <a:xfrm>
            <a:off x="411480" y="269748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84180428" name="Shape 14"/>
          <p:cNvSpPr/>
          <p:nvPr/>
        </p:nvSpPr>
        <p:spPr bwMode="auto">
          <a:xfrm>
            <a:off x="548640" y="2880360"/>
            <a:ext cx="64008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79485001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12648" y="2944368"/>
            <a:ext cx="502920" cy="502920"/>
          </a:xfrm>
          <a:prstGeom prst="rect">
            <a:avLst/>
          </a:prstGeom>
        </p:spPr>
      </p:pic>
      <p:sp>
        <p:nvSpPr>
          <p:cNvPr id="622404447" name="Text 15"/>
          <p:cNvSpPr/>
          <p:nvPr/>
        </p:nvSpPr>
        <p:spPr bwMode="auto">
          <a:xfrm>
            <a:off x="1325880" y="28620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Automatisches Alerting einrichten</a:t>
            </a:r>
            <a:endParaRPr lang="en-US" sz="1300"/>
          </a:p>
        </p:txBody>
      </p:sp>
      <p:sp>
        <p:nvSpPr>
          <p:cNvPr id="554566687" name="Text 16"/>
          <p:cNvSpPr/>
          <p:nvPr/>
        </p:nvSpPr>
        <p:spPr bwMode="auto">
          <a:xfrm>
            <a:off x="1325880" y="3291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E-Mail-Benachrichtigung bei Systemausfall</a:t>
            </a:r>
            <a:endParaRPr lang="en-US" sz="1200"/>
          </a:p>
        </p:txBody>
      </p:sp>
      <p:sp>
        <p:nvSpPr>
          <p:cNvPr id="1801604178" name="Shape 17"/>
          <p:cNvSpPr/>
          <p:nvPr/>
        </p:nvSpPr>
        <p:spPr bwMode="auto">
          <a:xfrm>
            <a:off x="411480" y="2697480"/>
            <a:ext cx="64008" cy="155448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67964679" name="Shape 18"/>
          <p:cNvSpPr/>
          <p:nvPr/>
        </p:nvSpPr>
        <p:spPr bwMode="auto">
          <a:xfrm>
            <a:off x="4800600" y="269748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82691640" name="Shape 19"/>
          <p:cNvSpPr/>
          <p:nvPr/>
        </p:nvSpPr>
        <p:spPr bwMode="auto">
          <a:xfrm>
            <a:off x="4937760" y="2880360"/>
            <a:ext cx="64008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27719833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001768" y="2944368"/>
            <a:ext cx="502920" cy="502920"/>
          </a:xfrm>
          <a:prstGeom prst="rect">
            <a:avLst/>
          </a:prstGeom>
        </p:spPr>
      </p:pic>
      <p:sp>
        <p:nvSpPr>
          <p:cNvPr id="2020927917" name="Text 20"/>
          <p:cNvSpPr/>
          <p:nvPr/>
        </p:nvSpPr>
        <p:spPr bwMode="auto">
          <a:xfrm>
            <a:off x="5715000" y="28620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PRTG vs. Prometheus/Grafana evaluieren</a:t>
            </a:r>
            <a:endParaRPr lang="en-US" sz="1300"/>
          </a:p>
        </p:txBody>
      </p:sp>
      <p:sp>
        <p:nvSpPr>
          <p:cNvPr id="1304411092" name="Text 21"/>
          <p:cNvSpPr/>
          <p:nvPr/>
        </p:nvSpPr>
        <p:spPr bwMode="auto">
          <a:xfrm>
            <a:off x="5715000" y="3291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Nutzwertanalyse als Entscheidungsgrundlage</a:t>
            </a:r>
            <a:endParaRPr lang="en-US" sz="1200"/>
          </a:p>
        </p:txBody>
      </p:sp>
      <p:sp>
        <p:nvSpPr>
          <p:cNvPr id="1085620951" name="Shape 22"/>
          <p:cNvSpPr/>
          <p:nvPr/>
        </p:nvSpPr>
        <p:spPr bwMode="auto">
          <a:xfrm>
            <a:off x="4800600" y="2697480"/>
            <a:ext cx="64008" cy="155448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035734" name="!!Shape 22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7226579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03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971545170" name="!!Text 2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Systemarchitektur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29828" name="!!Text 2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Systemarchitektur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der </a:t>
            </a: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Testumgebung</a:t>
            </a:r>
            <a:endParaRPr lang="en-US" sz="2600" dirty="0"/>
          </a:p>
        </p:txBody>
      </p:sp>
      <p:sp>
        <p:nvSpPr>
          <p:cNvPr id="120702417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4951705" name="Text 3"/>
          <p:cNvSpPr/>
          <p:nvPr/>
        </p:nvSpPr>
        <p:spPr bwMode="auto">
          <a:xfrm>
            <a:off x="41148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Überwachte Systeme</a:t>
            </a:r>
            <a:endParaRPr lang="en-US" sz="1400"/>
          </a:p>
        </p:txBody>
      </p:sp>
      <p:sp>
        <p:nvSpPr>
          <p:cNvPr id="451211784" name="Shape 4"/>
          <p:cNvSpPr/>
          <p:nvPr/>
        </p:nvSpPr>
        <p:spPr bwMode="auto">
          <a:xfrm>
            <a:off x="411480" y="1371600"/>
            <a:ext cx="3657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95654336" name="Shape 5"/>
          <p:cNvSpPr/>
          <p:nvPr/>
        </p:nvSpPr>
        <p:spPr bwMode="auto">
          <a:xfrm>
            <a:off x="411480" y="1371600"/>
            <a:ext cx="64008" cy="5943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6984198" name="Text 6"/>
          <p:cNvSpPr/>
          <p:nvPr/>
        </p:nvSpPr>
        <p:spPr bwMode="auto">
          <a:xfrm>
            <a:off x="59436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Windows 11 VM</a:t>
            </a:r>
            <a:endParaRPr lang="en-US" sz="1200"/>
          </a:p>
        </p:txBody>
      </p:sp>
      <p:sp>
        <p:nvSpPr>
          <p:cNvPr id="1043680759" name="Text 7"/>
          <p:cNvSpPr/>
          <p:nvPr/>
        </p:nvSpPr>
        <p:spPr bwMode="auto">
          <a:xfrm>
            <a:off x="594360" y="16733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Client  |  Windows Exporter :9182</a:t>
            </a:r>
            <a:endParaRPr lang="en-US" sz="1000"/>
          </a:p>
        </p:txBody>
      </p:sp>
      <p:sp>
        <p:nvSpPr>
          <p:cNvPr id="2049797370" name="Shape 8"/>
          <p:cNvSpPr/>
          <p:nvPr/>
        </p:nvSpPr>
        <p:spPr bwMode="auto">
          <a:xfrm>
            <a:off x="411480" y="2057400"/>
            <a:ext cx="3657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51245476" name="Shape 9"/>
          <p:cNvSpPr/>
          <p:nvPr/>
        </p:nvSpPr>
        <p:spPr bwMode="auto">
          <a:xfrm>
            <a:off x="411480" y="2057400"/>
            <a:ext cx="64008" cy="5943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51658635" name="Text 10"/>
          <p:cNvSpPr/>
          <p:nvPr/>
        </p:nvSpPr>
        <p:spPr bwMode="auto">
          <a:xfrm>
            <a:off x="594360" y="2103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Windows Server 2022</a:t>
            </a:r>
            <a:endParaRPr lang="en-US" sz="1200"/>
          </a:p>
        </p:txBody>
      </p:sp>
      <p:sp>
        <p:nvSpPr>
          <p:cNvPr id="1294134032" name="Text 11"/>
          <p:cNvSpPr/>
          <p:nvPr/>
        </p:nvSpPr>
        <p:spPr bwMode="auto">
          <a:xfrm>
            <a:off x="594360" y="23591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FTP-Server  |  Windows Exporter :9182</a:t>
            </a:r>
            <a:endParaRPr lang="en-US" sz="1000"/>
          </a:p>
        </p:txBody>
      </p:sp>
      <p:sp>
        <p:nvSpPr>
          <p:cNvPr id="633632301" name="Shape 12"/>
          <p:cNvSpPr/>
          <p:nvPr/>
        </p:nvSpPr>
        <p:spPr bwMode="auto">
          <a:xfrm>
            <a:off x="411480" y="2743200"/>
            <a:ext cx="3657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3769474" name="Shape 13"/>
          <p:cNvSpPr/>
          <p:nvPr/>
        </p:nvSpPr>
        <p:spPr bwMode="auto">
          <a:xfrm>
            <a:off x="411480" y="2743200"/>
            <a:ext cx="64008" cy="5943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32979499" name="Text 14"/>
          <p:cNvSpPr/>
          <p:nvPr/>
        </p:nvSpPr>
        <p:spPr bwMode="auto">
          <a:xfrm>
            <a:off x="594360" y="2788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Ubuntu VM</a:t>
            </a:r>
            <a:endParaRPr lang="en-US" sz="1200"/>
          </a:p>
        </p:txBody>
      </p:sp>
      <p:sp>
        <p:nvSpPr>
          <p:cNvPr id="1403436414" name="Text 15"/>
          <p:cNvSpPr/>
          <p:nvPr/>
        </p:nvSpPr>
        <p:spPr bwMode="auto">
          <a:xfrm>
            <a:off x="594360" y="3044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Webserver  |  Node Exporter :9100</a:t>
            </a:r>
            <a:endParaRPr lang="en-US" sz="1000"/>
          </a:p>
        </p:txBody>
      </p:sp>
      <p:sp>
        <p:nvSpPr>
          <p:cNvPr id="6833234" name="Shape 16"/>
          <p:cNvSpPr/>
          <p:nvPr/>
        </p:nvSpPr>
        <p:spPr bwMode="auto">
          <a:xfrm>
            <a:off x="411480" y="3429000"/>
            <a:ext cx="3657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28796994" name="Shape 17"/>
          <p:cNvSpPr/>
          <p:nvPr/>
        </p:nvSpPr>
        <p:spPr bwMode="auto">
          <a:xfrm>
            <a:off x="411480" y="3429000"/>
            <a:ext cx="64008" cy="5943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39637071" name="Text 18"/>
          <p:cNvSpPr/>
          <p:nvPr/>
        </p:nvSpPr>
        <p:spPr bwMode="auto">
          <a:xfrm>
            <a:off x="594360" y="3474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Host-Rechner</a:t>
            </a:r>
            <a:endParaRPr lang="en-US" sz="1200"/>
          </a:p>
        </p:txBody>
      </p:sp>
      <p:sp>
        <p:nvSpPr>
          <p:cNvPr id="868937588" name="Text 19"/>
          <p:cNvSpPr/>
          <p:nvPr/>
        </p:nvSpPr>
        <p:spPr bwMode="auto">
          <a:xfrm>
            <a:off x="594360" y="3730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Physisches System  |  Windows Exporter :9182</a:t>
            </a:r>
            <a:endParaRPr lang="en-US" sz="1000"/>
          </a:p>
        </p:txBody>
      </p:sp>
      <p:sp>
        <p:nvSpPr>
          <p:cNvPr id="2095741835" name="Shape 20"/>
          <p:cNvSpPr/>
          <p:nvPr/>
        </p:nvSpPr>
        <p:spPr bwMode="auto">
          <a:xfrm>
            <a:off x="4160519" y="2286000"/>
            <a:ext cx="731520" cy="5486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758456" name="Text 21"/>
          <p:cNvSpPr/>
          <p:nvPr/>
        </p:nvSpPr>
        <p:spPr bwMode="auto">
          <a:xfrm>
            <a:off x="4133088" y="235915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scrape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15s</a:t>
            </a:r>
            <a:endParaRPr lang="en-US" sz="900"/>
          </a:p>
        </p:txBody>
      </p:sp>
      <p:sp>
        <p:nvSpPr>
          <p:cNvPr id="1874272337" name="!!Shape 22"/>
          <p:cNvSpPr/>
          <p:nvPr/>
        </p:nvSpPr>
        <p:spPr bwMode="auto">
          <a:xfrm>
            <a:off x="4983480" y="960120"/>
            <a:ext cx="3749040" cy="1965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1521895" name="Text 23"/>
          <p:cNvSpPr/>
          <p:nvPr/>
        </p:nvSpPr>
        <p:spPr bwMode="auto">
          <a:xfrm>
            <a:off x="507492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Monitoring-Server  (Ubuntu VM)</a:t>
            </a:r>
            <a:endParaRPr lang="en-US" sz="1300"/>
          </a:p>
        </p:txBody>
      </p:sp>
      <p:sp>
        <p:nvSpPr>
          <p:cNvPr id="939657310" name="Shape 24"/>
          <p:cNvSpPr/>
          <p:nvPr/>
        </p:nvSpPr>
        <p:spPr bwMode="auto">
          <a:xfrm>
            <a:off x="5166360" y="1481328"/>
            <a:ext cx="3383280" cy="3840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8483411" name="Text 25"/>
          <p:cNvSpPr/>
          <p:nvPr/>
        </p:nvSpPr>
        <p:spPr bwMode="auto">
          <a:xfrm>
            <a:off x="5230368" y="15179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Prometheus</a:t>
            </a:r>
            <a:endParaRPr lang="en-US" sz="1100"/>
          </a:p>
        </p:txBody>
      </p:sp>
      <p:sp>
        <p:nvSpPr>
          <p:cNvPr id="1450073767" name="Text 26"/>
          <p:cNvSpPr/>
          <p:nvPr/>
        </p:nvSpPr>
        <p:spPr bwMode="auto">
          <a:xfrm>
            <a:off x="6446520" y="1536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Metriken-Scraping &amp; Speicherung</a:t>
            </a:r>
            <a:endParaRPr lang="en-US" sz="1000"/>
          </a:p>
        </p:txBody>
      </p:sp>
      <p:sp>
        <p:nvSpPr>
          <p:cNvPr id="1285369335" name="Shape 27"/>
          <p:cNvSpPr/>
          <p:nvPr/>
        </p:nvSpPr>
        <p:spPr bwMode="auto">
          <a:xfrm>
            <a:off x="5166360" y="1938528"/>
            <a:ext cx="3383280" cy="3840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2756977" name="Text 28"/>
          <p:cNvSpPr/>
          <p:nvPr/>
        </p:nvSpPr>
        <p:spPr bwMode="auto">
          <a:xfrm>
            <a:off x="5230368" y="19751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Grafana</a:t>
            </a:r>
            <a:endParaRPr lang="en-US" sz="1100"/>
          </a:p>
        </p:txBody>
      </p:sp>
      <p:sp>
        <p:nvSpPr>
          <p:cNvPr id="1054116948" name="Text 29"/>
          <p:cNvSpPr/>
          <p:nvPr/>
        </p:nvSpPr>
        <p:spPr bwMode="auto">
          <a:xfrm>
            <a:off x="644652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Dashboards  (Port 3000)</a:t>
            </a:r>
            <a:endParaRPr lang="en-US" sz="1000"/>
          </a:p>
        </p:txBody>
      </p:sp>
      <p:sp>
        <p:nvSpPr>
          <p:cNvPr id="1692561844" name="Shape 30"/>
          <p:cNvSpPr/>
          <p:nvPr/>
        </p:nvSpPr>
        <p:spPr bwMode="auto">
          <a:xfrm>
            <a:off x="5166360" y="2395728"/>
            <a:ext cx="3383280" cy="3840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23944076" name="Text 31"/>
          <p:cNvSpPr/>
          <p:nvPr/>
        </p:nvSpPr>
        <p:spPr bwMode="auto">
          <a:xfrm>
            <a:off x="5230368" y="2432303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Alertmanager</a:t>
            </a:r>
            <a:endParaRPr lang="en-US" sz="1100"/>
          </a:p>
        </p:txBody>
      </p:sp>
      <p:sp>
        <p:nvSpPr>
          <p:cNvPr id="2052723797" name="Text 32"/>
          <p:cNvSpPr/>
          <p:nvPr/>
        </p:nvSpPr>
        <p:spPr bwMode="auto">
          <a:xfrm>
            <a:off x="644652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Alert-Routing &amp; E-Mail</a:t>
            </a:r>
            <a:endParaRPr lang="en-US" sz="1000"/>
          </a:p>
        </p:txBody>
      </p:sp>
      <p:sp>
        <p:nvSpPr>
          <p:cNvPr id="179983062" name="Shape 33"/>
          <p:cNvSpPr/>
          <p:nvPr/>
        </p:nvSpPr>
        <p:spPr bwMode="auto">
          <a:xfrm>
            <a:off x="4983480" y="3017519"/>
            <a:ext cx="374904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80577583" name="Text 34"/>
          <p:cNvSpPr/>
          <p:nvPr/>
        </p:nvSpPr>
        <p:spPr bwMode="auto">
          <a:xfrm>
            <a:off x="5120640" y="3072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Blackbox Exporter: HTTP &amp; ICMP Probes (Erreichbarkeit)</a:t>
            </a:r>
            <a:endParaRPr lang="en-US" sz="1100"/>
          </a:p>
        </p:txBody>
      </p:sp>
      <p:sp>
        <p:nvSpPr>
          <p:cNvPr id="2113879572" name="Shape 35"/>
          <p:cNvSpPr/>
          <p:nvPr/>
        </p:nvSpPr>
        <p:spPr bwMode="auto">
          <a:xfrm>
            <a:off x="411480" y="4219215"/>
            <a:ext cx="8321039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97240031" name="Text 36"/>
          <p:cNvSpPr/>
          <p:nvPr/>
        </p:nvSpPr>
        <p:spPr bwMode="auto">
          <a:xfrm>
            <a:off x="594360" y="4301511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⚡  Alertmanager → E-Mail-Benachrichtigung bei Ausfall oder kritischen Schwellenwerten  |  Scrape-Intervall: 15 Sekunden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9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877283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3134187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04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529109771" name="!!Text 2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Technologie-</a:t>
            </a:r>
            <a:r>
              <a:rPr lang="en-US" sz="32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Entscheidung</a:t>
            </a:r>
            <a:endParaRPr lang="en-US" sz="3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Pfeil: nach oben 1">
            <a:extLst>
              <a:ext uri="{FF2B5EF4-FFF2-40B4-BE49-F238E27FC236}">
                <a16:creationId xmlns:a16="http://schemas.microsoft.com/office/drawing/2014/main" id="{44F7C935-14D3-E4E7-7E3B-1914EE9836B1}"/>
              </a:ext>
            </a:extLst>
          </p:cNvPr>
          <p:cNvSpPr/>
          <p:nvPr/>
        </p:nvSpPr>
        <p:spPr>
          <a:xfrm>
            <a:off x="6697499" y="5448258"/>
            <a:ext cx="921488" cy="3131643"/>
          </a:xfrm>
          <a:prstGeom prst="up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Pfeil: nach links 2">
            <a:extLst>
              <a:ext uri="{FF2B5EF4-FFF2-40B4-BE49-F238E27FC236}">
                <a16:creationId xmlns:a16="http://schemas.microsoft.com/office/drawing/2014/main" id="{DFA2D4B0-2FD8-A244-4A04-653002CBE0F8}"/>
              </a:ext>
            </a:extLst>
          </p:cNvPr>
          <p:cNvSpPr/>
          <p:nvPr/>
        </p:nvSpPr>
        <p:spPr>
          <a:xfrm>
            <a:off x="9625174" y="1928037"/>
            <a:ext cx="2069450" cy="826150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Pfeil: nach rechts 3">
            <a:extLst>
              <a:ext uri="{FF2B5EF4-FFF2-40B4-BE49-F238E27FC236}">
                <a16:creationId xmlns:a16="http://schemas.microsoft.com/office/drawing/2014/main" id="{A060DA68-136F-6AFA-4FCD-684A4CDA9C83}"/>
              </a:ext>
            </a:extLst>
          </p:cNvPr>
          <p:cNvSpPr/>
          <p:nvPr/>
        </p:nvSpPr>
        <p:spPr>
          <a:xfrm>
            <a:off x="-2401895" y="1928037"/>
            <a:ext cx="2211927" cy="82615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726975" name="!!Text 2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Eingesetzte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Technologien</a:t>
            </a:r>
            <a:endParaRPr lang="en-US" sz="2600" dirty="0"/>
          </a:p>
        </p:txBody>
      </p:sp>
      <p:sp>
        <p:nvSpPr>
          <p:cNvPr id="1689081996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11333891" name="Shape 3"/>
          <p:cNvSpPr/>
          <p:nvPr/>
        </p:nvSpPr>
        <p:spPr bwMode="auto">
          <a:xfrm>
            <a:off x="411480" y="960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83972915" name="Shape 4"/>
          <p:cNvSpPr/>
          <p:nvPr/>
        </p:nvSpPr>
        <p:spPr bwMode="auto">
          <a:xfrm>
            <a:off x="411480" y="960120"/>
            <a:ext cx="274320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0132375" name="Text 5"/>
          <p:cNvSpPr/>
          <p:nvPr/>
        </p:nvSpPr>
        <p:spPr bwMode="auto">
          <a:xfrm>
            <a:off x="521208" y="9966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Prometheus</a:t>
            </a:r>
            <a:endParaRPr lang="en-US" sz="1300"/>
          </a:p>
        </p:txBody>
      </p:sp>
      <p:sp>
        <p:nvSpPr>
          <p:cNvPr id="926915875" name="Text 6"/>
          <p:cNvSpPr/>
          <p:nvPr/>
        </p:nvSpPr>
        <p:spPr bwMode="auto">
          <a:xfrm>
            <a:off x="50292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Monitoring-Backend</a:t>
            </a:r>
            <a:endParaRPr lang="en-US" sz="1100"/>
          </a:p>
        </p:txBody>
      </p:sp>
      <p:sp>
        <p:nvSpPr>
          <p:cNvPr id="1539219040" name="Text 7"/>
          <p:cNvSpPr/>
          <p:nvPr/>
        </p:nvSpPr>
        <p:spPr bwMode="auto">
          <a:xfrm>
            <a:off x="502920" y="17099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Pull-basiertes Scraping, Time-Series-DB, PromQL, Alert-Regeln</a:t>
            </a:r>
            <a:endParaRPr lang="en-US" sz="1100"/>
          </a:p>
        </p:txBody>
      </p:sp>
      <p:sp>
        <p:nvSpPr>
          <p:cNvPr id="1453580646" name="Shape 8"/>
          <p:cNvSpPr/>
          <p:nvPr/>
        </p:nvSpPr>
        <p:spPr bwMode="auto">
          <a:xfrm>
            <a:off x="3337560" y="960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9329823" name="Shape 9"/>
          <p:cNvSpPr>
            <a:spLocks/>
          </p:cNvSpPr>
          <p:nvPr/>
        </p:nvSpPr>
        <p:spPr bwMode="auto">
          <a:xfrm>
            <a:off x="3337560" y="960120"/>
            <a:ext cx="2743200" cy="3840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1970219" name="Text 10"/>
          <p:cNvSpPr/>
          <p:nvPr/>
        </p:nvSpPr>
        <p:spPr bwMode="auto">
          <a:xfrm>
            <a:off x="3447288" y="9966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Grafana</a:t>
            </a:r>
            <a:endParaRPr lang="en-US" sz="1300"/>
          </a:p>
        </p:txBody>
      </p:sp>
      <p:sp>
        <p:nvSpPr>
          <p:cNvPr id="1900962049" name="Text 11"/>
          <p:cNvSpPr/>
          <p:nvPr/>
        </p:nvSpPr>
        <p:spPr bwMode="auto">
          <a:xfrm>
            <a:off x="342900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Visualisierung</a:t>
            </a:r>
            <a:endParaRPr lang="en-US" sz="1100"/>
          </a:p>
        </p:txBody>
      </p:sp>
      <p:sp>
        <p:nvSpPr>
          <p:cNvPr id="1860984587" name="Text 12"/>
          <p:cNvSpPr/>
          <p:nvPr/>
        </p:nvSpPr>
        <p:spPr bwMode="auto">
          <a:xfrm>
            <a:off x="3429000" y="17099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Individuelle Dashboards, Datenquellen-Integration, Web-UI Port 3000</a:t>
            </a:r>
            <a:endParaRPr lang="en-US" sz="1100"/>
          </a:p>
        </p:txBody>
      </p:sp>
      <p:sp>
        <p:nvSpPr>
          <p:cNvPr id="103895243" name="Shape 13"/>
          <p:cNvSpPr/>
          <p:nvPr/>
        </p:nvSpPr>
        <p:spPr bwMode="auto">
          <a:xfrm>
            <a:off x="6263640" y="960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1650789" name="Shape 14"/>
          <p:cNvSpPr/>
          <p:nvPr/>
        </p:nvSpPr>
        <p:spPr bwMode="auto">
          <a:xfrm>
            <a:off x="6263640" y="960120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57845952" name="Text 15"/>
          <p:cNvSpPr/>
          <p:nvPr/>
        </p:nvSpPr>
        <p:spPr bwMode="auto">
          <a:xfrm>
            <a:off x="6373368" y="9966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Alertmanager</a:t>
            </a:r>
            <a:endParaRPr lang="en-US" sz="1300"/>
          </a:p>
        </p:txBody>
      </p:sp>
      <p:sp>
        <p:nvSpPr>
          <p:cNvPr id="702345956" name="Text 16"/>
          <p:cNvSpPr/>
          <p:nvPr/>
        </p:nvSpPr>
        <p:spPr bwMode="auto">
          <a:xfrm>
            <a:off x="635508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Alerting</a:t>
            </a:r>
            <a:endParaRPr lang="en-US" sz="1100"/>
          </a:p>
        </p:txBody>
      </p:sp>
      <p:sp>
        <p:nvSpPr>
          <p:cNvPr id="334033921" name="Text 17"/>
          <p:cNvSpPr/>
          <p:nvPr/>
        </p:nvSpPr>
        <p:spPr bwMode="auto">
          <a:xfrm>
            <a:off x="6355080" y="17099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E-Mail-Routing, Gruppierung, Stilles Alarmmanagement</a:t>
            </a:r>
            <a:endParaRPr lang="en-US" sz="1100"/>
          </a:p>
        </p:txBody>
      </p:sp>
      <p:sp>
        <p:nvSpPr>
          <p:cNvPr id="616157370" name="Shape 18"/>
          <p:cNvSpPr/>
          <p:nvPr/>
        </p:nvSpPr>
        <p:spPr bwMode="auto">
          <a:xfrm>
            <a:off x="411480" y="27889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6291239" name="Shape 19"/>
          <p:cNvSpPr/>
          <p:nvPr/>
        </p:nvSpPr>
        <p:spPr bwMode="auto">
          <a:xfrm>
            <a:off x="411480" y="2788920"/>
            <a:ext cx="274320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46282817" name="Text 20"/>
          <p:cNvSpPr/>
          <p:nvPr/>
        </p:nvSpPr>
        <p:spPr bwMode="auto">
          <a:xfrm>
            <a:off x="521208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Node Exporter</a:t>
            </a:r>
            <a:endParaRPr lang="en-US" sz="1300"/>
          </a:p>
        </p:txBody>
      </p:sp>
      <p:sp>
        <p:nvSpPr>
          <p:cNvPr id="248977945" name="Text 21"/>
          <p:cNvSpPr/>
          <p:nvPr/>
        </p:nvSpPr>
        <p:spPr bwMode="auto">
          <a:xfrm>
            <a:off x="50292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6D28D9"/>
                </a:solidFill>
                <a:latin typeface="Calibri"/>
                <a:ea typeface="Calibri"/>
                <a:cs typeface="Calibri"/>
              </a:rPr>
              <a:t>Linux-Metriken</a:t>
            </a:r>
            <a:endParaRPr lang="en-US" sz="1100"/>
          </a:p>
        </p:txBody>
      </p:sp>
      <p:sp>
        <p:nvSpPr>
          <p:cNvPr id="1953079363" name="Text 22"/>
          <p:cNvSpPr/>
          <p:nvPr/>
        </p:nvSpPr>
        <p:spPr bwMode="auto">
          <a:xfrm>
            <a:off x="502920" y="35387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CPU, RAM, Disk, Netzwerk – Port 9100</a:t>
            </a:r>
            <a:endParaRPr lang="en-US" sz="1100"/>
          </a:p>
        </p:txBody>
      </p:sp>
      <p:sp>
        <p:nvSpPr>
          <p:cNvPr id="353330540" name="Shape 23"/>
          <p:cNvSpPr/>
          <p:nvPr/>
        </p:nvSpPr>
        <p:spPr bwMode="auto">
          <a:xfrm>
            <a:off x="3337560" y="27889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58871465" name="Shape 24"/>
          <p:cNvSpPr/>
          <p:nvPr/>
        </p:nvSpPr>
        <p:spPr bwMode="auto">
          <a:xfrm>
            <a:off x="3337560" y="2788920"/>
            <a:ext cx="274320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4192479" name="Text 25"/>
          <p:cNvSpPr/>
          <p:nvPr/>
        </p:nvSpPr>
        <p:spPr bwMode="auto">
          <a:xfrm>
            <a:off x="3447288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Windows Exporter</a:t>
            </a:r>
            <a:endParaRPr lang="en-US" sz="1300"/>
          </a:p>
        </p:txBody>
      </p:sp>
      <p:sp>
        <p:nvSpPr>
          <p:cNvPr id="1801627816" name="Text 26"/>
          <p:cNvSpPr/>
          <p:nvPr/>
        </p:nvSpPr>
        <p:spPr bwMode="auto">
          <a:xfrm>
            <a:off x="342900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Windows-Metriken</a:t>
            </a:r>
            <a:endParaRPr lang="en-US" sz="1100"/>
          </a:p>
        </p:txBody>
      </p:sp>
      <p:sp>
        <p:nvSpPr>
          <p:cNvPr id="893791350" name="Text 27"/>
          <p:cNvSpPr/>
          <p:nvPr/>
        </p:nvSpPr>
        <p:spPr bwMode="auto">
          <a:xfrm>
            <a:off x="3429000" y="35387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CPU, RAM, Disk, Netzwerk – Port 9182</a:t>
            </a:r>
            <a:endParaRPr lang="en-US" sz="1100"/>
          </a:p>
        </p:txBody>
      </p:sp>
      <p:sp>
        <p:nvSpPr>
          <p:cNvPr id="1896857497" name="Shape 28"/>
          <p:cNvSpPr/>
          <p:nvPr/>
        </p:nvSpPr>
        <p:spPr bwMode="auto">
          <a:xfrm>
            <a:off x="6263640" y="27889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57030237" name="Shape 29"/>
          <p:cNvSpPr/>
          <p:nvPr/>
        </p:nvSpPr>
        <p:spPr bwMode="auto">
          <a:xfrm>
            <a:off x="6263640" y="2788920"/>
            <a:ext cx="274320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37866074" name="Text 30"/>
          <p:cNvSpPr/>
          <p:nvPr/>
        </p:nvSpPr>
        <p:spPr bwMode="auto">
          <a:xfrm>
            <a:off x="6373368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Blackbox Exporter</a:t>
            </a:r>
            <a:endParaRPr lang="en-US" sz="1300"/>
          </a:p>
        </p:txBody>
      </p:sp>
      <p:sp>
        <p:nvSpPr>
          <p:cNvPr id="918166972" name="Text 31"/>
          <p:cNvSpPr/>
          <p:nvPr/>
        </p:nvSpPr>
        <p:spPr bwMode="auto">
          <a:xfrm>
            <a:off x="635508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Erreichbarkeit</a:t>
            </a:r>
            <a:endParaRPr lang="en-US" sz="1100"/>
          </a:p>
        </p:txBody>
      </p:sp>
      <p:sp>
        <p:nvSpPr>
          <p:cNvPr id="273427752" name="Text 32"/>
          <p:cNvSpPr/>
          <p:nvPr/>
        </p:nvSpPr>
        <p:spPr bwMode="auto">
          <a:xfrm>
            <a:off x="6355080" y="35387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HTTP / ICMP Probes – Dienst- und Ping-Monitoring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990477" name="!!Shape 4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3229412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05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773688468" name="!!Text 2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Implementierung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837D0B-BF73-FAB9-2270-19823F71409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239908" name="!!Text 2">
            <a:extLst>
              <a:ext uri="{FF2B5EF4-FFF2-40B4-BE49-F238E27FC236}">
                <a16:creationId xmlns:a16="http://schemas.microsoft.com/office/drawing/2014/main" id="{DE7D0AAC-497D-05B0-2758-5E6B702E8AE3}"/>
              </a:ext>
            </a:extLst>
          </p:cNvPr>
          <p:cNvSpPr/>
          <p:nvPr/>
        </p:nvSpPr>
        <p:spPr bwMode="auto">
          <a:xfrm>
            <a:off x="411480" y="166656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Implementierung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– Schritt für Schritt</a:t>
            </a:r>
            <a:endParaRPr lang="en-US" sz="2600" dirty="0"/>
          </a:p>
        </p:txBody>
      </p:sp>
      <p:sp>
        <p:nvSpPr>
          <p:cNvPr id="141096794" name="Shape 1">
            <a:extLst>
              <a:ext uri="{FF2B5EF4-FFF2-40B4-BE49-F238E27FC236}">
                <a16:creationId xmlns:a16="http://schemas.microsoft.com/office/drawing/2014/main" id="{248C8025-F300-0FBA-0C7D-B10A063F0B3B}"/>
              </a:ext>
            </a:extLst>
          </p:cNvPr>
          <p:cNvSpPr/>
          <p:nvPr/>
        </p:nvSpPr>
        <p:spPr bwMode="auto">
          <a:xfrm>
            <a:off x="411480" y="788448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86940380" name="Shape 3">
            <a:extLst>
              <a:ext uri="{FF2B5EF4-FFF2-40B4-BE49-F238E27FC236}">
                <a16:creationId xmlns:a16="http://schemas.microsoft.com/office/drawing/2014/main" id="{8A079B05-65DA-2858-0525-942F22B5EC4D}"/>
              </a:ext>
            </a:extLst>
          </p:cNvPr>
          <p:cNvSpPr/>
          <p:nvPr/>
        </p:nvSpPr>
        <p:spPr bwMode="auto">
          <a:xfrm>
            <a:off x="411480" y="1173891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66350422" name="!!Shape 4">
            <a:extLst>
              <a:ext uri="{FF2B5EF4-FFF2-40B4-BE49-F238E27FC236}">
                <a16:creationId xmlns:a16="http://schemas.microsoft.com/office/drawing/2014/main" id="{5E7B07F7-347A-3DD2-7F3C-0FEE8CAFA4A7}"/>
              </a:ext>
            </a:extLst>
          </p:cNvPr>
          <p:cNvSpPr/>
          <p:nvPr/>
        </p:nvSpPr>
        <p:spPr bwMode="auto">
          <a:xfrm>
            <a:off x="411480" y="1173891"/>
            <a:ext cx="502920" cy="6217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13583295" name="Text 5">
            <a:extLst>
              <a:ext uri="{FF2B5EF4-FFF2-40B4-BE49-F238E27FC236}">
                <a16:creationId xmlns:a16="http://schemas.microsoft.com/office/drawing/2014/main" id="{52AA6991-E73D-B34A-1F11-D6B6ABCF8B2D}"/>
              </a:ext>
            </a:extLst>
          </p:cNvPr>
          <p:cNvSpPr/>
          <p:nvPr/>
        </p:nvSpPr>
        <p:spPr bwMode="auto">
          <a:xfrm>
            <a:off x="411480" y="1173891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800"/>
          </a:p>
        </p:txBody>
      </p:sp>
      <p:sp>
        <p:nvSpPr>
          <p:cNvPr id="2143755094" name="Text 6">
            <a:extLst>
              <a:ext uri="{FF2B5EF4-FFF2-40B4-BE49-F238E27FC236}">
                <a16:creationId xmlns:a16="http://schemas.microsoft.com/office/drawing/2014/main" id="{000B3A74-A8DB-FA0E-6F82-0612BE1FADCB}"/>
              </a:ext>
            </a:extLst>
          </p:cNvPr>
          <p:cNvSpPr/>
          <p:nvPr/>
        </p:nvSpPr>
        <p:spPr bwMode="auto">
          <a:xfrm>
            <a:off x="1005840" y="122875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VMs erstellen &amp; OS installieren</a:t>
            </a:r>
            <a:endParaRPr lang="en-US" sz="1200"/>
          </a:p>
        </p:txBody>
      </p:sp>
      <p:sp>
        <p:nvSpPr>
          <p:cNvPr id="1241077090" name="Text 7">
            <a:extLst>
              <a:ext uri="{FF2B5EF4-FFF2-40B4-BE49-F238E27FC236}">
                <a16:creationId xmlns:a16="http://schemas.microsoft.com/office/drawing/2014/main" id="{0C9D4076-01B1-BC7F-5327-42C422247B43}"/>
              </a:ext>
            </a:extLst>
          </p:cNvPr>
          <p:cNvSpPr/>
          <p:nvPr/>
        </p:nvSpPr>
        <p:spPr bwMode="auto">
          <a:xfrm>
            <a:off x="1005840" y="1503075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Ubuntu 22.04 (×2), Windows Server 2022, Windows 11 – alle im selben virtuellen Netz</a:t>
            </a:r>
            <a:endParaRPr lang="en-US" sz="1100"/>
          </a:p>
        </p:txBody>
      </p:sp>
      <p:sp>
        <p:nvSpPr>
          <p:cNvPr id="1065925424" name="Shape 8">
            <a:extLst>
              <a:ext uri="{FF2B5EF4-FFF2-40B4-BE49-F238E27FC236}">
                <a16:creationId xmlns:a16="http://schemas.microsoft.com/office/drawing/2014/main" id="{2E698C8B-8E34-4FF1-F832-C89AE2A2DABD}"/>
              </a:ext>
            </a:extLst>
          </p:cNvPr>
          <p:cNvSpPr/>
          <p:nvPr/>
        </p:nvSpPr>
        <p:spPr bwMode="auto">
          <a:xfrm>
            <a:off x="411480" y="2238352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3661706" name="Shape 9">
            <a:extLst>
              <a:ext uri="{FF2B5EF4-FFF2-40B4-BE49-F238E27FC236}">
                <a16:creationId xmlns:a16="http://schemas.microsoft.com/office/drawing/2014/main" id="{0A8E640C-B357-E113-0066-167F874E1BE1}"/>
              </a:ext>
            </a:extLst>
          </p:cNvPr>
          <p:cNvSpPr/>
          <p:nvPr/>
        </p:nvSpPr>
        <p:spPr bwMode="auto">
          <a:xfrm>
            <a:off x="411480" y="2238352"/>
            <a:ext cx="502920" cy="62179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7347758" name="Text 10">
            <a:extLst>
              <a:ext uri="{FF2B5EF4-FFF2-40B4-BE49-F238E27FC236}">
                <a16:creationId xmlns:a16="http://schemas.microsoft.com/office/drawing/2014/main" id="{95FE19DE-3584-CB6E-CBA9-9C35289899EB}"/>
              </a:ext>
            </a:extLst>
          </p:cNvPr>
          <p:cNvSpPr/>
          <p:nvPr/>
        </p:nvSpPr>
        <p:spPr bwMode="auto">
          <a:xfrm>
            <a:off x="411480" y="2238352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800"/>
          </a:p>
        </p:txBody>
      </p:sp>
      <p:sp>
        <p:nvSpPr>
          <p:cNvPr id="992388136" name="Text 11">
            <a:extLst>
              <a:ext uri="{FF2B5EF4-FFF2-40B4-BE49-F238E27FC236}">
                <a16:creationId xmlns:a16="http://schemas.microsoft.com/office/drawing/2014/main" id="{0FE6D95E-850E-3C27-20BC-4C5A3330659B}"/>
              </a:ext>
            </a:extLst>
          </p:cNvPr>
          <p:cNvSpPr/>
          <p:nvPr/>
        </p:nvSpPr>
        <p:spPr bwMode="auto">
          <a:xfrm>
            <a:off x="1005840" y="2293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Dienste installieren</a:t>
            </a:r>
            <a:endParaRPr lang="en-US" sz="1200"/>
          </a:p>
        </p:txBody>
      </p:sp>
      <p:sp>
        <p:nvSpPr>
          <p:cNvPr id="691101513" name="Text 12">
            <a:extLst>
              <a:ext uri="{FF2B5EF4-FFF2-40B4-BE49-F238E27FC236}">
                <a16:creationId xmlns:a16="http://schemas.microsoft.com/office/drawing/2014/main" id="{C328D4D8-483D-751F-8891-B33E728C7E28}"/>
              </a:ext>
            </a:extLst>
          </p:cNvPr>
          <p:cNvSpPr/>
          <p:nvPr/>
        </p:nvSpPr>
        <p:spPr bwMode="auto">
          <a:xfrm>
            <a:off x="1005840" y="256753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FTP-Server (</a:t>
            </a:r>
            <a:r>
              <a:rPr lang="de-DE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IIS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) auf Windows Server 2022 · Apache Webserver auf Ubuntu</a:t>
            </a:r>
            <a:endParaRPr lang="en-US" sz="1100"/>
          </a:p>
        </p:txBody>
      </p:sp>
      <p:sp>
        <p:nvSpPr>
          <p:cNvPr id="1538804328" name="Shape 13">
            <a:extLst>
              <a:ext uri="{FF2B5EF4-FFF2-40B4-BE49-F238E27FC236}">
                <a16:creationId xmlns:a16="http://schemas.microsoft.com/office/drawing/2014/main" id="{E585A877-D5E9-ACC8-8CB5-EC8E094C4E3C}"/>
              </a:ext>
            </a:extLst>
          </p:cNvPr>
          <p:cNvSpPr/>
          <p:nvPr/>
        </p:nvSpPr>
        <p:spPr bwMode="auto">
          <a:xfrm>
            <a:off x="411480" y="3381536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74622113" name="Shape 14">
            <a:extLst>
              <a:ext uri="{FF2B5EF4-FFF2-40B4-BE49-F238E27FC236}">
                <a16:creationId xmlns:a16="http://schemas.microsoft.com/office/drawing/2014/main" id="{37CF45D3-C21C-55D4-A790-7852036C4028}"/>
              </a:ext>
            </a:extLst>
          </p:cNvPr>
          <p:cNvSpPr/>
          <p:nvPr/>
        </p:nvSpPr>
        <p:spPr bwMode="auto">
          <a:xfrm>
            <a:off x="411480" y="3381536"/>
            <a:ext cx="502920" cy="6217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08209758" name="Text 15">
            <a:extLst>
              <a:ext uri="{FF2B5EF4-FFF2-40B4-BE49-F238E27FC236}">
                <a16:creationId xmlns:a16="http://schemas.microsoft.com/office/drawing/2014/main" id="{3F05D46D-1534-166A-8A0F-39CF9691923D}"/>
              </a:ext>
            </a:extLst>
          </p:cNvPr>
          <p:cNvSpPr/>
          <p:nvPr/>
        </p:nvSpPr>
        <p:spPr bwMode="auto">
          <a:xfrm>
            <a:off x="411480" y="3381536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800"/>
          </a:p>
        </p:txBody>
      </p:sp>
      <p:sp>
        <p:nvSpPr>
          <p:cNvPr id="562656948" name="Text 16">
            <a:extLst>
              <a:ext uri="{FF2B5EF4-FFF2-40B4-BE49-F238E27FC236}">
                <a16:creationId xmlns:a16="http://schemas.microsoft.com/office/drawing/2014/main" id="{B5860D74-2F7F-2A25-5543-09B786982042}"/>
              </a:ext>
            </a:extLst>
          </p:cNvPr>
          <p:cNvSpPr/>
          <p:nvPr/>
        </p:nvSpPr>
        <p:spPr bwMode="auto">
          <a:xfrm>
            <a:off x="1005840" y="343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Exporters auf allen Systemen</a:t>
            </a:r>
            <a:endParaRPr lang="en-US" sz="1200"/>
          </a:p>
        </p:txBody>
      </p:sp>
      <p:sp>
        <p:nvSpPr>
          <p:cNvPr id="1764880135" name="Text 17">
            <a:extLst>
              <a:ext uri="{FF2B5EF4-FFF2-40B4-BE49-F238E27FC236}">
                <a16:creationId xmlns:a16="http://schemas.microsoft.com/office/drawing/2014/main" id="{C013AFB9-D8AF-526A-8046-456DA72602B5}"/>
              </a:ext>
            </a:extLst>
          </p:cNvPr>
          <p:cNvSpPr/>
          <p:nvPr/>
        </p:nvSpPr>
        <p:spPr bwMode="auto">
          <a:xfrm>
            <a:off x="1005840" y="37107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Node Exporter (Linux), Windows Exporter (Windows), Blackbox Exporter (Monitoring-VM)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647770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239908" name="!!Text 2"/>
          <p:cNvSpPr/>
          <p:nvPr/>
        </p:nvSpPr>
        <p:spPr bwMode="auto">
          <a:xfrm>
            <a:off x="411480" y="166656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Implementierung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– Schritt für Schritt</a:t>
            </a:r>
            <a:endParaRPr lang="en-US" sz="2600" dirty="0"/>
          </a:p>
        </p:txBody>
      </p:sp>
      <p:sp>
        <p:nvSpPr>
          <p:cNvPr id="141096794" name="Shape 1"/>
          <p:cNvSpPr/>
          <p:nvPr/>
        </p:nvSpPr>
        <p:spPr bwMode="auto">
          <a:xfrm>
            <a:off x="411480" y="788448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22177226" name="Shape 18"/>
          <p:cNvSpPr/>
          <p:nvPr/>
        </p:nvSpPr>
        <p:spPr bwMode="auto">
          <a:xfrm>
            <a:off x="411480" y="1175949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79293264" name="Shape 19"/>
          <p:cNvSpPr/>
          <p:nvPr/>
        </p:nvSpPr>
        <p:spPr bwMode="auto">
          <a:xfrm>
            <a:off x="411480" y="1175949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53877928" name="Text 20"/>
          <p:cNvSpPr/>
          <p:nvPr/>
        </p:nvSpPr>
        <p:spPr bwMode="auto">
          <a:xfrm>
            <a:off x="411480" y="1175949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800"/>
          </a:p>
        </p:txBody>
      </p:sp>
      <p:sp>
        <p:nvSpPr>
          <p:cNvPr id="1044276522" name="Text 21"/>
          <p:cNvSpPr/>
          <p:nvPr/>
        </p:nvSpPr>
        <p:spPr bwMode="auto">
          <a:xfrm>
            <a:off x="1005840" y="123081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Prometheus konfigurieren</a:t>
            </a:r>
            <a:endParaRPr lang="en-US" sz="1200"/>
          </a:p>
        </p:txBody>
      </p:sp>
      <p:sp>
        <p:nvSpPr>
          <p:cNvPr id="442684820" name="Text 22"/>
          <p:cNvSpPr/>
          <p:nvPr/>
        </p:nvSpPr>
        <p:spPr bwMode="auto">
          <a:xfrm>
            <a:off x="1005840" y="1505133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prometheus.yml: Scrape-Targets, Jobs, Intervall 15s · Als Systemdienst gestartet</a:t>
            </a:r>
            <a:endParaRPr lang="en-US" sz="1100"/>
          </a:p>
        </p:txBody>
      </p:sp>
      <p:sp>
        <p:nvSpPr>
          <p:cNvPr id="897058526" name="Shape 23"/>
          <p:cNvSpPr/>
          <p:nvPr/>
        </p:nvSpPr>
        <p:spPr bwMode="auto">
          <a:xfrm>
            <a:off x="411480" y="2240404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75331205" name="Shape 24"/>
          <p:cNvSpPr/>
          <p:nvPr/>
        </p:nvSpPr>
        <p:spPr bwMode="auto">
          <a:xfrm>
            <a:off x="411480" y="2240404"/>
            <a:ext cx="502920" cy="6217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88541698" name="Text 25"/>
          <p:cNvSpPr/>
          <p:nvPr/>
        </p:nvSpPr>
        <p:spPr bwMode="auto">
          <a:xfrm>
            <a:off x="411480" y="2240404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800"/>
          </a:p>
        </p:txBody>
      </p:sp>
      <p:sp>
        <p:nvSpPr>
          <p:cNvPr id="1071788120" name="Text 26"/>
          <p:cNvSpPr/>
          <p:nvPr/>
        </p:nvSpPr>
        <p:spPr bwMode="auto">
          <a:xfrm>
            <a:off x="1005840" y="22952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Grafana &amp; Dashboards</a:t>
            </a:r>
            <a:endParaRPr lang="en-US" sz="1200"/>
          </a:p>
        </p:txBody>
      </p:sp>
      <p:sp>
        <p:nvSpPr>
          <p:cNvPr id="1581106595" name="Text 27"/>
          <p:cNvSpPr/>
          <p:nvPr/>
        </p:nvSpPr>
        <p:spPr bwMode="auto">
          <a:xfrm>
            <a:off x="1005840" y="25695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Prometheus als Datenquelle · Individuelle Dashboards pro System und Gesamtübersicht</a:t>
            </a:r>
            <a:endParaRPr lang="en-US" sz="1100"/>
          </a:p>
        </p:txBody>
      </p:sp>
      <p:sp>
        <p:nvSpPr>
          <p:cNvPr id="2103267391" name="Shape 28"/>
          <p:cNvSpPr/>
          <p:nvPr/>
        </p:nvSpPr>
        <p:spPr bwMode="auto">
          <a:xfrm>
            <a:off x="411480" y="3377533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3782344" name="!!Shape 29"/>
          <p:cNvSpPr/>
          <p:nvPr/>
        </p:nvSpPr>
        <p:spPr bwMode="auto">
          <a:xfrm>
            <a:off x="411480" y="3377533"/>
            <a:ext cx="502920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0493578" name="Text 30"/>
          <p:cNvSpPr/>
          <p:nvPr/>
        </p:nvSpPr>
        <p:spPr bwMode="auto">
          <a:xfrm>
            <a:off x="411480" y="3377533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800"/>
          </a:p>
        </p:txBody>
      </p:sp>
      <p:sp>
        <p:nvSpPr>
          <p:cNvPr id="864439876" name="Text 31"/>
          <p:cNvSpPr/>
          <p:nvPr/>
        </p:nvSpPr>
        <p:spPr bwMode="auto">
          <a:xfrm>
            <a:off x="1005840" y="343239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Alerting konfigurieren</a:t>
            </a:r>
            <a:endParaRPr lang="en-US" sz="1200"/>
          </a:p>
        </p:txBody>
      </p:sp>
      <p:sp>
        <p:nvSpPr>
          <p:cNvPr id="605356952" name="Text 32"/>
          <p:cNvSpPr/>
          <p:nvPr/>
        </p:nvSpPr>
        <p:spPr bwMode="auto">
          <a:xfrm>
            <a:off x="1005840" y="3706717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Alert-Regeln (CPU &gt;90%, RAM &gt;85%, Disk </a:t>
            </a:r>
            <a:r>
              <a:rPr lang="de-DE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&gt;80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%, Host down) · Alertmanager → E-Mail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3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588733" name="!!Shape 29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0563630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06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08522008" name="!!Text 5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Tests &amp;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Ergebnisse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383221" name="!!Text 5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Testergebnisse</a:t>
            </a:r>
            <a:endParaRPr lang="en-US" sz="2600" dirty="0"/>
          </a:p>
        </p:txBody>
      </p:sp>
      <p:sp>
        <p:nvSpPr>
          <p:cNvPr id="823380143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9266883" name="Shape 3"/>
          <p:cNvSpPr/>
          <p:nvPr/>
        </p:nvSpPr>
        <p:spPr bwMode="auto">
          <a:xfrm>
            <a:off x="411480" y="960120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8634085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1069848"/>
            <a:ext cx="347472" cy="347472"/>
          </a:xfrm>
          <a:prstGeom prst="rect">
            <a:avLst/>
          </a:prstGeom>
        </p:spPr>
      </p:pic>
      <p:sp>
        <p:nvSpPr>
          <p:cNvPr id="256780337" name="Text 4"/>
          <p:cNvSpPr/>
          <p:nvPr/>
        </p:nvSpPr>
        <p:spPr bwMode="auto">
          <a:xfrm>
            <a:off x="1005840" y="1014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Exporter-Erreichbarkeit</a:t>
            </a:r>
            <a:endParaRPr lang="en-US" sz="1200"/>
          </a:p>
        </p:txBody>
      </p:sp>
      <p:sp>
        <p:nvSpPr>
          <p:cNvPr id="1761545369" name="Text 5"/>
          <p:cNvSpPr/>
          <p:nvPr/>
        </p:nvSpPr>
        <p:spPr bwMode="auto">
          <a:xfrm>
            <a:off x="1005840" y="127101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Alle Targets in Prometheus auf Status 'UP'</a:t>
            </a:r>
            <a:endParaRPr lang="en-US" sz="1100"/>
          </a:p>
        </p:txBody>
      </p:sp>
      <p:sp>
        <p:nvSpPr>
          <p:cNvPr id="1523396932" name="Text 6"/>
          <p:cNvSpPr/>
          <p:nvPr/>
        </p:nvSpPr>
        <p:spPr bwMode="auto">
          <a:xfrm>
            <a:off x="7589520" y="10515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28370225" name="Shape 7"/>
          <p:cNvSpPr/>
          <p:nvPr/>
        </p:nvSpPr>
        <p:spPr bwMode="auto">
          <a:xfrm>
            <a:off x="411480" y="1618488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23089402" name="Image 1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1728216"/>
            <a:ext cx="347472" cy="347472"/>
          </a:xfrm>
          <a:prstGeom prst="rect">
            <a:avLst/>
          </a:prstGeom>
        </p:spPr>
      </p:pic>
      <p:sp>
        <p:nvSpPr>
          <p:cNvPr id="836997205" name="Text 8"/>
          <p:cNvSpPr/>
          <p:nvPr/>
        </p:nvSpPr>
        <p:spPr bwMode="auto">
          <a:xfrm>
            <a:off x="1005840" y="1673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Metrik-Korrektheit</a:t>
            </a:r>
            <a:endParaRPr lang="en-US" sz="1200"/>
          </a:p>
        </p:txBody>
      </p:sp>
      <p:sp>
        <p:nvSpPr>
          <p:cNvPr id="436198241" name="Text 9"/>
          <p:cNvSpPr/>
          <p:nvPr/>
        </p:nvSpPr>
        <p:spPr bwMode="auto">
          <a:xfrm>
            <a:off x="1005840" y="1929384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CPU/RAM-Werte verglichen mit Taskmanager / htop</a:t>
            </a:r>
            <a:endParaRPr lang="en-US" sz="1100"/>
          </a:p>
        </p:txBody>
      </p:sp>
      <p:sp>
        <p:nvSpPr>
          <p:cNvPr id="1679651331" name="Text 10"/>
          <p:cNvSpPr/>
          <p:nvPr/>
        </p:nvSpPr>
        <p:spPr bwMode="auto">
          <a:xfrm>
            <a:off x="7589520" y="17099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667126129" name="Shape 11"/>
          <p:cNvSpPr/>
          <p:nvPr/>
        </p:nvSpPr>
        <p:spPr bwMode="auto">
          <a:xfrm>
            <a:off x="411480" y="2276856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5031831" name="Image 2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2386584"/>
            <a:ext cx="347472" cy="347472"/>
          </a:xfrm>
          <a:prstGeom prst="rect">
            <a:avLst/>
          </a:prstGeom>
        </p:spPr>
      </p:pic>
      <p:sp>
        <p:nvSpPr>
          <p:cNvPr id="649302859" name="Text 12"/>
          <p:cNvSpPr/>
          <p:nvPr/>
        </p:nvSpPr>
        <p:spPr bwMode="auto">
          <a:xfrm>
            <a:off x="1005840" y="2331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Dashboard-Anzeige</a:t>
            </a:r>
            <a:endParaRPr lang="en-US" sz="1200"/>
          </a:p>
        </p:txBody>
      </p:sp>
      <p:sp>
        <p:nvSpPr>
          <p:cNvPr id="147233559" name="Text 13"/>
          <p:cNvSpPr/>
          <p:nvPr/>
        </p:nvSpPr>
        <p:spPr bwMode="auto">
          <a:xfrm>
            <a:off x="1005840" y="2587752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Grafana zeigt alle Panels vollständig und korrekt</a:t>
            </a:r>
            <a:endParaRPr lang="en-US" sz="1100"/>
          </a:p>
        </p:txBody>
      </p:sp>
      <p:sp>
        <p:nvSpPr>
          <p:cNvPr id="1349542539" name="Text 14"/>
          <p:cNvSpPr/>
          <p:nvPr/>
        </p:nvSpPr>
        <p:spPr bwMode="auto">
          <a:xfrm>
            <a:off x="7589520" y="236829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1546609580" name="Shape 15"/>
          <p:cNvSpPr/>
          <p:nvPr/>
        </p:nvSpPr>
        <p:spPr bwMode="auto">
          <a:xfrm>
            <a:off x="411480" y="2935224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66214732" name="Image 3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3044952"/>
            <a:ext cx="347472" cy="347472"/>
          </a:xfrm>
          <a:prstGeom prst="rect">
            <a:avLst/>
          </a:prstGeom>
        </p:spPr>
      </p:pic>
      <p:sp>
        <p:nvSpPr>
          <p:cNvPr id="1799507686" name="Text 16"/>
          <p:cNvSpPr/>
          <p:nvPr/>
        </p:nvSpPr>
        <p:spPr bwMode="auto">
          <a:xfrm>
            <a:off x="1005840" y="2990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Ausfallsimulation</a:t>
            </a:r>
            <a:endParaRPr lang="en-US" sz="1200"/>
          </a:p>
        </p:txBody>
      </p:sp>
      <p:sp>
        <p:nvSpPr>
          <p:cNvPr id="569726906" name="Text 17"/>
          <p:cNvSpPr/>
          <p:nvPr/>
        </p:nvSpPr>
        <p:spPr bwMode="auto">
          <a:xfrm>
            <a:off x="1005840" y="324612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VM manuell heruntergefahren → Alert ausgelöst</a:t>
            </a:r>
            <a:endParaRPr lang="en-US" sz="1100"/>
          </a:p>
        </p:txBody>
      </p:sp>
      <p:sp>
        <p:nvSpPr>
          <p:cNvPr id="914533594" name="Text 18"/>
          <p:cNvSpPr/>
          <p:nvPr/>
        </p:nvSpPr>
        <p:spPr bwMode="auto">
          <a:xfrm>
            <a:off x="7589520" y="302666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1711237021" name="Shape 19"/>
          <p:cNvSpPr/>
          <p:nvPr/>
        </p:nvSpPr>
        <p:spPr bwMode="auto">
          <a:xfrm>
            <a:off x="411480" y="3593592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532377916" name="Image 4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3703320"/>
            <a:ext cx="347472" cy="347472"/>
          </a:xfrm>
          <a:prstGeom prst="rect">
            <a:avLst/>
          </a:prstGeom>
        </p:spPr>
      </p:pic>
      <p:sp>
        <p:nvSpPr>
          <p:cNvPr id="1055956044" name="Text 20"/>
          <p:cNvSpPr/>
          <p:nvPr/>
        </p:nvSpPr>
        <p:spPr bwMode="auto">
          <a:xfrm>
            <a:off x="1005840" y="36484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E-Mail-Alerting</a:t>
            </a:r>
            <a:endParaRPr lang="en-US" sz="1200"/>
          </a:p>
        </p:txBody>
      </p:sp>
      <p:sp>
        <p:nvSpPr>
          <p:cNvPr id="115962415" name="Text 21"/>
          <p:cNvSpPr/>
          <p:nvPr/>
        </p:nvSpPr>
        <p:spPr bwMode="auto">
          <a:xfrm>
            <a:off x="1005840" y="390448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E-Mail bei VM-Ausfall automatisch empfangen</a:t>
            </a:r>
            <a:endParaRPr lang="en-US" sz="1100"/>
          </a:p>
        </p:txBody>
      </p:sp>
      <p:sp>
        <p:nvSpPr>
          <p:cNvPr id="209288238" name="Text 22"/>
          <p:cNvSpPr/>
          <p:nvPr/>
        </p:nvSpPr>
        <p:spPr bwMode="auto">
          <a:xfrm>
            <a:off x="7589520" y="36850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589073897" name="Shape 23"/>
          <p:cNvSpPr/>
          <p:nvPr/>
        </p:nvSpPr>
        <p:spPr bwMode="auto">
          <a:xfrm>
            <a:off x="411480" y="4251960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39127230" name="Image 5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4361688"/>
            <a:ext cx="347472" cy="347472"/>
          </a:xfrm>
          <a:prstGeom prst="rect">
            <a:avLst/>
          </a:prstGeom>
        </p:spPr>
      </p:pic>
      <p:sp>
        <p:nvSpPr>
          <p:cNvPr id="1248396364" name="Text 24"/>
          <p:cNvSpPr/>
          <p:nvPr/>
        </p:nvSpPr>
        <p:spPr bwMode="auto">
          <a:xfrm>
            <a:off x="1005840" y="4306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HTTP-Monitoring</a:t>
            </a:r>
            <a:endParaRPr lang="en-US" sz="1200"/>
          </a:p>
        </p:txBody>
      </p:sp>
      <p:sp>
        <p:nvSpPr>
          <p:cNvPr id="1347608334" name="Text 25"/>
          <p:cNvSpPr/>
          <p:nvPr/>
        </p:nvSpPr>
        <p:spPr bwMode="auto">
          <a:xfrm>
            <a:off x="1005840" y="456285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Webserver gestoppt → Blackbox meldet Nichterreichbarkeit</a:t>
            </a:r>
            <a:endParaRPr lang="en-US" sz="1100"/>
          </a:p>
        </p:txBody>
      </p:sp>
      <p:sp>
        <p:nvSpPr>
          <p:cNvPr id="810299731" name="Text 26"/>
          <p:cNvSpPr/>
          <p:nvPr/>
        </p:nvSpPr>
        <p:spPr bwMode="auto">
          <a:xfrm>
            <a:off x="7589520" y="43434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5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262467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88217266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07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56149883" name="!!Text 6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Nutzwertanalyse</a:t>
            </a: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&amp;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Empfehlung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211276" name="!!Text 6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PRTG vs. Prometheus + Grafana</a:t>
            </a:r>
            <a:endParaRPr lang="en-US" sz="2600" dirty="0"/>
          </a:p>
        </p:txBody>
      </p:sp>
      <p:sp>
        <p:nvSpPr>
          <p:cNvPr id="1272907267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8601947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236753"/>
              </p:ext>
            </p:extLst>
          </p:nvPr>
        </p:nvGraphicFramePr>
        <p:xfrm>
          <a:off x="411480" y="911995"/>
          <a:ext cx="832104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Kriterium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Gewicht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PRTG kostenlos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Prometheus + Grafana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Lizenzkosten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★★☆☆☆  (2)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Skalierbarkeit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★☆☆☆☆  (1)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Dashboard-Flexibilität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★★☆☆☆  (2)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Einrichtungsaufwand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★★☆☆☆  (2)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Dokumentation/Community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★★★★☆  (4)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Alerting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★★★☆☆  (3)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 err="1">
                          <a:latin typeface="Calibri"/>
                          <a:ea typeface="Calibri"/>
                          <a:cs typeface="Calibri"/>
                        </a:rPr>
                        <a:t>Wartungsaufwand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★★★★☆  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(4)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★★★☆☆  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(3)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algn="ctr">
                      <a:solidFill>
                        <a:srgbClr val="D1D5DB"/>
                      </a:solidFill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6737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Gesamtpunktzahl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(</a:t>
                      </a:r>
                      <a:r>
                        <a:rPr lang="en-US" sz="1200" b="1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gewichtet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74 </a:t>
                      </a:r>
                      <a:r>
                        <a:rPr lang="en-US" sz="1200" b="1" dirty="0" err="1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Punkte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</a:rPr>
                        <a:t>120 </a:t>
                      </a:r>
                      <a:r>
                        <a:rPr lang="en-US" sz="1200" b="1" dirty="0" err="1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</a:rPr>
                        <a:t>Punkte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62494395" name="Shape 3"/>
          <p:cNvSpPr/>
          <p:nvPr/>
        </p:nvSpPr>
        <p:spPr bwMode="auto">
          <a:xfrm>
            <a:off x="411481" y="4350896"/>
            <a:ext cx="8321038" cy="591436"/>
          </a:xfrm>
          <a:prstGeom prst="rect">
            <a:avLst/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7657183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94360" y="4414903"/>
            <a:ext cx="411480" cy="411480"/>
          </a:xfrm>
          <a:prstGeom prst="rect">
            <a:avLst/>
          </a:prstGeom>
        </p:spPr>
      </p:pic>
      <p:sp>
        <p:nvSpPr>
          <p:cNvPr id="1270981502" name="Text 4"/>
          <p:cNvSpPr/>
          <p:nvPr/>
        </p:nvSpPr>
        <p:spPr bwMode="auto">
          <a:xfrm>
            <a:off x="1097280" y="4350896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65F46"/>
                </a:solidFill>
                <a:latin typeface="Calibri"/>
                <a:ea typeface="Calibri"/>
                <a:cs typeface="Calibri"/>
              </a:rPr>
              <a:t>Empfehlung: Prometheus + Grafana als zukünftige Monitoring-Lösung einsetzen — unbegrenzte Sensoren, volle Dashboard-Freiheit, dauerhaft kostenfrei.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253018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98023676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08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35460868" name="!!Text 7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Fazit</a:t>
            </a: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&amp;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Ausblick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522894" name="!!Text 7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Fazit</a:t>
            </a:r>
            <a:endParaRPr lang="en-US" sz="2600" dirty="0"/>
          </a:p>
        </p:txBody>
      </p:sp>
      <p:sp>
        <p:nvSpPr>
          <p:cNvPr id="893738464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47368255" name="Text 3"/>
          <p:cNvSpPr/>
          <p:nvPr/>
        </p:nvSpPr>
        <p:spPr bwMode="auto">
          <a:xfrm>
            <a:off x="411480" y="960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Soll-/Ist-Vergleich</a:t>
            </a:r>
            <a:endParaRPr lang="en-US" sz="1400"/>
          </a:p>
        </p:txBody>
      </p:sp>
      <p:graphicFrame>
        <p:nvGraphicFramePr>
          <p:cNvPr id="771967619" name="Table 0"/>
          <p:cNvGraphicFramePr>
            <a:graphicFrameLocks noGrp="1"/>
          </p:cNvGraphicFramePr>
          <p:nvPr/>
        </p:nvGraphicFramePr>
        <p:xfrm>
          <a:off x="411480" y="1325880"/>
          <a:ext cx="4846320" cy="1463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Planungsphase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Realisierungsphase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</a:rPr>
                        <a:t>+2,0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Projektabschluss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</a:rPr>
                        <a:t>-2,0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Gesamt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42652978" name="Text 4"/>
          <p:cNvSpPr/>
          <p:nvPr/>
        </p:nvSpPr>
        <p:spPr bwMode="auto">
          <a:xfrm>
            <a:off x="41148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Mehraufwand in der Realisierung durch Troubleshooting (neue Technologien), durch Puffer kompensiert.</a:t>
            </a:r>
            <a:endParaRPr lang="en-US" sz="1100"/>
          </a:p>
        </p:txBody>
      </p:sp>
      <p:sp>
        <p:nvSpPr>
          <p:cNvPr id="238488701" name="Text 5"/>
          <p:cNvSpPr/>
          <p:nvPr/>
        </p:nvSpPr>
        <p:spPr bwMode="auto">
          <a:xfrm>
            <a:off x="5486400" y="960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Lessons Learned</a:t>
            </a:r>
            <a:endParaRPr lang="en-US" sz="1400"/>
          </a:p>
        </p:txBody>
      </p:sp>
      <p:sp>
        <p:nvSpPr>
          <p:cNvPr id="649228702" name="Shape 6"/>
          <p:cNvSpPr/>
          <p:nvPr/>
        </p:nvSpPr>
        <p:spPr bwMode="auto">
          <a:xfrm>
            <a:off x="5486400" y="137160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41265500" name="Text 7"/>
          <p:cNvSpPr/>
          <p:nvPr/>
        </p:nvSpPr>
        <p:spPr bwMode="auto">
          <a:xfrm>
            <a:off x="5577840" y="1417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200"/>
          </a:p>
        </p:txBody>
      </p:sp>
      <p:sp>
        <p:nvSpPr>
          <p:cNvPr id="1446600265" name="Text 8"/>
          <p:cNvSpPr/>
          <p:nvPr/>
        </p:nvSpPr>
        <p:spPr bwMode="auto">
          <a:xfrm>
            <a:off x="5897880" y="13990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Einarbeitung in neue Tools dauert länger – Puffer einplanen</a:t>
            </a:r>
            <a:endParaRPr lang="en-US" sz="1100"/>
          </a:p>
        </p:txBody>
      </p:sp>
      <p:sp>
        <p:nvSpPr>
          <p:cNvPr id="491296043" name="Shape 9"/>
          <p:cNvSpPr/>
          <p:nvPr/>
        </p:nvSpPr>
        <p:spPr bwMode="auto">
          <a:xfrm>
            <a:off x="5486400" y="187452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87536431" name="Text 10"/>
          <p:cNvSpPr/>
          <p:nvPr/>
        </p:nvSpPr>
        <p:spPr bwMode="auto">
          <a:xfrm>
            <a:off x="5577840" y="19202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200"/>
          </a:p>
        </p:txBody>
      </p:sp>
      <p:sp>
        <p:nvSpPr>
          <p:cNvPr id="455805853" name="Text 11"/>
          <p:cNvSpPr/>
          <p:nvPr/>
        </p:nvSpPr>
        <p:spPr bwMode="auto">
          <a:xfrm>
            <a:off x="5897880" y="19019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YAML-Konfiguration bietet hohe Flexibilität</a:t>
            </a:r>
            <a:endParaRPr lang="en-US" sz="1100"/>
          </a:p>
        </p:txBody>
      </p:sp>
      <p:sp>
        <p:nvSpPr>
          <p:cNvPr id="1333076385" name="Shape 12"/>
          <p:cNvSpPr/>
          <p:nvPr/>
        </p:nvSpPr>
        <p:spPr bwMode="auto">
          <a:xfrm>
            <a:off x="5486400" y="237744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6543378" name="Text 13"/>
          <p:cNvSpPr/>
          <p:nvPr/>
        </p:nvSpPr>
        <p:spPr bwMode="auto">
          <a:xfrm>
            <a:off x="5577840" y="24231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200"/>
          </a:p>
        </p:txBody>
      </p:sp>
      <p:sp>
        <p:nvSpPr>
          <p:cNvPr id="808254286" name="Text 14"/>
          <p:cNvSpPr/>
          <p:nvPr/>
        </p:nvSpPr>
        <p:spPr bwMode="auto">
          <a:xfrm>
            <a:off x="5897880" y="24048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KI-Assistenten beschleunigen Troubleshooting erheblich</a:t>
            </a:r>
            <a:endParaRPr lang="en-US" sz="1100"/>
          </a:p>
        </p:txBody>
      </p:sp>
      <p:sp>
        <p:nvSpPr>
          <p:cNvPr id="1370614850" name="Shape 15"/>
          <p:cNvSpPr/>
          <p:nvPr/>
        </p:nvSpPr>
        <p:spPr bwMode="auto">
          <a:xfrm>
            <a:off x="5486400" y="288036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2434869" name="Text 16"/>
          <p:cNvSpPr/>
          <p:nvPr/>
        </p:nvSpPr>
        <p:spPr bwMode="auto">
          <a:xfrm>
            <a:off x="5577840" y="2926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200"/>
          </a:p>
        </p:txBody>
      </p:sp>
      <p:sp>
        <p:nvSpPr>
          <p:cNvPr id="2018551079" name="Text 17"/>
          <p:cNvSpPr/>
          <p:nvPr/>
        </p:nvSpPr>
        <p:spPr bwMode="auto">
          <a:xfrm>
            <a:off x="5897880" y="2907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Blackbox Exporter: wertvolles Erreichbarkeits-Tool</a:t>
            </a:r>
            <a:endParaRPr lang="en-US" sz="1100"/>
          </a:p>
        </p:txBody>
      </p:sp>
      <p:sp>
        <p:nvSpPr>
          <p:cNvPr id="1641521709" name="Text 18"/>
          <p:cNvSpPr/>
          <p:nvPr/>
        </p:nvSpPr>
        <p:spPr bwMode="auto">
          <a:xfrm>
            <a:off x="411480" y="3429000"/>
            <a:ext cx="83210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Ausblick</a:t>
            </a:r>
            <a:endParaRPr lang="en-US" sz="1400"/>
          </a:p>
        </p:txBody>
      </p:sp>
      <p:sp>
        <p:nvSpPr>
          <p:cNvPr id="2118143524" name="Shape 19"/>
          <p:cNvSpPr/>
          <p:nvPr/>
        </p:nvSpPr>
        <p:spPr bwMode="auto">
          <a:xfrm>
            <a:off x="411480" y="3840480"/>
            <a:ext cx="4069080" cy="42062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41528137" name="Text 20"/>
          <p:cNvSpPr/>
          <p:nvPr/>
        </p:nvSpPr>
        <p:spPr bwMode="auto">
          <a:xfrm>
            <a:off x="548640" y="3886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Migration des produktiven PRTG-Monitorings auf Prometheus/Grafana</a:t>
            </a:r>
            <a:endParaRPr lang="en-US" sz="1100"/>
          </a:p>
        </p:txBody>
      </p:sp>
      <p:sp>
        <p:nvSpPr>
          <p:cNvPr id="1279234772" name="Shape 21"/>
          <p:cNvSpPr/>
          <p:nvPr/>
        </p:nvSpPr>
        <p:spPr bwMode="auto">
          <a:xfrm>
            <a:off x="4663440" y="3840480"/>
            <a:ext cx="4069080" cy="42062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23252286" name="Text 22"/>
          <p:cNvSpPr/>
          <p:nvPr/>
        </p:nvSpPr>
        <p:spPr bwMode="auto">
          <a:xfrm>
            <a:off x="4800600" y="3886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Weitere Exporters (Datenbank, Anwendungsmonitoring)</a:t>
            </a:r>
            <a:endParaRPr lang="en-US" sz="1100"/>
          </a:p>
        </p:txBody>
      </p:sp>
      <p:sp>
        <p:nvSpPr>
          <p:cNvPr id="2010859038" name="Shape 23"/>
          <p:cNvSpPr/>
          <p:nvPr/>
        </p:nvSpPr>
        <p:spPr bwMode="auto">
          <a:xfrm>
            <a:off x="411480" y="4343400"/>
            <a:ext cx="4069080" cy="42062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1923908" name="Text 24"/>
          <p:cNvSpPr/>
          <p:nvPr/>
        </p:nvSpPr>
        <p:spPr bwMode="auto">
          <a:xfrm>
            <a:off x="548640" y="4389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Automatisierte Bereitstellung via Docker Compose oder Ansible</a:t>
            </a:r>
            <a:endParaRPr lang="en-US" sz="1100"/>
          </a:p>
        </p:txBody>
      </p:sp>
      <p:sp>
        <p:nvSpPr>
          <p:cNvPr id="2099841793" name="Shape 25"/>
          <p:cNvSpPr/>
          <p:nvPr/>
        </p:nvSpPr>
        <p:spPr bwMode="auto">
          <a:xfrm>
            <a:off x="4663440" y="4343400"/>
            <a:ext cx="4069080" cy="42062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9510295" name="Text 26"/>
          <p:cNvSpPr/>
          <p:nvPr/>
        </p:nvSpPr>
        <p:spPr bwMode="auto">
          <a:xfrm>
            <a:off x="4800600" y="4389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Zusätzliche Alerting-Kanäle (Slack, Microsoft Teams)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9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134337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34380851" name="Text 1"/>
          <p:cNvSpPr/>
          <p:nvPr/>
        </p:nvSpPr>
        <p:spPr bwMode="auto">
          <a:xfrm>
            <a:off x="502920" y="1280160"/>
            <a:ext cx="83210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Vielen Dank für Ihre Aufmerksamkeit!</a:t>
            </a:r>
            <a:endParaRPr lang="en-US" sz="3200"/>
          </a:p>
        </p:txBody>
      </p:sp>
      <p:sp>
        <p:nvSpPr>
          <p:cNvPr id="1934068263" name="Text 2"/>
          <p:cNvSpPr/>
          <p:nvPr/>
        </p:nvSpPr>
        <p:spPr bwMode="auto">
          <a:xfrm>
            <a:off x="502920" y="2286000"/>
            <a:ext cx="83210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2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Fragen &amp; Diskussion</a:t>
            </a:r>
            <a:endParaRPr lang="en-US" sz="2200"/>
          </a:p>
        </p:txBody>
      </p:sp>
      <p:sp>
        <p:nvSpPr>
          <p:cNvPr id="1583270992" name="Shape 3"/>
          <p:cNvSpPr/>
          <p:nvPr/>
        </p:nvSpPr>
        <p:spPr bwMode="auto">
          <a:xfrm>
            <a:off x="502920" y="3200400"/>
            <a:ext cx="1920240" cy="13716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64039342" name="Text 4"/>
          <p:cNvSpPr/>
          <p:nvPr/>
        </p:nvSpPr>
        <p:spPr bwMode="auto">
          <a:xfrm>
            <a:off x="502920" y="3246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3200"/>
          </a:p>
        </p:txBody>
      </p:sp>
      <p:sp>
        <p:nvSpPr>
          <p:cNvPr id="899129491" name="Text 5"/>
          <p:cNvSpPr/>
          <p:nvPr/>
        </p:nvSpPr>
        <p:spPr bwMode="auto">
          <a:xfrm>
            <a:off x="502920" y="4023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Systeme überwacht</a:t>
            </a:r>
            <a:endParaRPr lang="en-US" sz="1100"/>
          </a:p>
        </p:txBody>
      </p:sp>
      <p:sp>
        <p:nvSpPr>
          <p:cNvPr id="1816074996" name="Shape 6"/>
          <p:cNvSpPr/>
          <p:nvPr/>
        </p:nvSpPr>
        <p:spPr bwMode="auto">
          <a:xfrm>
            <a:off x="2651760" y="3200400"/>
            <a:ext cx="1920240" cy="13716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26019566" name="Text 7"/>
          <p:cNvSpPr/>
          <p:nvPr/>
        </p:nvSpPr>
        <p:spPr bwMode="auto">
          <a:xfrm>
            <a:off x="2651760" y="3246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6/6</a:t>
            </a:r>
            <a:endParaRPr lang="en-US" sz="3200"/>
          </a:p>
        </p:txBody>
      </p:sp>
      <p:sp>
        <p:nvSpPr>
          <p:cNvPr id="364019345" name="Text 8"/>
          <p:cNvSpPr/>
          <p:nvPr/>
        </p:nvSpPr>
        <p:spPr bwMode="auto">
          <a:xfrm>
            <a:off x="2651760" y="4023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Tests bestanden</a:t>
            </a:r>
            <a:endParaRPr lang="en-US" sz="1100"/>
          </a:p>
        </p:txBody>
      </p:sp>
      <p:sp>
        <p:nvSpPr>
          <p:cNvPr id="1367457574" name="Shape 9"/>
          <p:cNvSpPr/>
          <p:nvPr/>
        </p:nvSpPr>
        <p:spPr bwMode="auto">
          <a:xfrm>
            <a:off x="4800600" y="3200400"/>
            <a:ext cx="1920240" cy="13716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71775622" name="Text 10"/>
          <p:cNvSpPr/>
          <p:nvPr/>
        </p:nvSpPr>
        <p:spPr bwMode="auto">
          <a:xfrm>
            <a:off x="4800600" y="3246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  <a:defRPr/>
            </a:pP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120</a:t>
            </a:r>
            <a:endParaRPr lang="en-US" sz="3200" dirty="0"/>
          </a:p>
        </p:txBody>
      </p:sp>
      <p:sp>
        <p:nvSpPr>
          <p:cNvPr id="1468719335" name="Text 11"/>
          <p:cNvSpPr/>
          <p:nvPr/>
        </p:nvSpPr>
        <p:spPr bwMode="auto">
          <a:xfrm>
            <a:off x="4800600" y="4023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Nutzwertpunkte</a:t>
            </a:r>
            <a:endParaRPr lang="en-US" sz="1100"/>
          </a:p>
        </p:txBody>
      </p:sp>
      <p:sp>
        <p:nvSpPr>
          <p:cNvPr id="175209456" name="Shape 12"/>
          <p:cNvSpPr/>
          <p:nvPr/>
        </p:nvSpPr>
        <p:spPr bwMode="auto">
          <a:xfrm>
            <a:off x="6949440" y="3200400"/>
            <a:ext cx="1920240" cy="13716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95263568" name="Text 13"/>
          <p:cNvSpPr/>
          <p:nvPr/>
        </p:nvSpPr>
        <p:spPr bwMode="auto">
          <a:xfrm>
            <a:off x="6949440" y="3246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0 €</a:t>
            </a:r>
            <a:endParaRPr lang="en-US" sz="3200"/>
          </a:p>
        </p:txBody>
      </p:sp>
      <p:sp>
        <p:nvSpPr>
          <p:cNvPr id="1159639584" name="Text 14"/>
          <p:cNvSpPr/>
          <p:nvPr/>
        </p:nvSpPr>
        <p:spPr bwMode="auto">
          <a:xfrm>
            <a:off x="6949440" y="4023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Lizenzkosten</a:t>
            </a:r>
            <a:endParaRPr lang="en-US" sz="1100"/>
          </a:p>
        </p:txBody>
      </p:sp>
      <p:sp>
        <p:nvSpPr>
          <p:cNvPr id="873098706" name="Text 15"/>
          <p:cNvSpPr/>
          <p:nvPr/>
        </p:nvSpPr>
        <p:spPr bwMode="auto">
          <a:xfrm>
            <a:off x="502920" y="4754880"/>
            <a:ext cx="83210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Ioannis Kiourtzidis  |  Fachinformatiker Systemintegration  |  Bissantz &amp; Company GmbH  |  Sommer 2026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1041</Words>
  <Application>Microsoft Office PowerPoint</Application>
  <PresentationFormat>Bildschirmpräsentation (16:9)</PresentationFormat>
  <Paragraphs>388</Paragraphs>
  <Slides>28</Slides>
  <Notes>28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2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Aufbau einer virtuellen IT-Infrastruktur – Monitoring-System</dc:title>
  <dc:subject>PptxGenJS Presentation</dc:subject>
  <dc:creator>Ioannis Kiourtzidis</dc:creator>
  <cp:lastModifiedBy>Ioannis Kiourtzidis</cp:lastModifiedBy>
  <cp:revision>19</cp:revision>
  <dcterms:created xsi:type="dcterms:W3CDTF">2026-05-07T10:59:05Z</dcterms:created>
  <dcterms:modified xsi:type="dcterms:W3CDTF">2026-06-29T14:13:42Z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803368d-9931-4cf3-ba90-7aab0414e018_Enabled">
    <vt:lpwstr>true</vt:lpwstr>
  </property>
  <property fmtid="{D5CDD505-2E9C-101B-9397-08002B2CF9AE}" pid="3" name="MSIP_Label_1803368d-9931-4cf3-ba90-7aab0414e018_SetDate">
    <vt:lpwstr>2026-05-15T09:05:02Z</vt:lpwstr>
  </property>
  <property fmtid="{D5CDD505-2E9C-101B-9397-08002B2CF9AE}" pid="4" name="MSIP_Label_1803368d-9931-4cf3-ba90-7aab0414e018_Method">
    <vt:lpwstr>Standard</vt:lpwstr>
  </property>
  <property fmtid="{D5CDD505-2E9C-101B-9397-08002B2CF9AE}" pid="5" name="MSIP_Label_1803368d-9931-4cf3-ba90-7aab0414e018_Name">
    <vt:lpwstr>Intern</vt:lpwstr>
  </property>
  <property fmtid="{D5CDD505-2E9C-101B-9397-08002B2CF9AE}" pid="6" name="MSIP_Label_1803368d-9931-4cf3-ba90-7aab0414e018_SiteId">
    <vt:lpwstr>e269c712-f9c3-429a-a5ca-c16f61bbfcb6</vt:lpwstr>
  </property>
  <property fmtid="{D5CDD505-2E9C-101B-9397-08002B2CF9AE}" pid="7" name="MSIP_Label_1803368d-9931-4cf3-ba90-7aab0414e018_ActionId">
    <vt:lpwstr>e6d07c78-7e13-411f-b33d-85261991cb7f</vt:lpwstr>
  </property>
  <property fmtid="{D5CDD505-2E9C-101B-9397-08002B2CF9AE}" pid="8" name="MSIP_Label_1803368d-9931-4cf3-ba90-7aab0414e018_ContentBits">
    <vt:lpwstr>2</vt:lpwstr>
  </property>
  <property fmtid="{D5CDD505-2E9C-101B-9397-08002B2CF9AE}" pid="9" name="MSIP_Label_1803368d-9931-4cf3-ba90-7aab0414e018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intern</vt:lpwstr>
  </property>
</Properties>
</file>