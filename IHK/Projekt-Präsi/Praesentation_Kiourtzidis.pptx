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18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2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9144000" cy="5143500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 /><Relationship Id="rId27" Type="http://schemas.openxmlformats.org/officeDocument/2006/relationships/tableStyles" Target="tableStyles.xml" /><Relationship Id="rId2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190134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74222055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881156916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308803072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95747554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8777608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52140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71869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340883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35084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7820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29697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83469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785948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79400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EB8E202-5E66-541C-B729-3C4639B749A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7979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74470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126829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6C38AB1-618D-DE5D-2D15-C8BD595D90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878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62784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10240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6FFFDDA-D214-BED8-9077-7D8E24A4358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87516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318081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941411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05318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32218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81078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31490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49719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246479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70561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05510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907869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0006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97283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044947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25898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06866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664161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30305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936431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772657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65242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90685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508245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39142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071921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340624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1240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72891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841654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64374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30912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669151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65930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95905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694421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17307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39262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245807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07530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96005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852130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70733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89556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279780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37975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70871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33279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824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08273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322149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1F4E79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4342327" name="Shape 0"/>
          <p:cNvSpPr/>
          <p:nvPr/>
        </p:nvSpPr>
        <p:spPr bwMode="auto">
          <a:xfrm>
            <a:off x="0" y="0"/>
            <a:ext cx="228600" cy="51435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466338050" name="Text 1"/>
          <p:cNvSpPr/>
          <p:nvPr/>
        </p:nvSpPr>
        <p:spPr bwMode="auto">
          <a:xfrm>
            <a:off x="502920" y="1463040"/>
            <a:ext cx="8412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Aufbau einer virtuellen IT-Infrastruktur</a:t>
            </a:r>
            <a:endParaRPr lang="en-US" sz="3800"/>
          </a:p>
          <a:p>
            <a:pPr marL="0" indent="0" algn="l">
              <a:buNone/>
              <a:defRPr/>
            </a:pPr>
            <a:r>
              <a:rPr lang="en-US"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zur Implementierung eines zentralen</a:t>
            </a:r>
            <a:endParaRPr lang="en-US" sz="3800"/>
          </a:p>
          <a:p>
            <a:pPr marL="0" indent="0" algn="l">
              <a:buNone/>
              <a:defRPr/>
            </a:pPr>
            <a:r>
              <a:rPr lang="en-US"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Monitoring-Systems</a:t>
            </a:r>
            <a:endParaRPr lang="en-US" sz="3800"/>
          </a:p>
        </p:txBody>
      </p:sp>
      <p:sp>
        <p:nvSpPr>
          <p:cNvPr id="610456591" name="Text 2"/>
          <p:cNvSpPr/>
          <p:nvPr/>
        </p:nvSpPr>
        <p:spPr bwMode="auto">
          <a:xfrm>
            <a:off x="502920" y="28346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2000">
                <a:solidFill>
                  <a:srgbClr val="D6E4F0"/>
                </a:solidFill>
                <a:latin typeface="Calibri"/>
                <a:ea typeface="Calibri"/>
                <a:cs typeface="Calibri"/>
              </a:rPr>
              <a:t>Abschlussprojekt Fachinformatiker Systemintegration · Sommer 2026</a:t>
            </a:r>
            <a:endParaRPr lang="en-US" sz="2000"/>
          </a:p>
        </p:txBody>
      </p:sp>
      <p:sp>
        <p:nvSpPr>
          <p:cNvPr id="357178745" name="Text 3"/>
          <p:cNvSpPr/>
          <p:nvPr/>
        </p:nvSpPr>
        <p:spPr bwMode="auto">
          <a:xfrm>
            <a:off x="502920" y="44805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300">
                <a:solidFill>
                  <a:srgbClr val="8BAFC8"/>
                </a:solidFill>
                <a:latin typeface="Calibri"/>
                <a:ea typeface="Calibri"/>
                <a:cs typeface="Calibri"/>
              </a:rPr>
              <a:t>Ioannis Kiourtzidis  |  Bissantz &amp; Company GmbH  |  Sommer 2026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7F9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3769775" name="Text 0"/>
          <p:cNvSpPr/>
          <p:nvPr/>
        </p:nvSpPr>
        <p:spPr bwMode="auto">
          <a:xfrm>
            <a:off x="411480" y="20116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6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Agenda</a:t>
            </a:r>
            <a:endParaRPr lang="en-US" sz="2600"/>
          </a:p>
        </p:txBody>
      </p:sp>
      <p:sp>
        <p:nvSpPr>
          <p:cNvPr id="1211097787" name="Shape 1"/>
          <p:cNvSpPr/>
          <p:nvPr/>
        </p:nvSpPr>
        <p:spPr bwMode="auto">
          <a:xfrm>
            <a:off x="411480" y="822960"/>
            <a:ext cx="8321039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37351199" name="Shape 3"/>
          <p:cNvSpPr/>
          <p:nvPr/>
        </p:nvSpPr>
        <p:spPr bwMode="auto">
          <a:xfrm>
            <a:off x="411480" y="100584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35611619" name="Shape 4"/>
          <p:cNvSpPr/>
          <p:nvPr/>
        </p:nvSpPr>
        <p:spPr bwMode="auto">
          <a:xfrm>
            <a:off x="411480" y="100584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104840831" name="Text 5"/>
          <p:cNvSpPr/>
          <p:nvPr/>
        </p:nvSpPr>
        <p:spPr bwMode="auto">
          <a:xfrm>
            <a:off x="411480" y="10058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1400"/>
          </a:p>
        </p:txBody>
      </p:sp>
      <p:sp>
        <p:nvSpPr>
          <p:cNvPr id="1026750607" name="Text 6"/>
          <p:cNvSpPr/>
          <p:nvPr/>
        </p:nvSpPr>
        <p:spPr bwMode="auto">
          <a:xfrm>
            <a:off x="100584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Ausgangssituation &amp; Problem</a:t>
            </a:r>
            <a:endParaRPr lang="en-US" sz="1300"/>
          </a:p>
        </p:txBody>
      </p:sp>
      <p:sp>
        <p:nvSpPr>
          <p:cNvPr id="963280750" name="Shape 8"/>
          <p:cNvSpPr/>
          <p:nvPr/>
        </p:nvSpPr>
        <p:spPr bwMode="auto">
          <a:xfrm>
            <a:off x="411480" y="196596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2033021" name="Shape 9"/>
          <p:cNvSpPr/>
          <p:nvPr/>
        </p:nvSpPr>
        <p:spPr bwMode="auto">
          <a:xfrm>
            <a:off x="411480" y="196596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0156623" name="Text 10"/>
          <p:cNvSpPr/>
          <p:nvPr/>
        </p:nvSpPr>
        <p:spPr bwMode="auto">
          <a:xfrm>
            <a:off x="411480" y="196596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  <a:endParaRPr lang="en-US" sz="1400"/>
          </a:p>
        </p:txBody>
      </p:sp>
      <p:sp>
        <p:nvSpPr>
          <p:cNvPr id="752962867" name="Text 11"/>
          <p:cNvSpPr/>
          <p:nvPr/>
        </p:nvSpPr>
        <p:spPr bwMode="auto">
          <a:xfrm>
            <a:off x="100584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Projektziel</a:t>
            </a:r>
            <a:endParaRPr lang="en-US" sz="1300"/>
          </a:p>
        </p:txBody>
      </p:sp>
      <p:sp>
        <p:nvSpPr>
          <p:cNvPr id="632577923" name="Shape 13"/>
          <p:cNvSpPr/>
          <p:nvPr/>
        </p:nvSpPr>
        <p:spPr bwMode="auto">
          <a:xfrm>
            <a:off x="411480" y="292608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6186051" name="Shape 14"/>
          <p:cNvSpPr/>
          <p:nvPr/>
        </p:nvSpPr>
        <p:spPr bwMode="auto">
          <a:xfrm>
            <a:off x="411480" y="292608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681764811" name="Text 15"/>
          <p:cNvSpPr/>
          <p:nvPr/>
        </p:nvSpPr>
        <p:spPr bwMode="auto">
          <a:xfrm>
            <a:off x="411480" y="292608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400"/>
          </a:p>
        </p:txBody>
      </p:sp>
      <p:sp>
        <p:nvSpPr>
          <p:cNvPr id="1523102982" name="Text 16"/>
          <p:cNvSpPr/>
          <p:nvPr/>
        </p:nvSpPr>
        <p:spPr bwMode="auto">
          <a:xfrm>
            <a:off x="100584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Systemarchitektur</a:t>
            </a:r>
            <a:endParaRPr lang="en-US" sz="1300"/>
          </a:p>
        </p:txBody>
      </p:sp>
      <p:sp>
        <p:nvSpPr>
          <p:cNvPr id="660524581" name="Shape 18"/>
          <p:cNvSpPr/>
          <p:nvPr/>
        </p:nvSpPr>
        <p:spPr bwMode="auto">
          <a:xfrm>
            <a:off x="411480" y="388620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11362712" name="Shape 19"/>
          <p:cNvSpPr/>
          <p:nvPr/>
        </p:nvSpPr>
        <p:spPr bwMode="auto">
          <a:xfrm>
            <a:off x="411480" y="388620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173094154" name="Text 20"/>
          <p:cNvSpPr/>
          <p:nvPr/>
        </p:nvSpPr>
        <p:spPr bwMode="auto">
          <a:xfrm>
            <a:off x="411480" y="388620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1400"/>
          </a:p>
        </p:txBody>
      </p:sp>
      <p:sp>
        <p:nvSpPr>
          <p:cNvPr id="89037806" name="Text 21"/>
          <p:cNvSpPr/>
          <p:nvPr/>
        </p:nvSpPr>
        <p:spPr bwMode="auto">
          <a:xfrm>
            <a:off x="100584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Technologie-Entscheidung</a:t>
            </a:r>
            <a:endParaRPr lang="en-US" sz="1300"/>
          </a:p>
        </p:txBody>
      </p:sp>
      <p:sp>
        <p:nvSpPr>
          <p:cNvPr id="1106073471" name="Shape 23"/>
          <p:cNvSpPr/>
          <p:nvPr/>
        </p:nvSpPr>
        <p:spPr bwMode="auto">
          <a:xfrm>
            <a:off x="4754880" y="100584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6053288" name="Shape 24"/>
          <p:cNvSpPr/>
          <p:nvPr/>
        </p:nvSpPr>
        <p:spPr bwMode="auto">
          <a:xfrm>
            <a:off x="4754880" y="100584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789451003" name="Text 25"/>
          <p:cNvSpPr/>
          <p:nvPr/>
        </p:nvSpPr>
        <p:spPr bwMode="auto">
          <a:xfrm>
            <a:off x="4754880" y="10058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</a:t>
            </a:r>
            <a:endParaRPr lang="en-US" sz="1400"/>
          </a:p>
        </p:txBody>
      </p:sp>
      <p:sp>
        <p:nvSpPr>
          <p:cNvPr id="626687986" name="Text 26"/>
          <p:cNvSpPr/>
          <p:nvPr/>
        </p:nvSpPr>
        <p:spPr bwMode="auto">
          <a:xfrm>
            <a:off x="534924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Implementierung</a:t>
            </a:r>
            <a:endParaRPr lang="en-US" sz="1300"/>
          </a:p>
        </p:txBody>
      </p:sp>
      <p:sp>
        <p:nvSpPr>
          <p:cNvPr id="875132478" name="Shape 28"/>
          <p:cNvSpPr/>
          <p:nvPr/>
        </p:nvSpPr>
        <p:spPr bwMode="auto">
          <a:xfrm>
            <a:off x="4754880" y="196596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16930259" name="Shape 29"/>
          <p:cNvSpPr/>
          <p:nvPr/>
        </p:nvSpPr>
        <p:spPr bwMode="auto">
          <a:xfrm>
            <a:off x="4754880" y="196596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41118695" name="Text 30"/>
          <p:cNvSpPr/>
          <p:nvPr/>
        </p:nvSpPr>
        <p:spPr bwMode="auto">
          <a:xfrm>
            <a:off x="4754880" y="196596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06</a:t>
            </a:r>
            <a:endParaRPr lang="en-US" sz="1400"/>
          </a:p>
        </p:txBody>
      </p:sp>
      <p:sp>
        <p:nvSpPr>
          <p:cNvPr id="71463573" name="Text 31"/>
          <p:cNvSpPr/>
          <p:nvPr/>
        </p:nvSpPr>
        <p:spPr bwMode="auto">
          <a:xfrm>
            <a:off x="534924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Tests &amp; Ergebnisse</a:t>
            </a:r>
            <a:endParaRPr lang="en-US" sz="1300"/>
          </a:p>
        </p:txBody>
      </p:sp>
      <p:sp>
        <p:nvSpPr>
          <p:cNvPr id="1248020954" name="Shape 33"/>
          <p:cNvSpPr/>
          <p:nvPr/>
        </p:nvSpPr>
        <p:spPr bwMode="auto">
          <a:xfrm>
            <a:off x="4754880" y="292608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6535827" name="Shape 34"/>
          <p:cNvSpPr/>
          <p:nvPr/>
        </p:nvSpPr>
        <p:spPr bwMode="auto">
          <a:xfrm>
            <a:off x="4754880" y="292608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769407709" name="Text 35"/>
          <p:cNvSpPr/>
          <p:nvPr/>
        </p:nvSpPr>
        <p:spPr bwMode="auto">
          <a:xfrm>
            <a:off x="4754880" y="292608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07</a:t>
            </a:r>
            <a:endParaRPr lang="en-US" sz="1400"/>
          </a:p>
        </p:txBody>
      </p:sp>
      <p:sp>
        <p:nvSpPr>
          <p:cNvPr id="1778507062" name="Text 36"/>
          <p:cNvSpPr/>
          <p:nvPr/>
        </p:nvSpPr>
        <p:spPr bwMode="auto">
          <a:xfrm>
            <a:off x="534924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Nutzwertanalyse &amp; Empfehlung</a:t>
            </a:r>
            <a:endParaRPr lang="en-US" sz="1300"/>
          </a:p>
        </p:txBody>
      </p:sp>
      <p:sp>
        <p:nvSpPr>
          <p:cNvPr id="1609885425" name="Shape 38"/>
          <p:cNvSpPr/>
          <p:nvPr/>
        </p:nvSpPr>
        <p:spPr bwMode="auto">
          <a:xfrm>
            <a:off x="4754880" y="388620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939996" name="Shape 39"/>
          <p:cNvSpPr/>
          <p:nvPr/>
        </p:nvSpPr>
        <p:spPr bwMode="auto">
          <a:xfrm>
            <a:off x="4754880" y="388620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648073713" name="Text 40"/>
          <p:cNvSpPr/>
          <p:nvPr/>
        </p:nvSpPr>
        <p:spPr bwMode="auto">
          <a:xfrm>
            <a:off x="4754880" y="388620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08</a:t>
            </a:r>
            <a:endParaRPr lang="en-US" sz="1400"/>
          </a:p>
        </p:txBody>
      </p:sp>
      <p:sp>
        <p:nvSpPr>
          <p:cNvPr id="1965357587" name="Text 41"/>
          <p:cNvSpPr/>
          <p:nvPr/>
        </p:nvSpPr>
        <p:spPr bwMode="auto">
          <a:xfrm>
            <a:off x="534924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Fazit &amp; Ausblick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7F9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9865769" name="Text 0"/>
          <p:cNvSpPr/>
          <p:nvPr/>
        </p:nvSpPr>
        <p:spPr bwMode="auto">
          <a:xfrm>
            <a:off x="411480" y="20116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6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Agenda</a:t>
            </a:r>
            <a:endParaRPr lang="en-US" sz="2600"/>
          </a:p>
        </p:txBody>
      </p:sp>
      <p:sp>
        <p:nvSpPr>
          <p:cNvPr id="1180477243" name="Shape 1"/>
          <p:cNvSpPr/>
          <p:nvPr/>
        </p:nvSpPr>
        <p:spPr bwMode="auto">
          <a:xfrm>
            <a:off x="411480" y="822960"/>
            <a:ext cx="8321039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97553891" name="Shape 3"/>
          <p:cNvSpPr/>
          <p:nvPr/>
        </p:nvSpPr>
        <p:spPr bwMode="auto">
          <a:xfrm>
            <a:off x="411480" y="100584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86617083" name="Shape 4"/>
          <p:cNvSpPr/>
          <p:nvPr/>
        </p:nvSpPr>
        <p:spPr bwMode="auto">
          <a:xfrm>
            <a:off x="411480" y="100584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134630197" name="Text 5"/>
          <p:cNvSpPr/>
          <p:nvPr/>
        </p:nvSpPr>
        <p:spPr bwMode="auto">
          <a:xfrm>
            <a:off x="411480" y="10058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1400"/>
          </a:p>
        </p:txBody>
      </p:sp>
      <p:sp>
        <p:nvSpPr>
          <p:cNvPr id="1520717504" name="Text 6"/>
          <p:cNvSpPr/>
          <p:nvPr/>
        </p:nvSpPr>
        <p:spPr bwMode="auto">
          <a:xfrm>
            <a:off x="100584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Ausgangssituation &amp; Problem</a:t>
            </a:r>
            <a:endParaRPr lang="en-US" sz="1300"/>
          </a:p>
        </p:txBody>
      </p:sp>
      <p:sp>
        <p:nvSpPr>
          <p:cNvPr id="1069026900" name="Shape 8"/>
          <p:cNvSpPr/>
          <p:nvPr/>
        </p:nvSpPr>
        <p:spPr bwMode="auto">
          <a:xfrm>
            <a:off x="411480" y="196596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93534599" name="Shape 9"/>
          <p:cNvSpPr/>
          <p:nvPr/>
        </p:nvSpPr>
        <p:spPr bwMode="auto">
          <a:xfrm>
            <a:off x="411480" y="196596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024632613" name="Text 10"/>
          <p:cNvSpPr/>
          <p:nvPr/>
        </p:nvSpPr>
        <p:spPr bwMode="auto">
          <a:xfrm>
            <a:off x="411480" y="196596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  <a:endParaRPr lang="en-US" sz="1400"/>
          </a:p>
        </p:txBody>
      </p:sp>
      <p:sp>
        <p:nvSpPr>
          <p:cNvPr id="2060393772" name="Text 11"/>
          <p:cNvSpPr/>
          <p:nvPr/>
        </p:nvSpPr>
        <p:spPr bwMode="auto">
          <a:xfrm>
            <a:off x="100584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Projektziel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04152346" name="Shape 13"/>
          <p:cNvSpPr/>
          <p:nvPr/>
        </p:nvSpPr>
        <p:spPr bwMode="auto">
          <a:xfrm>
            <a:off x="411480" y="292608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48734118" name="Shape 14"/>
          <p:cNvSpPr/>
          <p:nvPr/>
        </p:nvSpPr>
        <p:spPr bwMode="auto">
          <a:xfrm>
            <a:off x="411480" y="292608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182284612" name="Text 15"/>
          <p:cNvSpPr/>
          <p:nvPr/>
        </p:nvSpPr>
        <p:spPr bwMode="auto">
          <a:xfrm>
            <a:off x="411480" y="292608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400"/>
          </a:p>
        </p:txBody>
      </p:sp>
      <p:sp>
        <p:nvSpPr>
          <p:cNvPr id="720761890" name="Text 16"/>
          <p:cNvSpPr/>
          <p:nvPr/>
        </p:nvSpPr>
        <p:spPr bwMode="auto">
          <a:xfrm>
            <a:off x="100584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Systemarchitektur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061233739" name="Shape 18"/>
          <p:cNvSpPr/>
          <p:nvPr/>
        </p:nvSpPr>
        <p:spPr bwMode="auto">
          <a:xfrm>
            <a:off x="411480" y="388620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7611453" name="Shape 19"/>
          <p:cNvSpPr/>
          <p:nvPr/>
        </p:nvSpPr>
        <p:spPr bwMode="auto">
          <a:xfrm>
            <a:off x="411480" y="388620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353731652" name="Text 20"/>
          <p:cNvSpPr/>
          <p:nvPr/>
        </p:nvSpPr>
        <p:spPr bwMode="auto">
          <a:xfrm>
            <a:off x="411480" y="388620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1400"/>
          </a:p>
        </p:txBody>
      </p:sp>
      <p:sp>
        <p:nvSpPr>
          <p:cNvPr id="843744979" name="Text 21"/>
          <p:cNvSpPr/>
          <p:nvPr/>
        </p:nvSpPr>
        <p:spPr bwMode="auto">
          <a:xfrm>
            <a:off x="100584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Technologie-Entscheidung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80490211" name="Shape 23"/>
          <p:cNvSpPr/>
          <p:nvPr/>
        </p:nvSpPr>
        <p:spPr bwMode="auto">
          <a:xfrm>
            <a:off x="4754880" y="100584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1494536" name="Shape 24"/>
          <p:cNvSpPr/>
          <p:nvPr/>
        </p:nvSpPr>
        <p:spPr bwMode="auto">
          <a:xfrm>
            <a:off x="4754880" y="100584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739465826" name="Text 25"/>
          <p:cNvSpPr/>
          <p:nvPr/>
        </p:nvSpPr>
        <p:spPr bwMode="auto">
          <a:xfrm>
            <a:off x="4754880" y="10058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</a:t>
            </a:r>
            <a:endParaRPr lang="en-US" sz="1400"/>
          </a:p>
        </p:txBody>
      </p:sp>
      <p:sp>
        <p:nvSpPr>
          <p:cNvPr id="344605560" name="Text 26"/>
          <p:cNvSpPr/>
          <p:nvPr/>
        </p:nvSpPr>
        <p:spPr bwMode="auto">
          <a:xfrm>
            <a:off x="534924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Implementierung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905771511" name="Shape 28"/>
          <p:cNvSpPr/>
          <p:nvPr/>
        </p:nvSpPr>
        <p:spPr bwMode="auto">
          <a:xfrm>
            <a:off x="4754880" y="196596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750572" name="Shape 29"/>
          <p:cNvSpPr/>
          <p:nvPr/>
        </p:nvSpPr>
        <p:spPr bwMode="auto">
          <a:xfrm>
            <a:off x="4754880" y="196596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468469905" name="Text 30"/>
          <p:cNvSpPr/>
          <p:nvPr/>
        </p:nvSpPr>
        <p:spPr bwMode="auto">
          <a:xfrm>
            <a:off x="4754880" y="196596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06</a:t>
            </a:r>
            <a:endParaRPr lang="en-US" sz="1400"/>
          </a:p>
        </p:txBody>
      </p:sp>
      <p:sp>
        <p:nvSpPr>
          <p:cNvPr id="19813883" name="Text 31"/>
          <p:cNvSpPr/>
          <p:nvPr/>
        </p:nvSpPr>
        <p:spPr bwMode="auto">
          <a:xfrm>
            <a:off x="534924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Tests &amp; Ergebnisse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73448204" name="Shape 33"/>
          <p:cNvSpPr/>
          <p:nvPr/>
        </p:nvSpPr>
        <p:spPr bwMode="auto">
          <a:xfrm>
            <a:off x="4754880" y="292608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7634101" name="Shape 34"/>
          <p:cNvSpPr/>
          <p:nvPr/>
        </p:nvSpPr>
        <p:spPr bwMode="auto">
          <a:xfrm>
            <a:off x="4754880" y="292608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484474072" name="Text 35"/>
          <p:cNvSpPr/>
          <p:nvPr/>
        </p:nvSpPr>
        <p:spPr bwMode="auto">
          <a:xfrm>
            <a:off x="4754880" y="292608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07</a:t>
            </a:r>
            <a:endParaRPr lang="en-US" sz="1400"/>
          </a:p>
        </p:txBody>
      </p:sp>
      <p:sp>
        <p:nvSpPr>
          <p:cNvPr id="1227101324" name="Text 36"/>
          <p:cNvSpPr/>
          <p:nvPr/>
        </p:nvSpPr>
        <p:spPr bwMode="auto">
          <a:xfrm>
            <a:off x="534924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Nutzwertanalyse &amp; Empfehlung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144234917" name="Shape 38"/>
          <p:cNvSpPr/>
          <p:nvPr/>
        </p:nvSpPr>
        <p:spPr bwMode="auto">
          <a:xfrm>
            <a:off x="4754880" y="388620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1711755" name="Shape 39"/>
          <p:cNvSpPr/>
          <p:nvPr/>
        </p:nvSpPr>
        <p:spPr bwMode="auto">
          <a:xfrm>
            <a:off x="4754880" y="388620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325092358" name="Text 40"/>
          <p:cNvSpPr/>
          <p:nvPr/>
        </p:nvSpPr>
        <p:spPr bwMode="auto">
          <a:xfrm>
            <a:off x="4754880" y="388620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08</a:t>
            </a:r>
            <a:endParaRPr lang="en-US" sz="1400"/>
          </a:p>
        </p:txBody>
      </p:sp>
      <p:sp>
        <p:nvSpPr>
          <p:cNvPr id="1976541983" name="Text 41"/>
          <p:cNvSpPr/>
          <p:nvPr/>
        </p:nvSpPr>
        <p:spPr bwMode="auto">
          <a:xfrm>
            <a:off x="534924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Fazit &amp; Ausblick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7F9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900387" name="Text 0"/>
          <p:cNvSpPr/>
          <p:nvPr/>
        </p:nvSpPr>
        <p:spPr bwMode="auto">
          <a:xfrm>
            <a:off x="411480" y="20116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6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Agenda</a:t>
            </a:r>
            <a:endParaRPr lang="en-US" sz="2600"/>
          </a:p>
        </p:txBody>
      </p:sp>
      <p:sp>
        <p:nvSpPr>
          <p:cNvPr id="626935657" name="Shape 1"/>
          <p:cNvSpPr/>
          <p:nvPr/>
        </p:nvSpPr>
        <p:spPr bwMode="auto">
          <a:xfrm>
            <a:off x="411480" y="822960"/>
            <a:ext cx="8321039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09788228" name="Shape 3"/>
          <p:cNvSpPr/>
          <p:nvPr/>
        </p:nvSpPr>
        <p:spPr bwMode="auto">
          <a:xfrm>
            <a:off x="411480" y="100584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9557890" name="Shape 4"/>
          <p:cNvSpPr/>
          <p:nvPr/>
        </p:nvSpPr>
        <p:spPr bwMode="auto">
          <a:xfrm>
            <a:off x="411480" y="100584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22117928" name="Text 5"/>
          <p:cNvSpPr/>
          <p:nvPr/>
        </p:nvSpPr>
        <p:spPr bwMode="auto">
          <a:xfrm>
            <a:off x="411480" y="10058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1400"/>
          </a:p>
        </p:txBody>
      </p:sp>
      <p:sp>
        <p:nvSpPr>
          <p:cNvPr id="1609944422" name="Text 6"/>
          <p:cNvSpPr/>
          <p:nvPr/>
        </p:nvSpPr>
        <p:spPr bwMode="auto">
          <a:xfrm>
            <a:off x="100584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Ausgangssituation </a:t>
            </a: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&amp; Problem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92623497" name="Shape 8"/>
          <p:cNvSpPr/>
          <p:nvPr/>
        </p:nvSpPr>
        <p:spPr bwMode="auto">
          <a:xfrm>
            <a:off x="411480" y="196596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98139430" name="Shape 9"/>
          <p:cNvSpPr/>
          <p:nvPr/>
        </p:nvSpPr>
        <p:spPr bwMode="auto">
          <a:xfrm>
            <a:off x="411480" y="196596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50547030" name="Text 10"/>
          <p:cNvSpPr/>
          <p:nvPr/>
        </p:nvSpPr>
        <p:spPr bwMode="auto">
          <a:xfrm>
            <a:off x="411480" y="196596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02</a:t>
            </a:r>
            <a:endParaRPr lang="en-US" sz="1400"/>
          </a:p>
        </p:txBody>
      </p:sp>
      <p:sp>
        <p:nvSpPr>
          <p:cNvPr id="167332363" name="Text 11"/>
          <p:cNvSpPr/>
          <p:nvPr/>
        </p:nvSpPr>
        <p:spPr bwMode="auto">
          <a:xfrm>
            <a:off x="100584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Projektziel</a:t>
            </a:r>
            <a:endParaRPr sz="1300">
              <a:solidFill>
                <a:schemeClr val="tx1"/>
              </a:solidFill>
            </a:endParaRPr>
          </a:p>
        </p:txBody>
      </p:sp>
      <p:sp>
        <p:nvSpPr>
          <p:cNvPr id="1913816319" name="Shape 13"/>
          <p:cNvSpPr/>
          <p:nvPr/>
        </p:nvSpPr>
        <p:spPr bwMode="auto">
          <a:xfrm>
            <a:off x="411480" y="292608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3625843" name="Shape 14"/>
          <p:cNvSpPr/>
          <p:nvPr/>
        </p:nvSpPr>
        <p:spPr bwMode="auto">
          <a:xfrm>
            <a:off x="411480" y="292608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96932930" name="Text 15"/>
          <p:cNvSpPr/>
          <p:nvPr/>
        </p:nvSpPr>
        <p:spPr bwMode="auto">
          <a:xfrm>
            <a:off x="411480" y="292608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400"/>
          </a:p>
        </p:txBody>
      </p:sp>
      <p:sp>
        <p:nvSpPr>
          <p:cNvPr id="1073533166" name="Text 16"/>
          <p:cNvSpPr/>
          <p:nvPr/>
        </p:nvSpPr>
        <p:spPr bwMode="auto">
          <a:xfrm>
            <a:off x="100584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Systemarchitektur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229106082" name="Shape 18"/>
          <p:cNvSpPr/>
          <p:nvPr/>
        </p:nvSpPr>
        <p:spPr bwMode="auto">
          <a:xfrm>
            <a:off x="411480" y="388620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88531412" name="Shape 19"/>
          <p:cNvSpPr/>
          <p:nvPr/>
        </p:nvSpPr>
        <p:spPr bwMode="auto">
          <a:xfrm>
            <a:off x="411480" y="388620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039993939" name="Text 20"/>
          <p:cNvSpPr/>
          <p:nvPr/>
        </p:nvSpPr>
        <p:spPr bwMode="auto">
          <a:xfrm>
            <a:off x="411480" y="388620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1400"/>
          </a:p>
        </p:txBody>
      </p:sp>
      <p:sp>
        <p:nvSpPr>
          <p:cNvPr id="2110354638" name="Text 21"/>
          <p:cNvSpPr/>
          <p:nvPr/>
        </p:nvSpPr>
        <p:spPr bwMode="auto">
          <a:xfrm>
            <a:off x="100584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Technologie-Entscheidung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108881272" name="Shape 23"/>
          <p:cNvSpPr/>
          <p:nvPr/>
        </p:nvSpPr>
        <p:spPr bwMode="auto">
          <a:xfrm>
            <a:off x="4754880" y="100584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715388" name="Shape 24"/>
          <p:cNvSpPr/>
          <p:nvPr/>
        </p:nvSpPr>
        <p:spPr bwMode="auto">
          <a:xfrm>
            <a:off x="4754880" y="100584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226432951" name="Text 25"/>
          <p:cNvSpPr/>
          <p:nvPr/>
        </p:nvSpPr>
        <p:spPr bwMode="auto">
          <a:xfrm>
            <a:off x="4754880" y="10058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</a:t>
            </a:r>
            <a:endParaRPr lang="en-US" sz="1400"/>
          </a:p>
        </p:txBody>
      </p:sp>
      <p:sp>
        <p:nvSpPr>
          <p:cNvPr id="1823361809" name="Text 26"/>
          <p:cNvSpPr/>
          <p:nvPr/>
        </p:nvSpPr>
        <p:spPr bwMode="auto">
          <a:xfrm>
            <a:off x="534924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Implementierung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946668116" name="Shape 28"/>
          <p:cNvSpPr/>
          <p:nvPr/>
        </p:nvSpPr>
        <p:spPr bwMode="auto">
          <a:xfrm>
            <a:off x="4754880" y="196596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59494867" name="Shape 29"/>
          <p:cNvSpPr/>
          <p:nvPr/>
        </p:nvSpPr>
        <p:spPr bwMode="auto">
          <a:xfrm>
            <a:off x="4754880" y="196596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114016406" name="Text 30"/>
          <p:cNvSpPr/>
          <p:nvPr/>
        </p:nvSpPr>
        <p:spPr bwMode="auto">
          <a:xfrm>
            <a:off x="4754880" y="196596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06</a:t>
            </a:r>
            <a:endParaRPr lang="en-US" sz="1400"/>
          </a:p>
        </p:txBody>
      </p:sp>
      <p:sp>
        <p:nvSpPr>
          <p:cNvPr id="933118856" name="Text 31"/>
          <p:cNvSpPr/>
          <p:nvPr/>
        </p:nvSpPr>
        <p:spPr bwMode="auto">
          <a:xfrm>
            <a:off x="534924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Tests &amp; Ergebnisse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035567326" name="Shape 33"/>
          <p:cNvSpPr/>
          <p:nvPr/>
        </p:nvSpPr>
        <p:spPr bwMode="auto">
          <a:xfrm>
            <a:off x="4754880" y="292608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23057362" name="Shape 34"/>
          <p:cNvSpPr/>
          <p:nvPr/>
        </p:nvSpPr>
        <p:spPr bwMode="auto">
          <a:xfrm>
            <a:off x="4754880" y="292608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31598580" name="Text 35"/>
          <p:cNvSpPr/>
          <p:nvPr/>
        </p:nvSpPr>
        <p:spPr bwMode="auto">
          <a:xfrm>
            <a:off x="4754880" y="292608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07</a:t>
            </a:r>
            <a:endParaRPr lang="en-US" sz="1400"/>
          </a:p>
        </p:txBody>
      </p:sp>
      <p:sp>
        <p:nvSpPr>
          <p:cNvPr id="1472362019" name="Text 36"/>
          <p:cNvSpPr/>
          <p:nvPr/>
        </p:nvSpPr>
        <p:spPr bwMode="auto">
          <a:xfrm>
            <a:off x="534924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Nutzwertanalyse &amp; Empfehlung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006883572" name="Shape 38"/>
          <p:cNvSpPr/>
          <p:nvPr/>
        </p:nvSpPr>
        <p:spPr bwMode="auto">
          <a:xfrm>
            <a:off x="4754880" y="388620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68767483" name="Shape 39"/>
          <p:cNvSpPr/>
          <p:nvPr/>
        </p:nvSpPr>
        <p:spPr bwMode="auto">
          <a:xfrm>
            <a:off x="4754880" y="388620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152661534" name="Text 40"/>
          <p:cNvSpPr/>
          <p:nvPr/>
        </p:nvSpPr>
        <p:spPr bwMode="auto">
          <a:xfrm>
            <a:off x="4754880" y="388620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08</a:t>
            </a:r>
            <a:endParaRPr lang="en-US" sz="1400"/>
          </a:p>
        </p:txBody>
      </p:sp>
      <p:sp>
        <p:nvSpPr>
          <p:cNvPr id="90003663" name="Text 41"/>
          <p:cNvSpPr/>
          <p:nvPr/>
        </p:nvSpPr>
        <p:spPr bwMode="auto">
          <a:xfrm>
            <a:off x="534924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Fazit &amp; Ausblick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7F9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4378887" name="Text 0"/>
          <p:cNvSpPr/>
          <p:nvPr/>
        </p:nvSpPr>
        <p:spPr bwMode="auto">
          <a:xfrm>
            <a:off x="411480" y="20116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6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Agenda</a:t>
            </a:r>
            <a:endParaRPr lang="en-US" sz="2600"/>
          </a:p>
        </p:txBody>
      </p:sp>
      <p:sp>
        <p:nvSpPr>
          <p:cNvPr id="869437356" name="Shape 1"/>
          <p:cNvSpPr/>
          <p:nvPr/>
        </p:nvSpPr>
        <p:spPr bwMode="auto">
          <a:xfrm>
            <a:off x="411480" y="822960"/>
            <a:ext cx="8321039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94453572" name="Shape 3"/>
          <p:cNvSpPr/>
          <p:nvPr/>
        </p:nvSpPr>
        <p:spPr bwMode="auto">
          <a:xfrm>
            <a:off x="411480" y="100584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91337661" name="Shape 4"/>
          <p:cNvSpPr/>
          <p:nvPr/>
        </p:nvSpPr>
        <p:spPr bwMode="auto">
          <a:xfrm>
            <a:off x="411480" y="100584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033758461" name="Text 5"/>
          <p:cNvSpPr/>
          <p:nvPr/>
        </p:nvSpPr>
        <p:spPr bwMode="auto">
          <a:xfrm>
            <a:off x="411480" y="10058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1400"/>
          </a:p>
        </p:txBody>
      </p:sp>
      <p:sp>
        <p:nvSpPr>
          <p:cNvPr id="368860147" name="Text 6"/>
          <p:cNvSpPr/>
          <p:nvPr/>
        </p:nvSpPr>
        <p:spPr bwMode="auto">
          <a:xfrm>
            <a:off x="100584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Ausgangssituation </a:t>
            </a: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&amp; Problem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48704985" name="Shape 8"/>
          <p:cNvSpPr/>
          <p:nvPr/>
        </p:nvSpPr>
        <p:spPr bwMode="auto">
          <a:xfrm>
            <a:off x="411480" y="196596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21823693" name="Shape 9"/>
          <p:cNvSpPr/>
          <p:nvPr/>
        </p:nvSpPr>
        <p:spPr bwMode="auto">
          <a:xfrm>
            <a:off x="411480" y="196596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033113082" name="Text 10"/>
          <p:cNvSpPr/>
          <p:nvPr/>
        </p:nvSpPr>
        <p:spPr bwMode="auto">
          <a:xfrm>
            <a:off x="411480" y="196596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02</a:t>
            </a:r>
            <a:endParaRPr sz="1400">
              <a:solidFill>
                <a:schemeClr val="bg1"/>
              </a:solidFill>
            </a:endParaRPr>
          </a:p>
        </p:txBody>
      </p:sp>
      <p:sp>
        <p:nvSpPr>
          <p:cNvPr id="1045715279" name="Text 11"/>
          <p:cNvSpPr/>
          <p:nvPr/>
        </p:nvSpPr>
        <p:spPr bwMode="auto">
          <a:xfrm>
            <a:off x="100584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Projektziel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075426089" name="Shape 13"/>
          <p:cNvSpPr/>
          <p:nvPr/>
        </p:nvSpPr>
        <p:spPr bwMode="auto">
          <a:xfrm>
            <a:off x="411480" y="292608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492451" name="Shape 14"/>
          <p:cNvSpPr/>
          <p:nvPr/>
        </p:nvSpPr>
        <p:spPr bwMode="auto">
          <a:xfrm>
            <a:off x="411480" y="292608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144350226" name="Text 15"/>
          <p:cNvSpPr/>
          <p:nvPr/>
        </p:nvSpPr>
        <p:spPr bwMode="auto">
          <a:xfrm>
            <a:off x="411480" y="292608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400"/>
          </a:p>
        </p:txBody>
      </p:sp>
      <p:sp>
        <p:nvSpPr>
          <p:cNvPr id="2126149793" name="Text 16"/>
          <p:cNvSpPr/>
          <p:nvPr/>
        </p:nvSpPr>
        <p:spPr bwMode="auto">
          <a:xfrm>
            <a:off x="100584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Systemarchitektur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830053037" name="Shape 18"/>
          <p:cNvSpPr/>
          <p:nvPr/>
        </p:nvSpPr>
        <p:spPr bwMode="auto">
          <a:xfrm>
            <a:off x="411480" y="388620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94880504" name="Shape 19"/>
          <p:cNvSpPr/>
          <p:nvPr/>
        </p:nvSpPr>
        <p:spPr bwMode="auto">
          <a:xfrm>
            <a:off x="411480" y="388620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074103900" name="Text 20"/>
          <p:cNvSpPr/>
          <p:nvPr/>
        </p:nvSpPr>
        <p:spPr bwMode="auto">
          <a:xfrm>
            <a:off x="411480" y="388620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1400"/>
          </a:p>
        </p:txBody>
      </p:sp>
      <p:sp>
        <p:nvSpPr>
          <p:cNvPr id="322012116" name="Text 21"/>
          <p:cNvSpPr/>
          <p:nvPr/>
        </p:nvSpPr>
        <p:spPr bwMode="auto">
          <a:xfrm>
            <a:off x="100584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Technologie-Entscheidung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782292812" name="Shape 23"/>
          <p:cNvSpPr/>
          <p:nvPr/>
        </p:nvSpPr>
        <p:spPr bwMode="auto">
          <a:xfrm>
            <a:off x="4754880" y="100584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38495548" name="Shape 24"/>
          <p:cNvSpPr/>
          <p:nvPr/>
        </p:nvSpPr>
        <p:spPr bwMode="auto">
          <a:xfrm>
            <a:off x="4754880" y="100584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297200296" name="Text 25"/>
          <p:cNvSpPr/>
          <p:nvPr/>
        </p:nvSpPr>
        <p:spPr bwMode="auto">
          <a:xfrm>
            <a:off x="4754880" y="10058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</a:t>
            </a:r>
            <a:endParaRPr lang="en-US" sz="1400"/>
          </a:p>
        </p:txBody>
      </p:sp>
      <p:sp>
        <p:nvSpPr>
          <p:cNvPr id="2121776462" name="Text 26"/>
          <p:cNvSpPr/>
          <p:nvPr/>
        </p:nvSpPr>
        <p:spPr bwMode="auto">
          <a:xfrm>
            <a:off x="534924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Implementierung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46939193" name="Shape 28"/>
          <p:cNvSpPr/>
          <p:nvPr/>
        </p:nvSpPr>
        <p:spPr bwMode="auto">
          <a:xfrm>
            <a:off x="4754880" y="196596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53839944" name="Shape 29"/>
          <p:cNvSpPr/>
          <p:nvPr/>
        </p:nvSpPr>
        <p:spPr bwMode="auto">
          <a:xfrm>
            <a:off x="4754880" y="196596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60231556" name="Text 30"/>
          <p:cNvSpPr/>
          <p:nvPr/>
        </p:nvSpPr>
        <p:spPr bwMode="auto">
          <a:xfrm>
            <a:off x="4754880" y="196596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06</a:t>
            </a:r>
            <a:endParaRPr lang="en-US" sz="1400"/>
          </a:p>
        </p:txBody>
      </p:sp>
      <p:sp>
        <p:nvSpPr>
          <p:cNvPr id="1783669986" name="Text 31"/>
          <p:cNvSpPr/>
          <p:nvPr/>
        </p:nvSpPr>
        <p:spPr bwMode="auto">
          <a:xfrm>
            <a:off x="534924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Tests &amp; Ergebnisse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304377321" name="Shape 33"/>
          <p:cNvSpPr/>
          <p:nvPr/>
        </p:nvSpPr>
        <p:spPr bwMode="auto">
          <a:xfrm>
            <a:off x="4754880" y="292608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68786287" name="Shape 34"/>
          <p:cNvSpPr/>
          <p:nvPr/>
        </p:nvSpPr>
        <p:spPr bwMode="auto">
          <a:xfrm>
            <a:off x="4754880" y="292608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278365891" name="Text 35"/>
          <p:cNvSpPr/>
          <p:nvPr/>
        </p:nvSpPr>
        <p:spPr bwMode="auto">
          <a:xfrm>
            <a:off x="4754880" y="292608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07</a:t>
            </a:r>
            <a:endParaRPr lang="en-US" sz="1400"/>
          </a:p>
        </p:txBody>
      </p:sp>
      <p:sp>
        <p:nvSpPr>
          <p:cNvPr id="560667217" name="Text 36"/>
          <p:cNvSpPr/>
          <p:nvPr/>
        </p:nvSpPr>
        <p:spPr bwMode="auto">
          <a:xfrm>
            <a:off x="534924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Nutzwertanalyse &amp; Empfehlung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22782640" name="Shape 38"/>
          <p:cNvSpPr/>
          <p:nvPr/>
        </p:nvSpPr>
        <p:spPr bwMode="auto">
          <a:xfrm>
            <a:off x="4754880" y="388620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54790769" name="Shape 39"/>
          <p:cNvSpPr/>
          <p:nvPr/>
        </p:nvSpPr>
        <p:spPr bwMode="auto">
          <a:xfrm>
            <a:off x="4754880" y="388620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11946519" name="Text 40"/>
          <p:cNvSpPr/>
          <p:nvPr/>
        </p:nvSpPr>
        <p:spPr bwMode="auto">
          <a:xfrm>
            <a:off x="4754880" y="388620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08</a:t>
            </a:r>
            <a:endParaRPr lang="en-US" sz="1400"/>
          </a:p>
        </p:txBody>
      </p:sp>
      <p:sp>
        <p:nvSpPr>
          <p:cNvPr id="1374344216" name="Text 41"/>
          <p:cNvSpPr/>
          <p:nvPr/>
        </p:nvSpPr>
        <p:spPr bwMode="auto">
          <a:xfrm>
            <a:off x="534924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Fazit &amp; Ausblick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1F4E79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0150301" name="Shape 0"/>
          <p:cNvSpPr/>
          <p:nvPr/>
        </p:nvSpPr>
        <p:spPr bwMode="auto">
          <a:xfrm>
            <a:off x="0" y="0"/>
            <a:ext cx="228600" cy="51435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722920587" name="Text 1"/>
          <p:cNvSpPr/>
          <p:nvPr/>
        </p:nvSpPr>
        <p:spPr bwMode="auto">
          <a:xfrm>
            <a:off x="50292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7200" b="1">
                <a:solidFill>
                  <a:srgbClr val="2E74B5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7200"/>
          </a:p>
        </p:txBody>
      </p:sp>
      <p:sp>
        <p:nvSpPr>
          <p:cNvPr id="1498627751" name="Text 2"/>
          <p:cNvSpPr/>
          <p:nvPr/>
        </p:nvSpPr>
        <p:spPr bwMode="auto">
          <a:xfrm>
            <a:off x="502920" y="2651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Ausgangssituation &amp; Problem</a:t>
            </a:r>
            <a:endParaRPr lang="en-US" sz="3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7F9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1888308" name="Text 0"/>
          <p:cNvSpPr/>
          <p:nvPr/>
        </p:nvSpPr>
        <p:spPr bwMode="auto">
          <a:xfrm>
            <a:off x="411480" y="20116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6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Ausgangssituation bei Bissantz &amp; Company</a:t>
            </a:r>
            <a:endParaRPr lang="en-US" sz="2600"/>
          </a:p>
        </p:txBody>
      </p:sp>
      <p:sp>
        <p:nvSpPr>
          <p:cNvPr id="738687418" name="Shape 1"/>
          <p:cNvSpPr/>
          <p:nvPr/>
        </p:nvSpPr>
        <p:spPr bwMode="auto">
          <a:xfrm>
            <a:off x="411480" y="822960"/>
            <a:ext cx="8321039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6305465" name="Text 3"/>
          <p:cNvSpPr/>
          <p:nvPr/>
        </p:nvSpPr>
        <p:spPr bwMode="auto">
          <a:xfrm>
            <a:off x="411480" y="960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Bissantz &amp; Company GmbH</a:t>
            </a:r>
            <a:endParaRPr lang="en-US" sz="1500"/>
          </a:p>
        </p:txBody>
      </p:sp>
      <p:sp>
        <p:nvSpPr>
          <p:cNvPr id="1188911920" name="Text 4"/>
          <p:cNvSpPr/>
          <p:nvPr/>
        </p:nvSpPr>
        <p:spPr bwMode="auto">
          <a:xfrm>
            <a:off x="411480" y="137160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  <a:defRPr/>
            </a:pPr>
            <a:r>
              <a:rPr lang="en-US" sz="1300" b="1">
                <a:solidFill>
                  <a:srgbClr val="2E74B5"/>
                </a:solidFill>
                <a:latin typeface="Calibri"/>
                <a:ea typeface="Calibri"/>
                <a:cs typeface="Calibri"/>
              </a:rPr>
              <a:t>▪ </a:t>
            </a: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BI-Software DeltaMaster</a:t>
            </a:r>
            <a:b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</a:br>
            <a:r>
              <a:rPr lang="en-US" sz="1300" b="1">
                <a:solidFill>
                  <a:srgbClr val="2E74B5"/>
                </a:solidFill>
                <a:latin typeface="Calibri"/>
                <a:ea typeface="Calibri"/>
                <a:cs typeface="Calibri"/>
              </a:rPr>
              <a:t>▪ </a:t>
            </a: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Standorte: Nürnberg, Hamburg, Schweiz</a:t>
            </a:r>
            <a:b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</a:br>
            <a:r>
              <a:rPr lang="en-US" sz="1300" b="1">
                <a:solidFill>
                  <a:srgbClr val="2E74B5"/>
                </a:solidFill>
                <a:latin typeface="Calibri"/>
                <a:ea typeface="Calibri"/>
                <a:cs typeface="Calibri"/>
              </a:rPr>
              <a:t>▪ </a:t>
            </a: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~100 Mitarbeitende</a:t>
            </a:r>
            <a:b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</a:br>
            <a:r>
              <a:rPr lang="en-US" sz="1300" b="1">
                <a:solidFill>
                  <a:srgbClr val="2E74B5"/>
                </a:solidFill>
                <a:latin typeface="Calibri"/>
                <a:ea typeface="Calibri"/>
                <a:cs typeface="Calibri"/>
              </a:rPr>
              <a:t>▪ </a:t>
            </a: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Kunden: Bosch, Porsche, Leica, Würth</a:t>
            </a:r>
            <a:endParaRPr lang="en-US" sz="1300"/>
          </a:p>
        </p:txBody>
      </p:sp>
      <p:sp>
        <p:nvSpPr>
          <p:cNvPr id="1850133411" name="Text 5"/>
          <p:cNvSpPr/>
          <p:nvPr/>
        </p:nvSpPr>
        <p:spPr bwMode="auto">
          <a:xfrm>
            <a:off x="411480" y="28346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Probleme mit PRTG (kostenlos)</a:t>
            </a:r>
            <a:endParaRPr lang="en-US" sz="1500"/>
          </a:p>
        </p:txBody>
      </p:sp>
      <p:sp>
        <p:nvSpPr>
          <p:cNvPr id="1599779526" name="Shape 6"/>
          <p:cNvSpPr/>
          <p:nvPr/>
        </p:nvSpPr>
        <p:spPr bwMode="auto">
          <a:xfrm>
            <a:off x="411480" y="3291840"/>
            <a:ext cx="393192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1496053002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48640" y="3355848"/>
            <a:ext cx="292608" cy="292608"/>
          </a:xfrm>
          <a:prstGeom prst="rect">
            <a:avLst/>
          </a:prstGeom>
        </p:spPr>
      </p:pic>
      <p:sp>
        <p:nvSpPr>
          <p:cNvPr id="2052574400" name="Text 7"/>
          <p:cNvSpPr/>
          <p:nvPr/>
        </p:nvSpPr>
        <p:spPr bwMode="auto">
          <a:xfrm>
            <a:off x="96012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D97706"/>
                </a:solidFill>
                <a:latin typeface="Calibri"/>
                <a:ea typeface="Calibri"/>
                <a:cs typeface="Calibri"/>
              </a:rPr>
              <a:t>100 Sensor-Limit</a:t>
            </a:r>
            <a:endParaRPr lang="en-US" sz="1200"/>
          </a:p>
        </p:txBody>
      </p:sp>
      <p:sp>
        <p:nvSpPr>
          <p:cNvPr id="1846717344" name="Text 8"/>
          <p:cNvSpPr/>
          <p:nvPr/>
        </p:nvSpPr>
        <p:spPr bwMode="auto">
          <a:xfrm>
            <a:off x="2286000" y="3337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Grenze wird mit wachsender Infrastruktur absehbar erreicht</a:t>
            </a:r>
            <a:endParaRPr lang="en-US" sz="1100"/>
          </a:p>
        </p:txBody>
      </p:sp>
      <p:sp>
        <p:nvSpPr>
          <p:cNvPr id="276940611" name="Shape 9"/>
          <p:cNvSpPr/>
          <p:nvPr/>
        </p:nvSpPr>
        <p:spPr bwMode="auto">
          <a:xfrm>
            <a:off x="411480" y="3840480"/>
            <a:ext cx="393192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193802121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48640" y="3904488"/>
            <a:ext cx="292608" cy="292608"/>
          </a:xfrm>
          <a:prstGeom prst="rect">
            <a:avLst/>
          </a:prstGeom>
        </p:spPr>
      </p:pic>
      <p:sp>
        <p:nvSpPr>
          <p:cNvPr id="1516464048" name="Text 10"/>
          <p:cNvSpPr/>
          <p:nvPr/>
        </p:nvSpPr>
        <p:spPr bwMode="auto">
          <a:xfrm>
            <a:off x="960120" y="3886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D97706"/>
                </a:solidFill>
                <a:latin typeface="Calibri"/>
                <a:ea typeface="Calibri"/>
                <a:cs typeface="Calibri"/>
              </a:rPr>
              <a:t>Unflexible Dashboards</a:t>
            </a:r>
            <a:endParaRPr lang="en-US" sz="1200"/>
          </a:p>
        </p:txBody>
      </p:sp>
      <p:sp>
        <p:nvSpPr>
          <p:cNvPr id="2073709880" name="Text 11"/>
          <p:cNvSpPr/>
          <p:nvPr/>
        </p:nvSpPr>
        <p:spPr bwMode="auto">
          <a:xfrm>
            <a:off x="2286000" y="3886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Alle Geräte in einer langen Liste – kein individuelles Layout</a:t>
            </a:r>
            <a:endParaRPr lang="en-US" sz="1100"/>
          </a:p>
        </p:txBody>
      </p:sp>
      <p:sp>
        <p:nvSpPr>
          <p:cNvPr id="1115381195" name="Shape 12"/>
          <p:cNvSpPr/>
          <p:nvPr/>
        </p:nvSpPr>
        <p:spPr bwMode="auto">
          <a:xfrm>
            <a:off x="411480" y="4389120"/>
            <a:ext cx="393192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1690282771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548640" y="4453128"/>
            <a:ext cx="292608" cy="292608"/>
          </a:xfrm>
          <a:prstGeom prst="rect">
            <a:avLst/>
          </a:prstGeom>
        </p:spPr>
      </p:pic>
      <p:sp>
        <p:nvSpPr>
          <p:cNvPr id="1000692971" name="Text 13"/>
          <p:cNvSpPr/>
          <p:nvPr/>
        </p:nvSpPr>
        <p:spPr bwMode="auto">
          <a:xfrm>
            <a:off x="960120" y="4434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D97706"/>
                </a:solidFill>
                <a:latin typeface="Calibri"/>
                <a:ea typeface="Calibri"/>
                <a:cs typeface="Calibri"/>
              </a:rPr>
              <a:t>Lizenzkosten</a:t>
            </a:r>
            <a:endParaRPr lang="en-US" sz="1200"/>
          </a:p>
        </p:txBody>
      </p:sp>
      <p:sp>
        <p:nvSpPr>
          <p:cNvPr id="1919364312" name="Text 14"/>
          <p:cNvSpPr/>
          <p:nvPr/>
        </p:nvSpPr>
        <p:spPr bwMode="auto">
          <a:xfrm>
            <a:off x="2286000" y="4434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Erweiterung auf mehr Sensoren: mehrere Tausend € / Jahr</a:t>
            </a:r>
            <a:endParaRPr lang="en-US" sz="1100"/>
          </a:p>
        </p:txBody>
      </p:sp>
      <p:sp>
        <p:nvSpPr>
          <p:cNvPr id="1584684426" name="Shape 15"/>
          <p:cNvSpPr/>
          <p:nvPr/>
        </p:nvSpPr>
        <p:spPr bwMode="auto">
          <a:xfrm>
            <a:off x="4754880" y="914400"/>
            <a:ext cx="1920240" cy="1188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25466324" name="Text 16"/>
          <p:cNvSpPr/>
          <p:nvPr/>
        </p:nvSpPr>
        <p:spPr bwMode="auto">
          <a:xfrm>
            <a:off x="4754880" y="1051560"/>
            <a:ext cx="192024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3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100</a:t>
            </a:r>
            <a:endParaRPr lang="en-US" sz="3600"/>
          </a:p>
        </p:txBody>
      </p:sp>
      <p:sp>
        <p:nvSpPr>
          <p:cNvPr id="857464497" name="Text 17"/>
          <p:cNvSpPr/>
          <p:nvPr/>
        </p:nvSpPr>
        <p:spPr bwMode="auto">
          <a:xfrm>
            <a:off x="4754880" y="1651406"/>
            <a:ext cx="192024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Sensor-Limit (kostenlos)</a:t>
            </a:r>
            <a:endParaRPr lang="en-US" sz="1200"/>
          </a:p>
        </p:txBody>
      </p:sp>
      <p:sp>
        <p:nvSpPr>
          <p:cNvPr id="907514919" name="Shape 18"/>
          <p:cNvSpPr/>
          <p:nvPr/>
        </p:nvSpPr>
        <p:spPr bwMode="auto">
          <a:xfrm>
            <a:off x="6812280" y="914400"/>
            <a:ext cx="1920240" cy="11887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72368189" name="Text 19"/>
          <p:cNvSpPr/>
          <p:nvPr/>
        </p:nvSpPr>
        <p:spPr bwMode="auto">
          <a:xfrm>
            <a:off x="6812280" y="1051560"/>
            <a:ext cx="192024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3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5+</a:t>
            </a:r>
            <a:endParaRPr lang="en-US" sz="3600"/>
          </a:p>
        </p:txBody>
      </p:sp>
      <p:sp>
        <p:nvSpPr>
          <p:cNvPr id="977488763" name="Text 20"/>
          <p:cNvSpPr/>
          <p:nvPr/>
        </p:nvSpPr>
        <p:spPr bwMode="auto">
          <a:xfrm>
            <a:off x="6812280" y="1651406"/>
            <a:ext cx="192024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Systeme zu überwachen</a:t>
            </a:r>
            <a:endParaRPr lang="en-US" sz="1200"/>
          </a:p>
        </p:txBody>
      </p:sp>
      <p:sp>
        <p:nvSpPr>
          <p:cNvPr id="560082008" name="Shape 21"/>
          <p:cNvSpPr/>
          <p:nvPr/>
        </p:nvSpPr>
        <p:spPr bwMode="auto">
          <a:xfrm>
            <a:off x="4754880" y="2240280"/>
            <a:ext cx="3977640" cy="1188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96639340" name="Text 22"/>
          <p:cNvSpPr/>
          <p:nvPr/>
        </p:nvSpPr>
        <p:spPr bwMode="auto">
          <a:xfrm>
            <a:off x="4754880" y="2377440"/>
            <a:ext cx="397764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3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mehrere T€</a:t>
            </a:r>
            <a:endParaRPr lang="en-US" sz="3600"/>
          </a:p>
        </p:txBody>
      </p:sp>
      <p:sp>
        <p:nvSpPr>
          <p:cNvPr id="184173501" name="Text 23"/>
          <p:cNvSpPr/>
          <p:nvPr/>
        </p:nvSpPr>
        <p:spPr bwMode="auto">
          <a:xfrm>
            <a:off x="4754880" y="2977286"/>
            <a:ext cx="397764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Lizenzkosten p.a. für unbegrenzte Sensoren</a:t>
            </a:r>
            <a:endParaRPr lang="en-US" sz="1200"/>
          </a:p>
        </p:txBody>
      </p:sp>
      <p:sp>
        <p:nvSpPr>
          <p:cNvPr id="955833805" name="Text 24"/>
          <p:cNvSpPr/>
          <p:nvPr/>
        </p:nvSpPr>
        <p:spPr bwMode="auto">
          <a:xfrm>
            <a:off x="4663440" y="3611880"/>
            <a:ext cx="4069080" cy="548640"/>
          </a:xfrm>
          <a:prstGeom prst="rect">
            <a:avLst/>
          </a:prstGeom>
          <a:solidFill>
            <a:srgbClr val="D6E4F0"/>
          </a:solidFill>
          <a:ln/>
        </p:spPr>
        <p:txBody>
          <a:bodyPr wrap="square" lIns="101600" tIns="152400" rIns="152400" bIns="10160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→  Ziel: Kostenfreie, skalierbare Alternative evaluieren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1F4E79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2102927" name="Shape 0"/>
          <p:cNvSpPr/>
          <p:nvPr/>
        </p:nvSpPr>
        <p:spPr bwMode="auto">
          <a:xfrm>
            <a:off x="0" y="0"/>
            <a:ext cx="228600" cy="51435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399976351" name="Text 1"/>
          <p:cNvSpPr/>
          <p:nvPr/>
        </p:nvSpPr>
        <p:spPr bwMode="auto">
          <a:xfrm>
            <a:off x="50292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7200" b="1">
                <a:solidFill>
                  <a:srgbClr val="2E74B5"/>
                </a:solidFill>
                <a:latin typeface="Calibri"/>
                <a:ea typeface="Calibri"/>
                <a:cs typeface="Calibri"/>
              </a:rPr>
              <a:t>02</a:t>
            </a:r>
            <a:endParaRPr lang="en-US" sz="7200"/>
          </a:p>
        </p:txBody>
      </p:sp>
      <p:sp>
        <p:nvSpPr>
          <p:cNvPr id="56929695" name="Text 2"/>
          <p:cNvSpPr/>
          <p:nvPr/>
        </p:nvSpPr>
        <p:spPr bwMode="auto">
          <a:xfrm>
            <a:off x="502920" y="2651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Projektziel</a:t>
            </a:r>
            <a:endParaRPr lang="en-US" sz="3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F7F9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8716581" name="Text 0"/>
          <p:cNvSpPr/>
          <p:nvPr/>
        </p:nvSpPr>
        <p:spPr bwMode="auto">
          <a:xfrm>
            <a:off x="411480" y="20116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6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Projektziel</a:t>
            </a:r>
            <a:endParaRPr lang="en-US" sz="2600"/>
          </a:p>
        </p:txBody>
      </p:sp>
      <p:sp>
        <p:nvSpPr>
          <p:cNvPr id="1229888583" name="Shape 1"/>
          <p:cNvSpPr/>
          <p:nvPr/>
        </p:nvSpPr>
        <p:spPr bwMode="auto">
          <a:xfrm>
            <a:off x="411480" y="822960"/>
            <a:ext cx="8321039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56826145" name="Shape 3"/>
          <p:cNvSpPr/>
          <p:nvPr/>
        </p:nvSpPr>
        <p:spPr bwMode="auto">
          <a:xfrm>
            <a:off x="411480" y="960120"/>
            <a:ext cx="39776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832693626" name="Shape 4"/>
          <p:cNvSpPr/>
          <p:nvPr/>
        </p:nvSpPr>
        <p:spPr bwMode="auto">
          <a:xfrm>
            <a:off x="548640" y="1143000"/>
            <a:ext cx="640080" cy="6400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1099676992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12648" y="1207008"/>
            <a:ext cx="502920" cy="502920"/>
          </a:xfrm>
          <a:prstGeom prst="rect">
            <a:avLst/>
          </a:prstGeom>
        </p:spPr>
      </p:pic>
      <p:sp>
        <p:nvSpPr>
          <p:cNvPr id="1418867774" name="Text 5"/>
          <p:cNvSpPr/>
          <p:nvPr/>
        </p:nvSpPr>
        <p:spPr bwMode="auto">
          <a:xfrm>
            <a:off x="1325880" y="112471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Virtuelle Testumgebung aufbauen</a:t>
            </a:r>
            <a:endParaRPr lang="en-US" sz="1300"/>
          </a:p>
        </p:txBody>
      </p:sp>
      <p:sp>
        <p:nvSpPr>
          <p:cNvPr id="965645027" name="Text 6"/>
          <p:cNvSpPr/>
          <p:nvPr/>
        </p:nvSpPr>
        <p:spPr bwMode="auto">
          <a:xfrm>
            <a:off x="1325880" y="15544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de-DE" sz="12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4</a:t>
            </a: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 VMs + Host-Rechner als überwachte Systeme</a:t>
            </a:r>
            <a:endParaRPr lang="en-US" sz="1200"/>
          </a:p>
        </p:txBody>
      </p:sp>
      <p:sp>
        <p:nvSpPr>
          <p:cNvPr id="70640016" name="Shape 7"/>
          <p:cNvSpPr/>
          <p:nvPr/>
        </p:nvSpPr>
        <p:spPr bwMode="auto">
          <a:xfrm>
            <a:off x="411480" y="960120"/>
            <a:ext cx="64008" cy="155448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569696432" name="Shape 8"/>
          <p:cNvSpPr/>
          <p:nvPr/>
        </p:nvSpPr>
        <p:spPr bwMode="auto">
          <a:xfrm>
            <a:off x="4800600" y="960120"/>
            <a:ext cx="39776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475466906" name="Shape 9"/>
          <p:cNvSpPr/>
          <p:nvPr/>
        </p:nvSpPr>
        <p:spPr bwMode="auto">
          <a:xfrm>
            <a:off x="4937760" y="1143000"/>
            <a:ext cx="640080" cy="6400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2065325213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001768" y="1207008"/>
            <a:ext cx="502920" cy="502920"/>
          </a:xfrm>
          <a:prstGeom prst="rect">
            <a:avLst/>
          </a:prstGeom>
        </p:spPr>
      </p:pic>
      <p:sp>
        <p:nvSpPr>
          <p:cNvPr id="445741387" name="Text 10"/>
          <p:cNvSpPr/>
          <p:nvPr/>
        </p:nvSpPr>
        <p:spPr bwMode="auto">
          <a:xfrm>
            <a:off x="5715000" y="112471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Prometheus &amp; Grafana implementieren</a:t>
            </a:r>
            <a:endParaRPr lang="en-US" sz="1300"/>
          </a:p>
        </p:txBody>
      </p:sp>
      <p:sp>
        <p:nvSpPr>
          <p:cNvPr id="720098675" name="Text 11"/>
          <p:cNvSpPr/>
          <p:nvPr/>
        </p:nvSpPr>
        <p:spPr bwMode="auto">
          <a:xfrm>
            <a:off x="5715000" y="15544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Metriken erfassen, speichern und visualisieren</a:t>
            </a:r>
            <a:endParaRPr lang="en-US" sz="1200"/>
          </a:p>
        </p:txBody>
      </p:sp>
      <p:sp>
        <p:nvSpPr>
          <p:cNvPr id="147486795" name="Shape 12"/>
          <p:cNvSpPr/>
          <p:nvPr/>
        </p:nvSpPr>
        <p:spPr bwMode="auto">
          <a:xfrm>
            <a:off x="4800600" y="960120"/>
            <a:ext cx="64008" cy="155448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834199099" name="Shape 13"/>
          <p:cNvSpPr/>
          <p:nvPr/>
        </p:nvSpPr>
        <p:spPr bwMode="auto">
          <a:xfrm>
            <a:off x="411480" y="2697480"/>
            <a:ext cx="39776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1684180428" name="Shape 14"/>
          <p:cNvSpPr/>
          <p:nvPr/>
        </p:nvSpPr>
        <p:spPr bwMode="auto">
          <a:xfrm>
            <a:off x="548640" y="2880360"/>
            <a:ext cx="640080" cy="6400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1279485001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12648" y="2944368"/>
            <a:ext cx="502920" cy="502920"/>
          </a:xfrm>
          <a:prstGeom prst="rect">
            <a:avLst/>
          </a:prstGeom>
        </p:spPr>
      </p:pic>
      <p:sp>
        <p:nvSpPr>
          <p:cNvPr id="622404447" name="Text 15"/>
          <p:cNvSpPr/>
          <p:nvPr/>
        </p:nvSpPr>
        <p:spPr bwMode="auto">
          <a:xfrm>
            <a:off x="1325880" y="286207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Automatisches Alerting einrichten</a:t>
            </a:r>
            <a:endParaRPr lang="en-US" sz="1300"/>
          </a:p>
        </p:txBody>
      </p:sp>
      <p:sp>
        <p:nvSpPr>
          <p:cNvPr id="554566687" name="Text 16"/>
          <p:cNvSpPr/>
          <p:nvPr/>
        </p:nvSpPr>
        <p:spPr bwMode="auto">
          <a:xfrm>
            <a:off x="1325880" y="32918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E-Mail-Benachrichtigung bei Systemausfall</a:t>
            </a:r>
            <a:endParaRPr lang="en-US" sz="1200"/>
          </a:p>
        </p:txBody>
      </p:sp>
      <p:sp>
        <p:nvSpPr>
          <p:cNvPr id="1801604178" name="Shape 17"/>
          <p:cNvSpPr/>
          <p:nvPr/>
        </p:nvSpPr>
        <p:spPr bwMode="auto">
          <a:xfrm>
            <a:off x="411480" y="2697480"/>
            <a:ext cx="64008" cy="155448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767964679" name="Shape 18"/>
          <p:cNvSpPr/>
          <p:nvPr/>
        </p:nvSpPr>
        <p:spPr bwMode="auto">
          <a:xfrm>
            <a:off x="4800600" y="2697480"/>
            <a:ext cx="39776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682691640" name="Shape 19"/>
          <p:cNvSpPr/>
          <p:nvPr/>
        </p:nvSpPr>
        <p:spPr bwMode="auto">
          <a:xfrm>
            <a:off x="4937760" y="2880360"/>
            <a:ext cx="640080" cy="6400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1927719833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5001768" y="2944368"/>
            <a:ext cx="502920" cy="502920"/>
          </a:xfrm>
          <a:prstGeom prst="rect">
            <a:avLst/>
          </a:prstGeom>
        </p:spPr>
      </p:pic>
      <p:sp>
        <p:nvSpPr>
          <p:cNvPr id="2020927917" name="Text 20"/>
          <p:cNvSpPr/>
          <p:nvPr/>
        </p:nvSpPr>
        <p:spPr bwMode="auto">
          <a:xfrm>
            <a:off x="5715000" y="286207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PRTG vs. Prometheus/Grafana evaluieren</a:t>
            </a:r>
            <a:endParaRPr lang="en-US" sz="1300"/>
          </a:p>
        </p:txBody>
      </p:sp>
      <p:sp>
        <p:nvSpPr>
          <p:cNvPr id="1304411092" name="Text 21"/>
          <p:cNvSpPr/>
          <p:nvPr/>
        </p:nvSpPr>
        <p:spPr bwMode="auto">
          <a:xfrm>
            <a:off x="5715000" y="32918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Nutzwertanalyse als Entscheidungsgrundlage</a:t>
            </a:r>
            <a:endParaRPr lang="en-US" sz="1200"/>
          </a:p>
        </p:txBody>
      </p:sp>
      <p:sp>
        <p:nvSpPr>
          <p:cNvPr id="1085620951" name="Shape 22"/>
          <p:cNvSpPr/>
          <p:nvPr/>
        </p:nvSpPr>
        <p:spPr bwMode="auto">
          <a:xfrm>
            <a:off x="4800600" y="2697480"/>
            <a:ext cx="64008" cy="155448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1F4E79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0035734" name="Shape 0"/>
          <p:cNvSpPr/>
          <p:nvPr/>
        </p:nvSpPr>
        <p:spPr bwMode="auto">
          <a:xfrm>
            <a:off x="0" y="0"/>
            <a:ext cx="228600" cy="51435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497226579" name="Text 1"/>
          <p:cNvSpPr/>
          <p:nvPr/>
        </p:nvSpPr>
        <p:spPr bwMode="auto">
          <a:xfrm>
            <a:off x="50292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7200" b="1">
                <a:solidFill>
                  <a:srgbClr val="2E74B5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7200"/>
          </a:p>
        </p:txBody>
      </p:sp>
      <p:sp>
        <p:nvSpPr>
          <p:cNvPr id="1971545170" name="Text 2"/>
          <p:cNvSpPr/>
          <p:nvPr/>
        </p:nvSpPr>
        <p:spPr bwMode="auto">
          <a:xfrm>
            <a:off x="502920" y="2651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Systemarchitektur</a:t>
            </a:r>
            <a:endParaRPr lang="en-US" sz="3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F7F9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729828" name="Text 0"/>
          <p:cNvSpPr/>
          <p:nvPr/>
        </p:nvSpPr>
        <p:spPr bwMode="auto">
          <a:xfrm>
            <a:off x="411480" y="20116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6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Systemarchitektur der Testumgebung</a:t>
            </a:r>
            <a:endParaRPr lang="en-US" sz="2600"/>
          </a:p>
        </p:txBody>
      </p:sp>
      <p:sp>
        <p:nvSpPr>
          <p:cNvPr id="120702417" name="Shape 1"/>
          <p:cNvSpPr/>
          <p:nvPr/>
        </p:nvSpPr>
        <p:spPr bwMode="auto">
          <a:xfrm>
            <a:off x="411480" y="822960"/>
            <a:ext cx="8321039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4951705" name="Text 3"/>
          <p:cNvSpPr/>
          <p:nvPr/>
        </p:nvSpPr>
        <p:spPr bwMode="auto">
          <a:xfrm>
            <a:off x="411480" y="9601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Überwachte Systeme</a:t>
            </a:r>
            <a:endParaRPr lang="en-US" sz="1400"/>
          </a:p>
        </p:txBody>
      </p:sp>
      <p:sp>
        <p:nvSpPr>
          <p:cNvPr id="451211784" name="Shape 4"/>
          <p:cNvSpPr/>
          <p:nvPr/>
        </p:nvSpPr>
        <p:spPr bwMode="auto">
          <a:xfrm>
            <a:off x="411480" y="1371600"/>
            <a:ext cx="3657600" cy="594360"/>
          </a:xfrm>
          <a:prstGeom prst="rect">
            <a:avLst/>
          </a:prstGeom>
          <a:solidFill>
            <a:srgbClr val="EBF5FB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695654336" name="Shape 5"/>
          <p:cNvSpPr/>
          <p:nvPr/>
        </p:nvSpPr>
        <p:spPr bwMode="auto">
          <a:xfrm>
            <a:off x="411480" y="1371600"/>
            <a:ext cx="64008" cy="59436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336984198" name="Text 6"/>
          <p:cNvSpPr/>
          <p:nvPr/>
        </p:nvSpPr>
        <p:spPr bwMode="auto">
          <a:xfrm>
            <a:off x="594360" y="14173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Windows 11 VM</a:t>
            </a:r>
            <a:endParaRPr lang="en-US" sz="1200"/>
          </a:p>
        </p:txBody>
      </p:sp>
      <p:sp>
        <p:nvSpPr>
          <p:cNvPr id="1043680759" name="Text 7"/>
          <p:cNvSpPr/>
          <p:nvPr/>
        </p:nvSpPr>
        <p:spPr bwMode="auto">
          <a:xfrm>
            <a:off x="594360" y="167335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Client  |  Windows Exporter :9182</a:t>
            </a:r>
            <a:endParaRPr lang="en-US" sz="1000"/>
          </a:p>
        </p:txBody>
      </p:sp>
      <p:sp>
        <p:nvSpPr>
          <p:cNvPr id="2049797370" name="Shape 8"/>
          <p:cNvSpPr/>
          <p:nvPr/>
        </p:nvSpPr>
        <p:spPr bwMode="auto">
          <a:xfrm>
            <a:off x="411480" y="2057400"/>
            <a:ext cx="3657600" cy="594360"/>
          </a:xfrm>
          <a:prstGeom prst="rect">
            <a:avLst/>
          </a:prstGeom>
          <a:solidFill>
            <a:srgbClr val="EBF5FB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551245476" name="Shape 9"/>
          <p:cNvSpPr/>
          <p:nvPr/>
        </p:nvSpPr>
        <p:spPr bwMode="auto">
          <a:xfrm>
            <a:off x="411480" y="2057400"/>
            <a:ext cx="64008" cy="59436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951658635" name="Text 10"/>
          <p:cNvSpPr/>
          <p:nvPr/>
        </p:nvSpPr>
        <p:spPr bwMode="auto">
          <a:xfrm>
            <a:off x="594360" y="21031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Windows Server 2022</a:t>
            </a:r>
            <a:endParaRPr lang="en-US" sz="1200"/>
          </a:p>
        </p:txBody>
      </p:sp>
      <p:sp>
        <p:nvSpPr>
          <p:cNvPr id="1294134032" name="Text 11"/>
          <p:cNvSpPr/>
          <p:nvPr/>
        </p:nvSpPr>
        <p:spPr bwMode="auto">
          <a:xfrm>
            <a:off x="594360" y="235915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FTP-Server  |  Windows Exporter :9182</a:t>
            </a:r>
            <a:endParaRPr lang="en-US" sz="1000"/>
          </a:p>
        </p:txBody>
      </p:sp>
      <p:sp>
        <p:nvSpPr>
          <p:cNvPr id="633632301" name="Shape 12"/>
          <p:cNvSpPr/>
          <p:nvPr/>
        </p:nvSpPr>
        <p:spPr bwMode="auto">
          <a:xfrm>
            <a:off x="411480" y="2743200"/>
            <a:ext cx="3657600" cy="594360"/>
          </a:xfrm>
          <a:prstGeom prst="rect">
            <a:avLst/>
          </a:prstGeom>
          <a:solidFill>
            <a:srgbClr val="EBF5FB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463769474" name="Shape 13"/>
          <p:cNvSpPr/>
          <p:nvPr/>
        </p:nvSpPr>
        <p:spPr bwMode="auto">
          <a:xfrm>
            <a:off x="411480" y="2743200"/>
            <a:ext cx="64008" cy="59436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532979499" name="Text 14"/>
          <p:cNvSpPr/>
          <p:nvPr/>
        </p:nvSpPr>
        <p:spPr bwMode="auto">
          <a:xfrm>
            <a:off x="594360" y="27889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Ubuntu VM</a:t>
            </a:r>
            <a:endParaRPr lang="en-US" sz="1200"/>
          </a:p>
        </p:txBody>
      </p:sp>
      <p:sp>
        <p:nvSpPr>
          <p:cNvPr id="1403436414" name="Text 15"/>
          <p:cNvSpPr/>
          <p:nvPr/>
        </p:nvSpPr>
        <p:spPr bwMode="auto">
          <a:xfrm>
            <a:off x="594360" y="304495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Webserver  |  Node Exporter :9100</a:t>
            </a:r>
            <a:endParaRPr lang="en-US" sz="1000"/>
          </a:p>
        </p:txBody>
      </p:sp>
      <p:sp>
        <p:nvSpPr>
          <p:cNvPr id="6833234" name="Shape 16"/>
          <p:cNvSpPr/>
          <p:nvPr/>
        </p:nvSpPr>
        <p:spPr bwMode="auto">
          <a:xfrm>
            <a:off x="411480" y="3429000"/>
            <a:ext cx="3657600" cy="594360"/>
          </a:xfrm>
          <a:prstGeom prst="rect">
            <a:avLst/>
          </a:prstGeom>
          <a:solidFill>
            <a:srgbClr val="EBF5FB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228796994" name="Shape 17"/>
          <p:cNvSpPr/>
          <p:nvPr/>
        </p:nvSpPr>
        <p:spPr bwMode="auto">
          <a:xfrm>
            <a:off x="411480" y="3429000"/>
            <a:ext cx="64008" cy="59436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739637071" name="Text 18"/>
          <p:cNvSpPr/>
          <p:nvPr/>
        </p:nvSpPr>
        <p:spPr bwMode="auto">
          <a:xfrm>
            <a:off x="594360" y="34747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Host-Rechner</a:t>
            </a:r>
            <a:endParaRPr lang="en-US" sz="1200"/>
          </a:p>
        </p:txBody>
      </p:sp>
      <p:sp>
        <p:nvSpPr>
          <p:cNvPr id="868937588" name="Text 19"/>
          <p:cNvSpPr/>
          <p:nvPr/>
        </p:nvSpPr>
        <p:spPr bwMode="auto">
          <a:xfrm>
            <a:off x="594360" y="373075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Physisches System  |  Windows Exporter :9182</a:t>
            </a:r>
            <a:endParaRPr lang="en-US" sz="1000"/>
          </a:p>
        </p:txBody>
      </p:sp>
      <p:sp>
        <p:nvSpPr>
          <p:cNvPr id="2095741835" name="Shape 20"/>
          <p:cNvSpPr/>
          <p:nvPr/>
        </p:nvSpPr>
        <p:spPr bwMode="auto">
          <a:xfrm>
            <a:off x="4160519" y="2286000"/>
            <a:ext cx="731520" cy="54864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50758456" name="Text 21"/>
          <p:cNvSpPr/>
          <p:nvPr/>
        </p:nvSpPr>
        <p:spPr bwMode="auto">
          <a:xfrm>
            <a:off x="4133088" y="2359152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scrape</a:t>
            </a:r>
            <a:endParaRPr lang="en-US" sz="900"/>
          </a:p>
          <a:p>
            <a:pPr marL="0" indent="0" algn="ctr">
              <a:buNone/>
              <a:defRPr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15s</a:t>
            </a:r>
            <a:endParaRPr lang="en-US" sz="900"/>
          </a:p>
        </p:txBody>
      </p:sp>
      <p:sp>
        <p:nvSpPr>
          <p:cNvPr id="1874272337" name="Shape 22"/>
          <p:cNvSpPr/>
          <p:nvPr/>
        </p:nvSpPr>
        <p:spPr bwMode="auto">
          <a:xfrm>
            <a:off x="4983480" y="960120"/>
            <a:ext cx="3749040" cy="1965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01521895" name="Text 23"/>
          <p:cNvSpPr/>
          <p:nvPr/>
        </p:nvSpPr>
        <p:spPr bwMode="auto">
          <a:xfrm>
            <a:off x="5074920" y="1005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Monitoring-Server  (Ubuntu VM)</a:t>
            </a:r>
            <a:endParaRPr lang="en-US" sz="1300"/>
          </a:p>
        </p:txBody>
      </p:sp>
      <p:sp>
        <p:nvSpPr>
          <p:cNvPr id="939657310" name="Shape 24"/>
          <p:cNvSpPr/>
          <p:nvPr/>
        </p:nvSpPr>
        <p:spPr bwMode="auto">
          <a:xfrm>
            <a:off x="5166360" y="1481328"/>
            <a:ext cx="3383280" cy="384048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248483411" name="Text 25"/>
          <p:cNvSpPr/>
          <p:nvPr/>
        </p:nvSpPr>
        <p:spPr bwMode="auto">
          <a:xfrm>
            <a:off x="5230368" y="151790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Prometheus</a:t>
            </a:r>
            <a:endParaRPr lang="en-US" sz="1100"/>
          </a:p>
        </p:txBody>
      </p:sp>
      <p:sp>
        <p:nvSpPr>
          <p:cNvPr id="1450073767" name="Text 26"/>
          <p:cNvSpPr/>
          <p:nvPr/>
        </p:nvSpPr>
        <p:spPr bwMode="auto">
          <a:xfrm>
            <a:off x="6446520" y="15361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D6E4F0"/>
                </a:solidFill>
                <a:latin typeface="Calibri"/>
                <a:ea typeface="Calibri"/>
                <a:cs typeface="Calibri"/>
              </a:rPr>
              <a:t>Metriken-Scraping &amp; Speicherung</a:t>
            </a:r>
            <a:endParaRPr lang="en-US" sz="1000"/>
          </a:p>
        </p:txBody>
      </p:sp>
      <p:sp>
        <p:nvSpPr>
          <p:cNvPr id="1285369335" name="Shape 27"/>
          <p:cNvSpPr/>
          <p:nvPr/>
        </p:nvSpPr>
        <p:spPr bwMode="auto">
          <a:xfrm>
            <a:off x="5166360" y="1938528"/>
            <a:ext cx="3383280" cy="384048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72756977" name="Text 28"/>
          <p:cNvSpPr/>
          <p:nvPr/>
        </p:nvSpPr>
        <p:spPr bwMode="auto">
          <a:xfrm>
            <a:off x="5230368" y="197510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Grafana</a:t>
            </a:r>
            <a:endParaRPr lang="en-US" sz="1100"/>
          </a:p>
        </p:txBody>
      </p:sp>
      <p:sp>
        <p:nvSpPr>
          <p:cNvPr id="1054116948" name="Text 29"/>
          <p:cNvSpPr/>
          <p:nvPr/>
        </p:nvSpPr>
        <p:spPr bwMode="auto">
          <a:xfrm>
            <a:off x="6446520" y="19933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D6E4F0"/>
                </a:solidFill>
                <a:latin typeface="Calibri"/>
                <a:ea typeface="Calibri"/>
                <a:cs typeface="Calibri"/>
              </a:rPr>
              <a:t>Dashboards  (Port 3000)</a:t>
            </a:r>
            <a:endParaRPr lang="en-US" sz="1000"/>
          </a:p>
        </p:txBody>
      </p:sp>
      <p:sp>
        <p:nvSpPr>
          <p:cNvPr id="1692561844" name="Shape 30"/>
          <p:cNvSpPr/>
          <p:nvPr/>
        </p:nvSpPr>
        <p:spPr bwMode="auto">
          <a:xfrm>
            <a:off x="5166360" y="2395728"/>
            <a:ext cx="3383280" cy="384048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323944076" name="Text 31"/>
          <p:cNvSpPr/>
          <p:nvPr/>
        </p:nvSpPr>
        <p:spPr bwMode="auto">
          <a:xfrm>
            <a:off x="5230368" y="2432303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Alertmanager</a:t>
            </a:r>
            <a:endParaRPr lang="en-US" sz="1100"/>
          </a:p>
        </p:txBody>
      </p:sp>
      <p:sp>
        <p:nvSpPr>
          <p:cNvPr id="2052723797" name="Text 32"/>
          <p:cNvSpPr/>
          <p:nvPr/>
        </p:nvSpPr>
        <p:spPr bwMode="auto">
          <a:xfrm>
            <a:off x="6446520" y="2450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D6E4F0"/>
                </a:solidFill>
                <a:latin typeface="Calibri"/>
                <a:ea typeface="Calibri"/>
                <a:cs typeface="Calibri"/>
              </a:rPr>
              <a:t>Alert-Routing &amp; E-Mail</a:t>
            </a:r>
            <a:endParaRPr lang="en-US" sz="1000"/>
          </a:p>
        </p:txBody>
      </p:sp>
      <p:sp>
        <p:nvSpPr>
          <p:cNvPr id="179983062" name="Shape 33"/>
          <p:cNvSpPr/>
          <p:nvPr/>
        </p:nvSpPr>
        <p:spPr bwMode="auto">
          <a:xfrm>
            <a:off x="4983480" y="3017519"/>
            <a:ext cx="3749040" cy="502920"/>
          </a:xfrm>
          <a:prstGeom prst="rect">
            <a:avLst/>
          </a:prstGeom>
          <a:solidFill>
            <a:srgbClr val="EBF5FB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080577583" name="Text 34"/>
          <p:cNvSpPr/>
          <p:nvPr/>
        </p:nvSpPr>
        <p:spPr bwMode="auto">
          <a:xfrm>
            <a:off x="5120640" y="307238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Blackbox Exporter: HTTP &amp; ICMP Probes (Erreichbarkeit)</a:t>
            </a:r>
            <a:endParaRPr lang="en-US" sz="1100"/>
          </a:p>
        </p:txBody>
      </p:sp>
      <p:sp>
        <p:nvSpPr>
          <p:cNvPr id="2113879572" name="Shape 35"/>
          <p:cNvSpPr/>
          <p:nvPr/>
        </p:nvSpPr>
        <p:spPr bwMode="auto">
          <a:xfrm>
            <a:off x="411480" y="4219215"/>
            <a:ext cx="8321039" cy="6858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97240031" name="Text 36"/>
          <p:cNvSpPr/>
          <p:nvPr/>
        </p:nvSpPr>
        <p:spPr bwMode="auto">
          <a:xfrm>
            <a:off x="594360" y="4301511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D97706"/>
                </a:solidFill>
                <a:latin typeface="Calibri"/>
                <a:ea typeface="Calibri"/>
                <a:cs typeface="Calibri"/>
              </a:rPr>
              <a:t>⚡  Alertmanager → E-Mail-Benachrichtigung bei Ausfall oder kritischen Schwellenwerten  |  Scrape-Intervall: 15 Sekunden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1F4E79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4877283" name="Shape 0"/>
          <p:cNvSpPr/>
          <p:nvPr/>
        </p:nvSpPr>
        <p:spPr bwMode="auto">
          <a:xfrm>
            <a:off x="0" y="0"/>
            <a:ext cx="228600" cy="51435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263134187" name="Text 1"/>
          <p:cNvSpPr/>
          <p:nvPr/>
        </p:nvSpPr>
        <p:spPr bwMode="auto">
          <a:xfrm>
            <a:off x="50292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7200" b="1">
                <a:solidFill>
                  <a:srgbClr val="2E74B5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7200"/>
          </a:p>
        </p:txBody>
      </p:sp>
      <p:sp>
        <p:nvSpPr>
          <p:cNvPr id="1529109771" name="Text 2"/>
          <p:cNvSpPr/>
          <p:nvPr/>
        </p:nvSpPr>
        <p:spPr bwMode="auto">
          <a:xfrm>
            <a:off x="502920" y="2651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Technologie-Entscheidung</a:t>
            </a:r>
            <a:endParaRPr lang="en-US" sz="3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bg>
      <p:bgPr shadeToTitle="0">
        <a:solidFill>
          <a:srgbClr val="F7F9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5726975" name="Text 0"/>
          <p:cNvSpPr/>
          <p:nvPr/>
        </p:nvSpPr>
        <p:spPr bwMode="auto">
          <a:xfrm>
            <a:off x="411480" y="20116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6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Eingesetzte Technologien</a:t>
            </a:r>
            <a:endParaRPr lang="en-US" sz="2600"/>
          </a:p>
        </p:txBody>
      </p:sp>
      <p:sp>
        <p:nvSpPr>
          <p:cNvPr id="1689081996" name="Shape 1"/>
          <p:cNvSpPr/>
          <p:nvPr/>
        </p:nvSpPr>
        <p:spPr bwMode="auto">
          <a:xfrm>
            <a:off x="411480" y="822960"/>
            <a:ext cx="8321039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11333891" name="Shape 3"/>
          <p:cNvSpPr/>
          <p:nvPr/>
        </p:nvSpPr>
        <p:spPr bwMode="auto">
          <a:xfrm>
            <a:off x="411480" y="96012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sx="100000" sy="100000" kx="0" ky="0" algn="bl" rotWithShape="0">
              <a:srgbClr val="000000">
                <a:alpha val="7000"/>
              </a:srgbClr>
            </a:outerShdw>
          </a:effectLst>
        </p:spPr>
      </p:sp>
      <p:sp>
        <p:nvSpPr>
          <p:cNvPr id="483972915" name="Shape 4"/>
          <p:cNvSpPr/>
          <p:nvPr/>
        </p:nvSpPr>
        <p:spPr bwMode="auto">
          <a:xfrm>
            <a:off x="411480" y="960120"/>
            <a:ext cx="2743200" cy="38404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690132375" name="Text 5"/>
          <p:cNvSpPr/>
          <p:nvPr/>
        </p:nvSpPr>
        <p:spPr bwMode="auto">
          <a:xfrm>
            <a:off x="521208" y="9966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Prometheus</a:t>
            </a:r>
            <a:endParaRPr lang="en-US" sz="1300"/>
          </a:p>
        </p:txBody>
      </p:sp>
      <p:sp>
        <p:nvSpPr>
          <p:cNvPr id="926915875" name="Text 6"/>
          <p:cNvSpPr/>
          <p:nvPr/>
        </p:nvSpPr>
        <p:spPr bwMode="auto">
          <a:xfrm>
            <a:off x="502920" y="1417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Monitoring-Backend</a:t>
            </a:r>
            <a:endParaRPr lang="en-US" sz="1100"/>
          </a:p>
        </p:txBody>
      </p:sp>
      <p:sp>
        <p:nvSpPr>
          <p:cNvPr id="1539219040" name="Text 7"/>
          <p:cNvSpPr/>
          <p:nvPr/>
        </p:nvSpPr>
        <p:spPr bwMode="auto">
          <a:xfrm>
            <a:off x="502920" y="170992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Pull-basiertes Scraping, Time-Series-DB, PromQL, Alert-Regeln</a:t>
            </a:r>
            <a:endParaRPr lang="en-US" sz="1100"/>
          </a:p>
        </p:txBody>
      </p:sp>
      <p:sp>
        <p:nvSpPr>
          <p:cNvPr id="1453580646" name="Shape 8"/>
          <p:cNvSpPr/>
          <p:nvPr/>
        </p:nvSpPr>
        <p:spPr bwMode="auto">
          <a:xfrm>
            <a:off x="3337560" y="96012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sx="100000" sy="100000" kx="0" ky="0" algn="bl" rotWithShape="0">
              <a:srgbClr val="000000">
                <a:alpha val="7000"/>
              </a:srgbClr>
            </a:outerShdw>
          </a:effectLst>
        </p:spPr>
      </p:sp>
      <p:sp>
        <p:nvSpPr>
          <p:cNvPr id="319329823" name="Shape 9"/>
          <p:cNvSpPr/>
          <p:nvPr/>
        </p:nvSpPr>
        <p:spPr bwMode="auto">
          <a:xfrm>
            <a:off x="3337560" y="960120"/>
            <a:ext cx="2743200" cy="384048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431970219" name="Text 10"/>
          <p:cNvSpPr/>
          <p:nvPr/>
        </p:nvSpPr>
        <p:spPr bwMode="auto">
          <a:xfrm>
            <a:off x="3447288" y="9966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Grafana</a:t>
            </a:r>
            <a:endParaRPr lang="en-US" sz="1300"/>
          </a:p>
        </p:txBody>
      </p:sp>
      <p:sp>
        <p:nvSpPr>
          <p:cNvPr id="1900962049" name="Text 11"/>
          <p:cNvSpPr/>
          <p:nvPr/>
        </p:nvSpPr>
        <p:spPr bwMode="auto">
          <a:xfrm>
            <a:off x="3429000" y="1417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2E74B5"/>
                </a:solidFill>
                <a:latin typeface="Calibri"/>
                <a:ea typeface="Calibri"/>
                <a:cs typeface="Calibri"/>
              </a:rPr>
              <a:t>Visualisierung</a:t>
            </a:r>
            <a:endParaRPr lang="en-US" sz="1100"/>
          </a:p>
        </p:txBody>
      </p:sp>
      <p:sp>
        <p:nvSpPr>
          <p:cNvPr id="1860984587" name="Text 12"/>
          <p:cNvSpPr/>
          <p:nvPr/>
        </p:nvSpPr>
        <p:spPr bwMode="auto">
          <a:xfrm>
            <a:off x="3429000" y="170992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Individuelle Dashboards, Datenquellen-Integration, Web-UI Port 3000</a:t>
            </a:r>
            <a:endParaRPr lang="en-US" sz="1100"/>
          </a:p>
        </p:txBody>
      </p:sp>
      <p:sp>
        <p:nvSpPr>
          <p:cNvPr id="103895243" name="Shape 13"/>
          <p:cNvSpPr/>
          <p:nvPr/>
        </p:nvSpPr>
        <p:spPr bwMode="auto">
          <a:xfrm>
            <a:off x="6263640" y="96012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sx="100000" sy="100000" kx="0" ky="0" algn="bl" rotWithShape="0">
              <a:srgbClr val="000000">
                <a:alpha val="7000"/>
              </a:srgbClr>
            </a:outerShdw>
          </a:effectLst>
        </p:spPr>
      </p:sp>
      <p:sp>
        <p:nvSpPr>
          <p:cNvPr id="251650789" name="Shape 14"/>
          <p:cNvSpPr/>
          <p:nvPr/>
        </p:nvSpPr>
        <p:spPr bwMode="auto">
          <a:xfrm>
            <a:off x="6263640" y="960120"/>
            <a:ext cx="27432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57845952" name="Text 15"/>
          <p:cNvSpPr/>
          <p:nvPr/>
        </p:nvSpPr>
        <p:spPr bwMode="auto">
          <a:xfrm>
            <a:off x="6373368" y="9966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Alertmanager</a:t>
            </a:r>
            <a:endParaRPr lang="en-US" sz="1300"/>
          </a:p>
        </p:txBody>
      </p:sp>
      <p:sp>
        <p:nvSpPr>
          <p:cNvPr id="702345956" name="Text 16"/>
          <p:cNvSpPr/>
          <p:nvPr/>
        </p:nvSpPr>
        <p:spPr bwMode="auto">
          <a:xfrm>
            <a:off x="6355080" y="1417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Alerting</a:t>
            </a:r>
            <a:endParaRPr lang="en-US" sz="1100"/>
          </a:p>
        </p:txBody>
      </p:sp>
      <p:sp>
        <p:nvSpPr>
          <p:cNvPr id="334033921" name="Text 17"/>
          <p:cNvSpPr/>
          <p:nvPr/>
        </p:nvSpPr>
        <p:spPr bwMode="auto">
          <a:xfrm>
            <a:off x="6355080" y="170992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E-Mail-Routing, Gruppierung, Stilles Alarmmanagement</a:t>
            </a:r>
            <a:endParaRPr lang="en-US" sz="1100"/>
          </a:p>
        </p:txBody>
      </p:sp>
      <p:sp>
        <p:nvSpPr>
          <p:cNvPr id="616157370" name="Shape 18"/>
          <p:cNvSpPr/>
          <p:nvPr/>
        </p:nvSpPr>
        <p:spPr bwMode="auto">
          <a:xfrm>
            <a:off x="411480" y="278892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sx="100000" sy="100000" kx="0" ky="0" algn="bl" rotWithShape="0">
              <a:srgbClr val="000000">
                <a:alpha val="7000"/>
              </a:srgbClr>
            </a:outerShdw>
          </a:effectLst>
        </p:spPr>
      </p:sp>
      <p:sp>
        <p:nvSpPr>
          <p:cNvPr id="306291239" name="Shape 19"/>
          <p:cNvSpPr/>
          <p:nvPr/>
        </p:nvSpPr>
        <p:spPr bwMode="auto">
          <a:xfrm>
            <a:off x="411480" y="2788920"/>
            <a:ext cx="2743200" cy="38404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046282817" name="Text 20"/>
          <p:cNvSpPr/>
          <p:nvPr/>
        </p:nvSpPr>
        <p:spPr bwMode="auto">
          <a:xfrm>
            <a:off x="521208" y="28254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Node Exporter</a:t>
            </a:r>
            <a:endParaRPr lang="en-US" sz="1300"/>
          </a:p>
        </p:txBody>
      </p:sp>
      <p:sp>
        <p:nvSpPr>
          <p:cNvPr id="248977945" name="Text 21"/>
          <p:cNvSpPr/>
          <p:nvPr/>
        </p:nvSpPr>
        <p:spPr bwMode="auto">
          <a:xfrm>
            <a:off x="502920" y="3246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6D28D9"/>
                </a:solidFill>
                <a:latin typeface="Calibri"/>
                <a:ea typeface="Calibri"/>
                <a:cs typeface="Calibri"/>
              </a:rPr>
              <a:t>Linux-Metriken</a:t>
            </a:r>
            <a:endParaRPr lang="en-US" sz="1100"/>
          </a:p>
        </p:txBody>
      </p:sp>
      <p:sp>
        <p:nvSpPr>
          <p:cNvPr id="1953079363" name="Text 22"/>
          <p:cNvSpPr/>
          <p:nvPr/>
        </p:nvSpPr>
        <p:spPr bwMode="auto">
          <a:xfrm>
            <a:off x="502920" y="353872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CPU, RAM, Disk, Netzwerk – Port 9100</a:t>
            </a:r>
            <a:endParaRPr lang="en-US" sz="1100"/>
          </a:p>
        </p:txBody>
      </p:sp>
      <p:sp>
        <p:nvSpPr>
          <p:cNvPr id="353330540" name="Shape 23"/>
          <p:cNvSpPr/>
          <p:nvPr/>
        </p:nvSpPr>
        <p:spPr bwMode="auto">
          <a:xfrm>
            <a:off x="3337560" y="278892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sx="100000" sy="100000" kx="0" ky="0" algn="bl" rotWithShape="0">
              <a:srgbClr val="000000">
                <a:alpha val="7000"/>
              </a:srgbClr>
            </a:outerShdw>
          </a:effectLst>
        </p:spPr>
      </p:sp>
      <p:sp>
        <p:nvSpPr>
          <p:cNvPr id="1358871465" name="Shape 24"/>
          <p:cNvSpPr/>
          <p:nvPr/>
        </p:nvSpPr>
        <p:spPr bwMode="auto">
          <a:xfrm>
            <a:off x="3337560" y="2788920"/>
            <a:ext cx="2743200" cy="38404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24192479" name="Text 25"/>
          <p:cNvSpPr/>
          <p:nvPr/>
        </p:nvSpPr>
        <p:spPr bwMode="auto">
          <a:xfrm>
            <a:off x="3447288" y="28254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Windows Exporter</a:t>
            </a:r>
            <a:endParaRPr lang="en-US" sz="1300"/>
          </a:p>
        </p:txBody>
      </p:sp>
      <p:sp>
        <p:nvSpPr>
          <p:cNvPr id="1801627816" name="Text 26"/>
          <p:cNvSpPr/>
          <p:nvPr/>
        </p:nvSpPr>
        <p:spPr bwMode="auto">
          <a:xfrm>
            <a:off x="3429000" y="3246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369A1"/>
                </a:solidFill>
                <a:latin typeface="Calibri"/>
                <a:ea typeface="Calibri"/>
                <a:cs typeface="Calibri"/>
              </a:rPr>
              <a:t>Windows-Metriken</a:t>
            </a:r>
            <a:endParaRPr lang="en-US" sz="1100"/>
          </a:p>
        </p:txBody>
      </p:sp>
      <p:sp>
        <p:nvSpPr>
          <p:cNvPr id="893791350" name="Text 27"/>
          <p:cNvSpPr/>
          <p:nvPr/>
        </p:nvSpPr>
        <p:spPr bwMode="auto">
          <a:xfrm>
            <a:off x="3429000" y="353872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CPU, RAM, Disk, Netzwerk – Port 9182</a:t>
            </a:r>
            <a:endParaRPr lang="en-US" sz="1100"/>
          </a:p>
        </p:txBody>
      </p:sp>
      <p:sp>
        <p:nvSpPr>
          <p:cNvPr id="1896857497" name="Shape 28"/>
          <p:cNvSpPr/>
          <p:nvPr/>
        </p:nvSpPr>
        <p:spPr bwMode="auto">
          <a:xfrm>
            <a:off x="6263640" y="278892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sx="100000" sy="100000" kx="0" ky="0" algn="bl" rotWithShape="0">
              <a:srgbClr val="000000">
                <a:alpha val="7000"/>
              </a:srgbClr>
            </a:outerShdw>
          </a:effectLst>
        </p:spPr>
      </p:sp>
      <p:sp>
        <p:nvSpPr>
          <p:cNvPr id="1557030237" name="Shape 29"/>
          <p:cNvSpPr/>
          <p:nvPr/>
        </p:nvSpPr>
        <p:spPr bwMode="auto">
          <a:xfrm>
            <a:off x="6263640" y="2788920"/>
            <a:ext cx="2743200" cy="3840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37866074" name="Text 30"/>
          <p:cNvSpPr/>
          <p:nvPr/>
        </p:nvSpPr>
        <p:spPr bwMode="auto">
          <a:xfrm>
            <a:off x="6373368" y="28254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Blackbox Exporter</a:t>
            </a:r>
            <a:endParaRPr lang="en-US" sz="1300"/>
          </a:p>
        </p:txBody>
      </p:sp>
      <p:sp>
        <p:nvSpPr>
          <p:cNvPr id="918166972" name="Text 31"/>
          <p:cNvSpPr/>
          <p:nvPr/>
        </p:nvSpPr>
        <p:spPr bwMode="auto">
          <a:xfrm>
            <a:off x="6355080" y="3246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F766E"/>
                </a:solidFill>
                <a:latin typeface="Calibri"/>
                <a:ea typeface="Calibri"/>
                <a:cs typeface="Calibri"/>
              </a:rPr>
              <a:t>Erreichbarkeit</a:t>
            </a:r>
            <a:endParaRPr lang="en-US" sz="1100"/>
          </a:p>
        </p:txBody>
      </p:sp>
      <p:sp>
        <p:nvSpPr>
          <p:cNvPr id="273427752" name="Text 32"/>
          <p:cNvSpPr/>
          <p:nvPr/>
        </p:nvSpPr>
        <p:spPr bwMode="auto">
          <a:xfrm>
            <a:off x="6355080" y="353872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HTTP / ICMP Probes – Dienst- und Ping-Monitoring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1">
    <p:bg>
      <p:bgPr shadeToTitle="0">
        <a:solidFill>
          <a:srgbClr val="1F4E79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9990477" name="Shape 0"/>
          <p:cNvSpPr/>
          <p:nvPr/>
        </p:nvSpPr>
        <p:spPr bwMode="auto">
          <a:xfrm>
            <a:off x="0" y="0"/>
            <a:ext cx="228600" cy="51435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423229412" name="Text 1"/>
          <p:cNvSpPr/>
          <p:nvPr/>
        </p:nvSpPr>
        <p:spPr bwMode="auto">
          <a:xfrm>
            <a:off x="50292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7200" b="1">
                <a:solidFill>
                  <a:srgbClr val="2E74B5"/>
                </a:solidFill>
                <a:latin typeface="Calibri"/>
                <a:ea typeface="Calibri"/>
                <a:cs typeface="Calibri"/>
              </a:rPr>
              <a:t>05</a:t>
            </a:r>
            <a:endParaRPr lang="en-US" sz="7200"/>
          </a:p>
        </p:txBody>
      </p:sp>
      <p:sp>
        <p:nvSpPr>
          <p:cNvPr id="1773688468" name="Text 2"/>
          <p:cNvSpPr/>
          <p:nvPr/>
        </p:nvSpPr>
        <p:spPr bwMode="auto">
          <a:xfrm>
            <a:off x="502920" y="2651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Implementierung</a:t>
            </a:r>
            <a:endParaRPr lang="en-US" sz="3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2">
    <p:bg>
      <p:bgPr shadeToTitle="0">
        <a:solidFill>
          <a:srgbClr val="F7F9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6239908" name="Text 0"/>
          <p:cNvSpPr/>
          <p:nvPr/>
        </p:nvSpPr>
        <p:spPr bwMode="auto">
          <a:xfrm>
            <a:off x="411480" y="166656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6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Implementierung – Schritt für Schritt</a:t>
            </a:r>
            <a:endParaRPr lang="en-US" sz="2600"/>
          </a:p>
        </p:txBody>
      </p:sp>
      <p:sp>
        <p:nvSpPr>
          <p:cNvPr id="141096794" name="Shape 1"/>
          <p:cNvSpPr/>
          <p:nvPr/>
        </p:nvSpPr>
        <p:spPr bwMode="auto">
          <a:xfrm>
            <a:off x="411480" y="788448"/>
            <a:ext cx="8321039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86940380" name="Shape 3"/>
          <p:cNvSpPr/>
          <p:nvPr/>
        </p:nvSpPr>
        <p:spPr bwMode="auto">
          <a:xfrm>
            <a:off x="411480" y="925608"/>
            <a:ext cx="8321039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66350422" name="Shape 4"/>
          <p:cNvSpPr/>
          <p:nvPr/>
        </p:nvSpPr>
        <p:spPr bwMode="auto">
          <a:xfrm>
            <a:off x="411480" y="925608"/>
            <a:ext cx="502920" cy="62179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13583295" name="Text 5"/>
          <p:cNvSpPr/>
          <p:nvPr/>
        </p:nvSpPr>
        <p:spPr bwMode="auto">
          <a:xfrm>
            <a:off x="411480" y="925608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lang="en-US" sz="1800"/>
          </a:p>
        </p:txBody>
      </p:sp>
      <p:sp>
        <p:nvSpPr>
          <p:cNvPr id="2143755094" name="Text 6"/>
          <p:cNvSpPr/>
          <p:nvPr/>
        </p:nvSpPr>
        <p:spPr bwMode="auto">
          <a:xfrm>
            <a:off x="1005840" y="980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VMs erstellen &amp; OS installieren</a:t>
            </a:r>
            <a:endParaRPr lang="en-US" sz="1200"/>
          </a:p>
        </p:txBody>
      </p:sp>
      <p:sp>
        <p:nvSpPr>
          <p:cNvPr id="1241077090" name="Text 7"/>
          <p:cNvSpPr/>
          <p:nvPr/>
        </p:nvSpPr>
        <p:spPr bwMode="auto">
          <a:xfrm>
            <a:off x="1005840" y="125479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Ubuntu 22.04 (×2), Windows Server 2022, Windows 11 – alle im selben virtuellen Netz</a:t>
            </a:r>
            <a:endParaRPr lang="en-US" sz="1100"/>
          </a:p>
        </p:txBody>
      </p:sp>
      <p:sp>
        <p:nvSpPr>
          <p:cNvPr id="1065925424" name="Shape 8"/>
          <p:cNvSpPr/>
          <p:nvPr/>
        </p:nvSpPr>
        <p:spPr bwMode="auto">
          <a:xfrm>
            <a:off x="411480" y="1638840"/>
            <a:ext cx="8321039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93661706" name="Shape 9"/>
          <p:cNvSpPr/>
          <p:nvPr/>
        </p:nvSpPr>
        <p:spPr bwMode="auto">
          <a:xfrm>
            <a:off x="411480" y="1638840"/>
            <a:ext cx="502920" cy="621792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617347758" name="Text 10"/>
          <p:cNvSpPr/>
          <p:nvPr/>
        </p:nvSpPr>
        <p:spPr bwMode="auto">
          <a:xfrm>
            <a:off x="411480" y="1638840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lang="en-US" sz="1800"/>
          </a:p>
        </p:txBody>
      </p:sp>
      <p:sp>
        <p:nvSpPr>
          <p:cNvPr id="992388136" name="Text 11"/>
          <p:cNvSpPr/>
          <p:nvPr/>
        </p:nvSpPr>
        <p:spPr bwMode="auto">
          <a:xfrm>
            <a:off x="1005840" y="16937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Dienste installieren</a:t>
            </a:r>
            <a:endParaRPr lang="en-US" sz="1200"/>
          </a:p>
        </p:txBody>
      </p:sp>
      <p:sp>
        <p:nvSpPr>
          <p:cNvPr id="691101513" name="Text 12"/>
          <p:cNvSpPr/>
          <p:nvPr/>
        </p:nvSpPr>
        <p:spPr bwMode="auto">
          <a:xfrm>
            <a:off x="1005840" y="196802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FTP-Server (</a:t>
            </a:r>
            <a:r>
              <a:rPr lang="de-DE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IIS</a:t>
            </a: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) auf Windows Server 2022 · Apache Webserver auf Ubuntu</a:t>
            </a:r>
            <a:endParaRPr lang="en-US" sz="1100"/>
          </a:p>
        </p:txBody>
      </p:sp>
      <p:sp>
        <p:nvSpPr>
          <p:cNvPr id="1538804328" name="Shape 13"/>
          <p:cNvSpPr/>
          <p:nvPr/>
        </p:nvSpPr>
        <p:spPr bwMode="auto">
          <a:xfrm>
            <a:off x="411480" y="2352072"/>
            <a:ext cx="8321039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74622113" name="Shape 14"/>
          <p:cNvSpPr/>
          <p:nvPr/>
        </p:nvSpPr>
        <p:spPr bwMode="auto">
          <a:xfrm>
            <a:off x="411480" y="2352072"/>
            <a:ext cx="502920" cy="62179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508209758" name="Text 15"/>
          <p:cNvSpPr/>
          <p:nvPr/>
        </p:nvSpPr>
        <p:spPr bwMode="auto">
          <a:xfrm>
            <a:off x="411480" y="2352072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lang="en-US" sz="1800"/>
          </a:p>
        </p:txBody>
      </p:sp>
      <p:sp>
        <p:nvSpPr>
          <p:cNvPr id="562656948" name="Text 16"/>
          <p:cNvSpPr/>
          <p:nvPr/>
        </p:nvSpPr>
        <p:spPr bwMode="auto">
          <a:xfrm>
            <a:off x="1005840" y="24069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Exporters auf allen Systemen</a:t>
            </a:r>
            <a:endParaRPr lang="en-US" sz="1200"/>
          </a:p>
        </p:txBody>
      </p:sp>
      <p:sp>
        <p:nvSpPr>
          <p:cNvPr id="1764880135" name="Text 17"/>
          <p:cNvSpPr/>
          <p:nvPr/>
        </p:nvSpPr>
        <p:spPr bwMode="auto">
          <a:xfrm>
            <a:off x="1005840" y="268125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Node Exporter (Linux), Windows Exporter (Windows), Blackbox Exporter (Monitoring-VM)</a:t>
            </a:r>
            <a:endParaRPr lang="en-US" sz="1100"/>
          </a:p>
        </p:txBody>
      </p:sp>
      <p:sp>
        <p:nvSpPr>
          <p:cNvPr id="922177226" name="Shape 18"/>
          <p:cNvSpPr/>
          <p:nvPr/>
        </p:nvSpPr>
        <p:spPr bwMode="auto">
          <a:xfrm>
            <a:off x="411480" y="3065304"/>
            <a:ext cx="8321039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79293264" name="Shape 19"/>
          <p:cNvSpPr/>
          <p:nvPr/>
        </p:nvSpPr>
        <p:spPr bwMode="auto">
          <a:xfrm>
            <a:off x="411480" y="3065304"/>
            <a:ext cx="50292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53877928" name="Text 20"/>
          <p:cNvSpPr/>
          <p:nvPr/>
        </p:nvSpPr>
        <p:spPr bwMode="auto">
          <a:xfrm>
            <a:off x="411480" y="3065304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lang="en-US" sz="1800"/>
          </a:p>
        </p:txBody>
      </p:sp>
      <p:sp>
        <p:nvSpPr>
          <p:cNvPr id="1044276522" name="Text 21"/>
          <p:cNvSpPr/>
          <p:nvPr/>
        </p:nvSpPr>
        <p:spPr bwMode="auto">
          <a:xfrm>
            <a:off x="1005840" y="3120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Prometheus konfigurieren</a:t>
            </a:r>
            <a:endParaRPr lang="en-US" sz="1200"/>
          </a:p>
        </p:txBody>
      </p:sp>
      <p:sp>
        <p:nvSpPr>
          <p:cNvPr id="442684820" name="Text 22"/>
          <p:cNvSpPr/>
          <p:nvPr/>
        </p:nvSpPr>
        <p:spPr bwMode="auto">
          <a:xfrm>
            <a:off x="1005840" y="339448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prometheus.yml: Scrape-Targets, Jobs, Intervall 15s · Als Systemdienst gestartet</a:t>
            </a:r>
            <a:endParaRPr lang="en-US" sz="1100"/>
          </a:p>
        </p:txBody>
      </p:sp>
      <p:sp>
        <p:nvSpPr>
          <p:cNvPr id="897058526" name="Shape 23"/>
          <p:cNvSpPr/>
          <p:nvPr/>
        </p:nvSpPr>
        <p:spPr bwMode="auto">
          <a:xfrm>
            <a:off x="411480" y="3778536"/>
            <a:ext cx="8321039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5331205" name="Shape 24"/>
          <p:cNvSpPr/>
          <p:nvPr/>
        </p:nvSpPr>
        <p:spPr bwMode="auto">
          <a:xfrm>
            <a:off x="411480" y="3778536"/>
            <a:ext cx="502920" cy="62179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388541698" name="Text 25"/>
          <p:cNvSpPr/>
          <p:nvPr/>
        </p:nvSpPr>
        <p:spPr bwMode="auto">
          <a:xfrm>
            <a:off x="411480" y="3778536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lang="en-US" sz="1800"/>
          </a:p>
        </p:txBody>
      </p:sp>
      <p:sp>
        <p:nvSpPr>
          <p:cNvPr id="1071788120" name="Text 26"/>
          <p:cNvSpPr/>
          <p:nvPr/>
        </p:nvSpPr>
        <p:spPr bwMode="auto">
          <a:xfrm>
            <a:off x="1005840" y="3833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Grafana &amp; Dashboards</a:t>
            </a:r>
            <a:endParaRPr lang="en-US" sz="1200"/>
          </a:p>
        </p:txBody>
      </p:sp>
      <p:sp>
        <p:nvSpPr>
          <p:cNvPr id="1581106595" name="Text 27"/>
          <p:cNvSpPr/>
          <p:nvPr/>
        </p:nvSpPr>
        <p:spPr bwMode="auto">
          <a:xfrm>
            <a:off x="1005840" y="410772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Prometheus als Datenquelle · Individuelle Dashboards pro System und Gesamtübersicht</a:t>
            </a:r>
            <a:endParaRPr lang="en-US" sz="1100"/>
          </a:p>
        </p:txBody>
      </p:sp>
      <p:sp>
        <p:nvSpPr>
          <p:cNvPr id="2103267391" name="Shape 28"/>
          <p:cNvSpPr/>
          <p:nvPr/>
        </p:nvSpPr>
        <p:spPr bwMode="auto">
          <a:xfrm>
            <a:off x="411480" y="4491768"/>
            <a:ext cx="8321039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33782344" name="Shape 29"/>
          <p:cNvSpPr/>
          <p:nvPr/>
        </p:nvSpPr>
        <p:spPr bwMode="auto">
          <a:xfrm>
            <a:off x="411480" y="4491768"/>
            <a:ext cx="502920" cy="6217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0493578" name="Text 30"/>
          <p:cNvSpPr/>
          <p:nvPr/>
        </p:nvSpPr>
        <p:spPr bwMode="auto">
          <a:xfrm>
            <a:off x="411480" y="4491768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  <a:endParaRPr lang="en-US" sz="1800"/>
          </a:p>
        </p:txBody>
      </p:sp>
      <p:sp>
        <p:nvSpPr>
          <p:cNvPr id="864439876" name="Text 31"/>
          <p:cNvSpPr/>
          <p:nvPr/>
        </p:nvSpPr>
        <p:spPr bwMode="auto">
          <a:xfrm>
            <a:off x="1005840" y="4546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Alerting konfigurieren</a:t>
            </a:r>
            <a:endParaRPr lang="en-US" sz="1200"/>
          </a:p>
        </p:txBody>
      </p:sp>
      <p:sp>
        <p:nvSpPr>
          <p:cNvPr id="605356952" name="Text 32"/>
          <p:cNvSpPr/>
          <p:nvPr/>
        </p:nvSpPr>
        <p:spPr bwMode="auto">
          <a:xfrm>
            <a:off x="1005840" y="482095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Alert-Regeln (CPU &gt;90%, RAM &gt;85%, Disk </a:t>
            </a:r>
            <a:r>
              <a:rPr lang="de-DE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&gt;</a:t>
            </a:r>
            <a:r>
              <a:rPr lang="de-DE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80</a:t>
            </a: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%, Host down) · Alertmanager → E-Mail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3">
    <p:bg>
      <p:bgPr shadeToTitle="0">
        <a:solidFill>
          <a:srgbClr val="1F4E79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5588733" name="Shape 0"/>
          <p:cNvSpPr/>
          <p:nvPr/>
        </p:nvSpPr>
        <p:spPr bwMode="auto">
          <a:xfrm>
            <a:off x="0" y="0"/>
            <a:ext cx="228600" cy="51435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60563630" name="Text 1"/>
          <p:cNvSpPr/>
          <p:nvPr/>
        </p:nvSpPr>
        <p:spPr bwMode="auto">
          <a:xfrm>
            <a:off x="50292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7200" b="1">
                <a:solidFill>
                  <a:srgbClr val="2E74B5"/>
                </a:solidFill>
                <a:latin typeface="Calibri"/>
                <a:ea typeface="Calibri"/>
                <a:cs typeface="Calibri"/>
              </a:rPr>
              <a:t>06</a:t>
            </a:r>
            <a:endParaRPr lang="en-US" sz="7200"/>
          </a:p>
        </p:txBody>
      </p:sp>
      <p:sp>
        <p:nvSpPr>
          <p:cNvPr id="308522008" name="Text 2"/>
          <p:cNvSpPr/>
          <p:nvPr/>
        </p:nvSpPr>
        <p:spPr bwMode="auto">
          <a:xfrm>
            <a:off x="502920" y="2651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Tests &amp; Ergebnisse</a:t>
            </a:r>
            <a:endParaRPr lang="en-US" sz="3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4">
    <p:bg>
      <p:bgPr shadeToTitle="0">
        <a:solidFill>
          <a:srgbClr val="F7F9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5383221" name="Text 0"/>
          <p:cNvSpPr/>
          <p:nvPr/>
        </p:nvSpPr>
        <p:spPr bwMode="auto">
          <a:xfrm>
            <a:off x="411480" y="20116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6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Testergebnisse</a:t>
            </a:r>
            <a:endParaRPr lang="en-US" sz="2600"/>
          </a:p>
        </p:txBody>
      </p:sp>
      <p:sp>
        <p:nvSpPr>
          <p:cNvPr id="823380143" name="Shape 1"/>
          <p:cNvSpPr/>
          <p:nvPr/>
        </p:nvSpPr>
        <p:spPr bwMode="auto">
          <a:xfrm>
            <a:off x="411480" y="822960"/>
            <a:ext cx="8321039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9266883" name="Shape 3"/>
          <p:cNvSpPr/>
          <p:nvPr/>
        </p:nvSpPr>
        <p:spPr bwMode="auto">
          <a:xfrm>
            <a:off x="411480" y="960120"/>
            <a:ext cx="8321039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286340851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48640" y="1069848"/>
            <a:ext cx="347472" cy="347472"/>
          </a:xfrm>
          <a:prstGeom prst="rect">
            <a:avLst/>
          </a:prstGeom>
        </p:spPr>
      </p:pic>
      <p:sp>
        <p:nvSpPr>
          <p:cNvPr id="256780337" name="Text 4"/>
          <p:cNvSpPr/>
          <p:nvPr/>
        </p:nvSpPr>
        <p:spPr bwMode="auto">
          <a:xfrm>
            <a:off x="1005840" y="10149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Exporter-Erreichbarkeit</a:t>
            </a:r>
            <a:endParaRPr lang="en-US" sz="1200"/>
          </a:p>
        </p:txBody>
      </p:sp>
      <p:sp>
        <p:nvSpPr>
          <p:cNvPr id="1761545369" name="Text 5"/>
          <p:cNvSpPr/>
          <p:nvPr/>
        </p:nvSpPr>
        <p:spPr bwMode="auto">
          <a:xfrm>
            <a:off x="1005840" y="1271016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Alle Targets in Prometheus auf Status 'UP'</a:t>
            </a:r>
            <a:endParaRPr lang="en-US" sz="1100"/>
          </a:p>
        </p:txBody>
      </p:sp>
      <p:sp>
        <p:nvSpPr>
          <p:cNvPr id="1523396932" name="Text 6"/>
          <p:cNvSpPr/>
          <p:nvPr/>
        </p:nvSpPr>
        <p:spPr bwMode="auto">
          <a:xfrm>
            <a:off x="7589520" y="105156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1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✓ Bestanden</a:t>
            </a:r>
            <a:endParaRPr lang="en-US" sz="1100"/>
          </a:p>
        </p:txBody>
      </p:sp>
      <p:sp>
        <p:nvSpPr>
          <p:cNvPr id="28370225" name="Shape 7"/>
          <p:cNvSpPr/>
          <p:nvPr/>
        </p:nvSpPr>
        <p:spPr bwMode="auto">
          <a:xfrm>
            <a:off x="411480" y="1618488"/>
            <a:ext cx="8321039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23089402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48640" y="1728216"/>
            <a:ext cx="347472" cy="347472"/>
          </a:xfrm>
          <a:prstGeom prst="rect">
            <a:avLst/>
          </a:prstGeom>
        </p:spPr>
      </p:pic>
      <p:sp>
        <p:nvSpPr>
          <p:cNvPr id="836997205" name="Text 8"/>
          <p:cNvSpPr/>
          <p:nvPr/>
        </p:nvSpPr>
        <p:spPr bwMode="auto">
          <a:xfrm>
            <a:off x="1005840" y="16733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Metrik-Korrektheit</a:t>
            </a:r>
            <a:endParaRPr lang="en-US" sz="1200"/>
          </a:p>
        </p:txBody>
      </p:sp>
      <p:sp>
        <p:nvSpPr>
          <p:cNvPr id="436198241" name="Text 9"/>
          <p:cNvSpPr/>
          <p:nvPr/>
        </p:nvSpPr>
        <p:spPr bwMode="auto">
          <a:xfrm>
            <a:off x="1005840" y="1929384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CPU/RAM-Werte verglichen mit Taskmanager / htop</a:t>
            </a:r>
            <a:endParaRPr lang="en-US" sz="1100"/>
          </a:p>
        </p:txBody>
      </p:sp>
      <p:sp>
        <p:nvSpPr>
          <p:cNvPr id="1679651331" name="Text 10"/>
          <p:cNvSpPr/>
          <p:nvPr/>
        </p:nvSpPr>
        <p:spPr bwMode="auto">
          <a:xfrm>
            <a:off x="7589520" y="170992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1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✓ Bestanden</a:t>
            </a:r>
            <a:endParaRPr lang="en-US" sz="1100"/>
          </a:p>
        </p:txBody>
      </p:sp>
      <p:sp>
        <p:nvSpPr>
          <p:cNvPr id="667126129" name="Shape 11"/>
          <p:cNvSpPr/>
          <p:nvPr/>
        </p:nvSpPr>
        <p:spPr bwMode="auto">
          <a:xfrm>
            <a:off x="411480" y="2276856"/>
            <a:ext cx="8321039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45031831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548640" y="2386584"/>
            <a:ext cx="347472" cy="347472"/>
          </a:xfrm>
          <a:prstGeom prst="rect">
            <a:avLst/>
          </a:prstGeom>
        </p:spPr>
      </p:pic>
      <p:sp>
        <p:nvSpPr>
          <p:cNvPr id="649302859" name="Text 12"/>
          <p:cNvSpPr/>
          <p:nvPr/>
        </p:nvSpPr>
        <p:spPr bwMode="auto">
          <a:xfrm>
            <a:off x="1005840" y="23317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Dashboard-Anzeige</a:t>
            </a:r>
            <a:endParaRPr lang="en-US" sz="1200"/>
          </a:p>
        </p:txBody>
      </p:sp>
      <p:sp>
        <p:nvSpPr>
          <p:cNvPr id="147233559" name="Text 13"/>
          <p:cNvSpPr/>
          <p:nvPr/>
        </p:nvSpPr>
        <p:spPr bwMode="auto">
          <a:xfrm>
            <a:off x="1005840" y="2587752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Grafana zeigt alle Panels vollständig und korrekt</a:t>
            </a:r>
            <a:endParaRPr lang="en-US" sz="1100"/>
          </a:p>
        </p:txBody>
      </p:sp>
      <p:sp>
        <p:nvSpPr>
          <p:cNvPr id="1349542539" name="Text 14"/>
          <p:cNvSpPr/>
          <p:nvPr/>
        </p:nvSpPr>
        <p:spPr bwMode="auto">
          <a:xfrm>
            <a:off x="7589520" y="2368296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1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✓ Bestanden</a:t>
            </a:r>
            <a:endParaRPr lang="en-US" sz="1100"/>
          </a:p>
        </p:txBody>
      </p:sp>
      <p:sp>
        <p:nvSpPr>
          <p:cNvPr id="1546609580" name="Shape 15"/>
          <p:cNvSpPr/>
          <p:nvPr/>
        </p:nvSpPr>
        <p:spPr bwMode="auto">
          <a:xfrm>
            <a:off x="411480" y="2935224"/>
            <a:ext cx="8321039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66214732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548640" y="3044952"/>
            <a:ext cx="347472" cy="347472"/>
          </a:xfrm>
          <a:prstGeom prst="rect">
            <a:avLst/>
          </a:prstGeom>
        </p:spPr>
      </p:pic>
      <p:sp>
        <p:nvSpPr>
          <p:cNvPr id="1799507686" name="Text 16"/>
          <p:cNvSpPr/>
          <p:nvPr/>
        </p:nvSpPr>
        <p:spPr bwMode="auto">
          <a:xfrm>
            <a:off x="1005840" y="29900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Ausfallsimulation</a:t>
            </a:r>
            <a:endParaRPr lang="en-US" sz="1200"/>
          </a:p>
        </p:txBody>
      </p:sp>
      <p:sp>
        <p:nvSpPr>
          <p:cNvPr id="569726906" name="Text 17"/>
          <p:cNvSpPr/>
          <p:nvPr/>
        </p:nvSpPr>
        <p:spPr bwMode="auto">
          <a:xfrm>
            <a:off x="1005840" y="3246120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VM manuell heruntergefahren → Alert ausgelöst</a:t>
            </a:r>
            <a:endParaRPr lang="en-US" sz="1100"/>
          </a:p>
        </p:txBody>
      </p:sp>
      <p:sp>
        <p:nvSpPr>
          <p:cNvPr id="914533594" name="Text 18"/>
          <p:cNvSpPr/>
          <p:nvPr/>
        </p:nvSpPr>
        <p:spPr bwMode="auto">
          <a:xfrm>
            <a:off x="7589520" y="3026664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1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✓ Bestanden</a:t>
            </a:r>
            <a:endParaRPr lang="en-US" sz="1100"/>
          </a:p>
        </p:txBody>
      </p:sp>
      <p:sp>
        <p:nvSpPr>
          <p:cNvPr id="1711237021" name="Shape 19"/>
          <p:cNvSpPr/>
          <p:nvPr/>
        </p:nvSpPr>
        <p:spPr bwMode="auto">
          <a:xfrm>
            <a:off x="411480" y="3593592"/>
            <a:ext cx="8321039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532377916" name="Image 4" descr="preencoded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548640" y="3703320"/>
            <a:ext cx="347472" cy="347472"/>
          </a:xfrm>
          <a:prstGeom prst="rect">
            <a:avLst/>
          </a:prstGeom>
        </p:spPr>
      </p:pic>
      <p:sp>
        <p:nvSpPr>
          <p:cNvPr id="1055956044" name="Text 20"/>
          <p:cNvSpPr/>
          <p:nvPr/>
        </p:nvSpPr>
        <p:spPr bwMode="auto">
          <a:xfrm>
            <a:off x="1005840" y="364845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E-Mail-Alerting</a:t>
            </a:r>
            <a:endParaRPr lang="en-US" sz="1200"/>
          </a:p>
        </p:txBody>
      </p:sp>
      <p:sp>
        <p:nvSpPr>
          <p:cNvPr id="115962415" name="Text 21"/>
          <p:cNvSpPr/>
          <p:nvPr/>
        </p:nvSpPr>
        <p:spPr bwMode="auto">
          <a:xfrm>
            <a:off x="1005840" y="3904488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E-Mail bei VM-Ausfall automatisch empfangen</a:t>
            </a:r>
            <a:endParaRPr lang="en-US" sz="1100"/>
          </a:p>
        </p:txBody>
      </p:sp>
      <p:sp>
        <p:nvSpPr>
          <p:cNvPr id="209288238" name="Text 22"/>
          <p:cNvSpPr/>
          <p:nvPr/>
        </p:nvSpPr>
        <p:spPr bwMode="auto">
          <a:xfrm>
            <a:off x="7589520" y="368503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1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✓ Bestanden</a:t>
            </a:r>
            <a:endParaRPr lang="en-US" sz="1100"/>
          </a:p>
        </p:txBody>
      </p:sp>
      <p:sp>
        <p:nvSpPr>
          <p:cNvPr id="589073897" name="Shape 23"/>
          <p:cNvSpPr/>
          <p:nvPr/>
        </p:nvSpPr>
        <p:spPr bwMode="auto">
          <a:xfrm>
            <a:off x="411480" y="4251960"/>
            <a:ext cx="8321039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939127230" name="Image 5" descr="preencoded.png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548640" y="4361688"/>
            <a:ext cx="347472" cy="347472"/>
          </a:xfrm>
          <a:prstGeom prst="rect">
            <a:avLst/>
          </a:prstGeom>
        </p:spPr>
      </p:pic>
      <p:sp>
        <p:nvSpPr>
          <p:cNvPr id="1248396364" name="Text 24"/>
          <p:cNvSpPr/>
          <p:nvPr/>
        </p:nvSpPr>
        <p:spPr bwMode="auto">
          <a:xfrm>
            <a:off x="1005840" y="43068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HTTP-Monitoring</a:t>
            </a:r>
            <a:endParaRPr lang="en-US" sz="1200"/>
          </a:p>
        </p:txBody>
      </p:sp>
      <p:sp>
        <p:nvSpPr>
          <p:cNvPr id="1347608334" name="Text 25"/>
          <p:cNvSpPr/>
          <p:nvPr/>
        </p:nvSpPr>
        <p:spPr bwMode="auto">
          <a:xfrm>
            <a:off x="1005840" y="4562856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Webserver gestoppt → Blackbox meldet Nichterreichbarkeit</a:t>
            </a:r>
            <a:endParaRPr lang="en-US" sz="1100"/>
          </a:p>
        </p:txBody>
      </p:sp>
      <p:sp>
        <p:nvSpPr>
          <p:cNvPr id="810299731" name="Text 26"/>
          <p:cNvSpPr/>
          <p:nvPr/>
        </p:nvSpPr>
        <p:spPr bwMode="auto">
          <a:xfrm>
            <a:off x="7589520" y="434340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1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✓ Bestanden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5">
    <p:bg>
      <p:bgPr shadeToTitle="0">
        <a:solidFill>
          <a:srgbClr val="1F4E79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9262467" name="Shape 0"/>
          <p:cNvSpPr/>
          <p:nvPr/>
        </p:nvSpPr>
        <p:spPr bwMode="auto">
          <a:xfrm>
            <a:off x="0" y="0"/>
            <a:ext cx="228600" cy="51435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488217266" name="Text 1"/>
          <p:cNvSpPr/>
          <p:nvPr/>
        </p:nvSpPr>
        <p:spPr bwMode="auto">
          <a:xfrm>
            <a:off x="50292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7200" b="1">
                <a:solidFill>
                  <a:srgbClr val="2E74B5"/>
                </a:solidFill>
                <a:latin typeface="Calibri"/>
                <a:ea typeface="Calibri"/>
                <a:cs typeface="Calibri"/>
              </a:rPr>
              <a:t>07</a:t>
            </a:r>
            <a:endParaRPr lang="en-US" sz="7200"/>
          </a:p>
        </p:txBody>
      </p:sp>
      <p:sp>
        <p:nvSpPr>
          <p:cNvPr id="856149883" name="Text 2"/>
          <p:cNvSpPr/>
          <p:nvPr/>
        </p:nvSpPr>
        <p:spPr bwMode="auto">
          <a:xfrm>
            <a:off x="502920" y="2651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Nutzwertanalyse &amp; Empfehlung</a:t>
            </a:r>
            <a:endParaRPr lang="en-US" sz="3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6">
    <p:bg>
      <p:bgPr shadeToTitle="0">
        <a:solidFill>
          <a:srgbClr val="F7F9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4211276" name="Text 0"/>
          <p:cNvSpPr/>
          <p:nvPr/>
        </p:nvSpPr>
        <p:spPr bwMode="auto">
          <a:xfrm>
            <a:off x="411480" y="20116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6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PRTG vs. Prometheus + Grafana</a:t>
            </a:r>
            <a:endParaRPr lang="en-US" sz="2600"/>
          </a:p>
        </p:txBody>
      </p:sp>
      <p:sp>
        <p:nvSpPr>
          <p:cNvPr id="1272907267" name="Shape 1"/>
          <p:cNvSpPr/>
          <p:nvPr/>
        </p:nvSpPr>
        <p:spPr bwMode="auto">
          <a:xfrm>
            <a:off x="411480" y="822960"/>
            <a:ext cx="8321039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860194778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411480" y="960120"/>
          <a:ext cx="8321039" cy="292608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2743200"/>
                <a:gridCol w="731520"/>
                <a:gridCol w="2377440"/>
                <a:gridCol w="2468880"/>
              </a:tblGrid>
              <a:tr h="365760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Kriterium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Gewicht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PRTG kostenlos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Prometheus + Grafana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Lizenzkosten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★★☆☆☆  (2)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★★★★★  (5)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Skalierbarkeit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★☆☆☆☆  (1)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★★★★★  (5)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Dashboard-Flexibilität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★★☆☆☆  (2)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★★★★★  (5)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Einrichtungsaufwand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★★★★★  (5)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★★☆☆☆  (2)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Dokumentation/Community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★★★★☆  (4)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★★★★★  (5)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Alerting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★★★☆☆  (3)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★★★★★  (5)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Gesamtpunktzahl (gewichtet)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200" b="1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</a:rPr>
                        <a:t>69 Punkte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200" b="1">
                          <a:solidFill>
                            <a:srgbClr val="0D9488"/>
                          </a:solidFill>
                          <a:latin typeface="Calibri"/>
                          <a:ea typeface="Calibri"/>
                          <a:cs typeface="Calibri"/>
                        </a:rPr>
                        <a:t>108 Punkte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962494395" name="Shape 3"/>
          <p:cNvSpPr/>
          <p:nvPr/>
        </p:nvSpPr>
        <p:spPr bwMode="auto">
          <a:xfrm>
            <a:off x="411480" y="4023360"/>
            <a:ext cx="8321039" cy="822960"/>
          </a:xfrm>
          <a:prstGeom prst="rect">
            <a:avLst/>
          </a:prstGeom>
          <a:solidFill>
            <a:srgbClr val="D1FAE5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876571839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94360" y="4160519"/>
            <a:ext cx="411480" cy="411480"/>
          </a:xfrm>
          <a:prstGeom prst="rect">
            <a:avLst/>
          </a:prstGeom>
        </p:spPr>
      </p:pic>
      <p:sp>
        <p:nvSpPr>
          <p:cNvPr id="1270981502" name="Text 4"/>
          <p:cNvSpPr/>
          <p:nvPr/>
        </p:nvSpPr>
        <p:spPr bwMode="auto">
          <a:xfrm>
            <a:off x="1097280" y="4096512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65F46"/>
                </a:solidFill>
                <a:latin typeface="Calibri"/>
                <a:ea typeface="Calibri"/>
                <a:cs typeface="Calibri"/>
              </a:rPr>
              <a:t>Empfehlung: Prometheus + Grafana als zukünftige Monitoring-Lösung einsetzen — unbegrenzte Sensoren, volle Dashboard-Freiheit, dauerhaft kostenfrei.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7">
    <p:bg>
      <p:bgPr shadeToTitle="0">
        <a:solidFill>
          <a:srgbClr val="1F4E79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9253018" name="Shape 0"/>
          <p:cNvSpPr/>
          <p:nvPr/>
        </p:nvSpPr>
        <p:spPr bwMode="auto">
          <a:xfrm>
            <a:off x="0" y="0"/>
            <a:ext cx="228600" cy="51435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698023676" name="Text 1"/>
          <p:cNvSpPr/>
          <p:nvPr/>
        </p:nvSpPr>
        <p:spPr bwMode="auto">
          <a:xfrm>
            <a:off x="50292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7200" b="1">
                <a:solidFill>
                  <a:srgbClr val="2E74B5"/>
                </a:solidFill>
                <a:latin typeface="Calibri"/>
                <a:ea typeface="Calibri"/>
                <a:cs typeface="Calibri"/>
              </a:rPr>
              <a:t>08</a:t>
            </a:r>
            <a:endParaRPr lang="en-US" sz="7200"/>
          </a:p>
        </p:txBody>
      </p:sp>
      <p:sp>
        <p:nvSpPr>
          <p:cNvPr id="235460868" name="Text 2"/>
          <p:cNvSpPr/>
          <p:nvPr/>
        </p:nvSpPr>
        <p:spPr bwMode="auto">
          <a:xfrm>
            <a:off x="502920" y="2651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Fazit &amp; Ausblick</a:t>
            </a:r>
            <a:endParaRPr lang="en-US" sz="3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8">
    <p:bg>
      <p:bgPr shadeToTitle="0">
        <a:solidFill>
          <a:srgbClr val="F7F9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7522894" name="Text 0"/>
          <p:cNvSpPr/>
          <p:nvPr/>
        </p:nvSpPr>
        <p:spPr bwMode="auto">
          <a:xfrm>
            <a:off x="411480" y="20116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6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Fazit</a:t>
            </a:r>
            <a:endParaRPr lang="en-US" sz="2600"/>
          </a:p>
        </p:txBody>
      </p:sp>
      <p:sp>
        <p:nvSpPr>
          <p:cNvPr id="893738464" name="Shape 1"/>
          <p:cNvSpPr/>
          <p:nvPr/>
        </p:nvSpPr>
        <p:spPr bwMode="auto">
          <a:xfrm>
            <a:off x="411480" y="822960"/>
            <a:ext cx="8321039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47368255" name="Text 3"/>
          <p:cNvSpPr/>
          <p:nvPr/>
        </p:nvSpPr>
        <p:spPr bwMode="auto">
          <a:xfrm>
            <a:off x="411480" y="9601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Soll-/Ist-Vergleich</a:t>
            </a:r>
            <a:endParaRPr lang="en-US" sz="1400"/>
          </a:p>
        </p:txBody>
      </p:sp>
      <p:graphicFrame>
        <p:nvGraphicFramePr>
          <p:cNvPr id="771967619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411480" y="1325880"/>
          <a:ext cx="4846320" cy="146304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2286000"/>
                <a:gridCol w="822960"/>
                <a:gridCol w="822960"/>
                <a:gridCol w="914400"/>
              </a:tblGrid>
              <a:tr h="36576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Planungsphase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9,0 Std.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9,0 Std.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0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0 Std.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Realisierungsphase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20,0 Std.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22,0 Std.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00">
                          <a:solidFill>
                            <a:srgbClr val="D97706"/>
                          </a:solidFill>
                          <a:latin typeface="Calibri"/>
                          <a:ea typeface="Calibri"/>
                          <a:cs typeface="Calibri"/>
                        </a:rPr>
                        <a:t>+2,0 Std.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Projektabschluss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11,0 Std.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9,0 Std.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00">
                          <a:solidFill>
                            <a:srgbClr val="0D9488"/>
                          </a:solidFill>
                          <a:latin typeface="Calibri"/>
                          <a:ea typeface="Calibri"/>
                          <a:cs typeface="Calibri"/>
                        </a:rPr>
                        <a:t>-2,0 Std.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Gesamt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40,0 Std.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40,0 Std.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00" b="1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0 Std.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42652978" name="Text 4"/>
          <p:cNvSpPr/>
          <p:nvPr/>
        </p:nvSpPr>
        <p:spPr bwMode="auto">
          <a:xfrm>
            <a:off x="411480" y="2880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Mehraufwand in der Realisierung durch Troubleshooting (neue Technologien), durch Puffer kompensiert.</a:t>
            </a:r>
            <a:endParaRPr lang="en-US" sz="1100"/>
          </a:p>
        </p:txBody>
      </p:sp>
      <p:sp>
        <p:nvSpPr>
          <p:cNvPr id="238488701" name="Text 5"/>
          <p:cNvSpPr/>
          <p:nvPr/>
        </p:nvSpPr>
        <p:spPr bwMode="auto">
          <a:xfrm>
            <a:off x="5486400" y="960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Lessons Learned</a:t>
            </a:r>
            <a:endParaRPr lang="en-US" sz="1400"/>
          </a:p>
        </p:txBody>
      </p:sp>
      <p:sp>
        <p:nvSpPr>
          <p:cNvPr id="649228702" name="Shape 6"/>
          <p:cNvSpPr/>
          <p:nvPr/>
        </p:nvSpPr>
        <p:spPr bwMode="auto">
          <a:xfrm>
            <a:off x="5486400" y="1371600"/>
            <a:ext cx="32461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1265500" name="Text 7"/>
          <p:cNvSpPr/>
          <p:nvPr/>
        </p:nvSpPr>
        <p:spPr bwMode="auto">
          <a:xfrm>
            <a:off x="5577840" y="14173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2E74B5"/>
                </a:solidFill>
                <a:latin typeface="Calibri"/>
                <a:ea typeface="Calibri"/>
                <a:cs typeface="Calibri"/>
              </a:rPr>
              <a:t>→</a:t>
            </a:r>
            <a:endParaRPr lang="en-US" sz="1200"/>
          </a:p>
        </p:txBody>
      </p:sp>
      <p:sp>
        <p:nvSpPr>
          <p:cNvPr id="1446600265" name="Text 8"/>
          <p:cNvSpPr/>
          <p:nvPr/>
        </p:nvSpPr>
        <p:spPr bwMode="auto">
          <a:xfrm>
            <a:off x="5897880" y="13990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Einarbeitung in neue Tools dauert länger – Puffer einplanen</a:t>
            </a:r>
            <a:endParaRPr lang="en-US" sz="1100"/>
          </a:p>
        </p:txBody>
      </p:sp>
      <p:sp>
        <p:nvSpPr>
          <p:cNvPr id="491296043" name="Shape 9"/>
          <p:cNvSpPr/>
          <p:nvPr/>
        </p:nvSpPr>
        <p:spPr bwMode="auto">
          <a:xfrm>
            <a:off x="5486400" y="1874520"/>
            <a:ext cx="32461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87536431" name="Text 10"/>
          <p:cNvSpPr/>
          <p:nvPr/>
        </p:nvSpPr>
        <p:spPr bwMode="auto">
          <a:xfrm>
            <a:off x="5577840" y="19202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2E74B5"/>
                </a:solidFill>
                <a:latin typeface="Calibri"/>
                <a:ea typeface="Calibri"/>
                <a:cs typeface="Calibri"/>
              </a:rPr>
              <a:t>→</a:t>
            </a:r>
            <a:endParaRPr lang="en-US" sz="1200"/>
          </a:p>
        </p:txBody>
      </p:sp>
      <p:sp>
        <p:nvSpPr>
          <p:cNvPr id="455805853" name="Text 11"/>
          <p:cNvSpPr/>
          <p:nvPr/>
        </p:nvSpPr>
        <p:spPr bwMode="auto">
          <a:xfrm>
            <a:off x="5897880" y="190195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YAML-Konfiguration bietet hohe Flexibilität</a:t>
            </a:r>
            <a:endParaRPr lang="en-US" sz="1100"/>
          </a:p>
        </p:txBody>
      </p:sp>
      <p:sp>
        <p:nvSpPr>
          <p:cNvPr id="1333076385" name="Shape 12"/>
          <p:cNvSpPr/>
          <p:nvPr/>
        </p:nvSpPr>
        <p:spPr bwMode="auto">
          <a:xfrm>
            <a:off x="5486400" y="2377440"/>
            <a:ext cx="32461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6543378" name="Text 13"/>
          <p:cNvSpPr/>
          <p:nvPr/>
        </p:nvSpPr>
        <p:spPr bwMode="auto">
          <a:xfrm>
            <a:off x="5577840" y="24231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2E74B5"/>
                </a:solidFill>
                <a:latin typeface="Calibri"/>
                <a:ea typeface="Calibri"/>
                <a:cs typeface="Calibri"/>
              </a:rPr>
              <a:t>→</a:t>
            </a:r>
            <a:endParaRPr lang="en-US" sz="1200"/>
          </a:p>
        </p:txBody>
      </p:sp>
      <p:sp>
        <p:nvSpPr>
          <p:cNvPr id="808254286" name="Text 14"/>
          <p:cNvSpPr/>
          <p:nvPr/>
        </p:nvSpPr>
        <p:spPr bwMode="auto">
          <a:xfrm>
            <a:off x="5897880" y="240487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KI-Assistenten beschleunigen Troubleshooting erheblich</a:t>
            </a:r>
            <a:endParaRPr lang="en-US" sz="1100"/>
          </a:p>
        </p:txBody>
      </p:sp>
      <p:sp>
        <p:nvSpPr>
          <p:cNvPr id="1370614850" name="Shape 15"/>
          <p:cNvSpPr/>
          <p:nvPr/>
        </p:nvSpPr>
        <p:spPr bwMode="auto">
          <a:xfrm>
            <a:off x="5486400" y="2880360"/>
            <a:ext cx="32461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42434869" name="Text 16"/>
          <p:cNvSpPr/>
          <p:nvPr/>
        </p:nvSpPr>
        <p:spPr bwMode="auto">
          <a:xfrm>
            <a:off x="5577840" y="29260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2E74B5"/>
                </a:solidFill>
                <a:latin typeface="Calibri"/>
                <a:ea typeface="Calibri"/>
                <a:cs typeface="Calibri"/>
              </a:rPr>
              <a:t>→</a:t>
            </a:r>
            <a:endParaRPr lang="en-US" sz="1200"/>
          </a:p>
        </p:txBody>
      </p:sp>
      <p:sp>
        <p:nvSpPr>
          <p:cNvPr id="2018551079" name="Text 17"/>
          <p:cNvSpPr/>
          <p:nvPr/>
        </p:nvSpPr>
        <p:spPr bwMode="auto">
          <a:xfrm>
            <a:off x="5897880" y="29077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Blackbox Exporter: wertvolles Erreichbarkeits-Tool</a:t>
            </a:r>
            <a:endParaRPr lang="en-US" sz="1100"/>
          </a:p>
        </p:txBody>
      </p:sp>
      <p:sp>
        <p:nvSpPr>
          <p:cNvPr id="1641521709" name="Text 18"/>
          <p:cNvSpPr/>
          <p:nvPr/>
        </p:nvSpPr>
        <p:spPr bwMode="auto">
          <a:xfrm>
            <a:off x="411480" y="3429000"/>
            <a:ext cx="832103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Ausblick</a:t>
            </a:r>
            <a:endParaRPr lang="en-US" sz="1400"/>
          </a:p>
        </p:txBody>
      </p:sp>
      <p:sp>
        <p:nvSpPr>
          <p:cNvPr id="2118143524" name="Shape 19"/>
          <p:cNvSpPr/>
          <p:nvPr/>
        </p:nvSpPr>
        <p:spPr bwMode="auto">
          <a:xfrm>
            <a:off x="411480" y="3840480"/>
            <a:ext cx="4069080" cy="420624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841528137" name="Text 20"/>
          <p:cNvSpPr/>
          <p:nvPr/>
        </p:nvSpPr>
        <p:spPr bwMode="auto">
          <a:xfrm>
            <a:off x="548640" y="38862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Migration des produktiven PRTG-Monitorings auf Prometheus/Grafana</a:t>
            </a:r>
            <a:endParaRPr lang="en-US" sz="1100"/>
          </a:p>
        </p:txBody>
      </p:sp>
      <p:sp>
        <p:nvSpPr>
          <p:cNvPr id="1279234772" name="Shape 21"/>
          <p:cNvSpPr/>
          <p:nvPr/>
        </p:nvSpPr>
        <p:spPr bwMode="auto">
          <a:xfrm>
            <a:off x="4663440" y="3840480"/>
            <a:ext cx="4069080" cy="420624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923252286" name="Text 22"/>
          <p:cNvSpPr/>
          <p:nvPr/>
        </p:nvSpPr>
        <p:spPr bwMode="auto">
          <a:xfrm>
            <a:off x="4800600" y="38862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Weitere Exporters (Datenbank, Anwendungsmonitoring)</a:t>
            </a:r>
            <a:endParaRPr lang="en-US" sz="1100"/>
          </a:p>
        </p:txBody>
      </p:sp>
      <p:sp>
        <p:nvSpPr>
          <p:cNvPr id="2010859038" name="Shape 23"/>
          <p:cNvSpPr/>
          <p:nvPr/>
        </p:nvSpPr>
        <p:spPr bwMode="auto">
          <a:xfrm>
            <a:off x="411480" y="4343400"/>
            <a:ext cx="4069080" cy="420624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141923908" name="Text 24"/>
          <p:cNvSpPr/>
          <p:nvPr/>
        </p:nvSpPr>
        <p:spPr bwMode="auto">
          <a:xfrm>
            <a:off x="548640" y="43891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Automatisierte Bereitstellung via Docker Compose oder Ansible</a:t>
            </a:r>
            <a:endParaRPr lang="en-US" sz="1100"/>
          </a:p>
        </p:txBody>
      </p:sp>
      <p:sp>
        <p:nvSpPr>
          <p:cNvPr id="2099841793" name="Shape 25"/>
          <p:cNvSpPr/>
          <p:nvPr/>
        </p:nvSpPr>
        <p:spPr bwMode="auto">
          <a:xfrm>
            <a:off x="4663440" y="4343400"/>
            <a:ext cx="4069080" cy="420624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439510295" name="Text 26"/>
          <p:cNvSpPr/>
          <p:nvPr/>
        </p:nvSpPr>
        <p:spPr bwMode="auto">
          <a:xfrm>
            <a:off x="4800600" y="43891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Zusätzliche Alerting-Kanäle (Slack, Microsoft Teams)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9">
    <p:bg>
      <p:bgPr shadeToTitle="0">
        <a:solidFill>
          <a:srgbClr val="1F4E79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8134337" name="Shape 0"/>
          <p:cNvSpPr/>
          <p:nvPr/>
        </p:nvSpPr>
        <p:spPr bwMode="auto">
          <a:xfrm>
            <a:off x="0" y="0"/>
            <a:ext cx="228600" cy="51435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034380851" name="Text 1"/>
          <p:cNvSpPr/>
          <p:nvPr/>
        </p:nvSpPr>
        <p:spPr bwMode="auto">
          <a:xfrm>
            <a:off x="502920" y="1280160"/>
            <a:ext cx="832103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Vielen Dank für Ihre Aufmerksamkeit!</a:t>
            </a:r>
            <a:endParaRPr lang="en-US" sz="3200"/>
          </a:p>
        </p:txBody>
      </p:sp>
      <p:sp>
        <p:nvSpPr>
          <p:cNvPr id="1934068263" name="Text 2"/>
          <p:cNvSpPr/>
          <p:nvPr/>
        </p:nvSpPr>
        <p:spPr bwMode="auto">
          <a:xfrm>
            <a:off x="502920" y="2286000"/>
            <a:ext cx="83210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2200">
                <a:solidFill>
                  <a:srgbClr val="D6E4F0"/>
                </a:solidFill>
                <a:latin typeface="Calibri"/>
                <a:ea typeface="Calibri"/>
                <a:cs typeface="Calibri"/>
              </a:rPr>
              <a:t>Fragen &amp; Diskussion</a:t>
            </a:r>
            <a:endParaRPr lang="en-US" sz="2200"/>
          </a:p>
        </p:txBody>
      </p:sp>
      <p:sp>
        <p:nvSpPr>
          <p:cNvPr id="1583270992" name="Shape 3"/>
          <p:cNvSpPr/>
          <p:nvPr/>
        </p:nvSpPr>
        <p:spPr bwMode="auto">
          <a:xfrm>
            <a:off x="502920" y="3200400"/>
            <a:ext cx="1920240" cy="13716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864039342" name="Text 4"/>
          <p:cNvSpPr/>
          <p:nvPr/>
        </p:nvSpPr>
        <p:spPr bwMode="auto">
          <a:xfrm>
            <a:off x="502920" y="32461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  <a:defRPr/>
            </a:pPr>
            <a:r>
              <a:rPr lang="en-US"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lang="en-US" sz="3200"/>
          </a:p>
        </p:txBody>
      </p:sp>
      <p:sp>
        <p:nvSpPr>
          <p:cNvPr id="899129491" name="Text 5"/>
          <p:cNvSpPr/>
          <p:nvPr/>
        </p:nvSpPr>
        <p:spPr bwMode="auto">
          <a:xfrm>
            <a:off x="502920" y="40233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D6E4F0"/>
                </a:solidFill>
                <a:latin typeface="Calibri"/>
                <a:ea typeface="Calibri"/>
                <a:cs typeface="Calibri"/>
              </a:rPr>
              <a:t>Systeme überwacht</a:t>
            </a:r>
            <a:endParaRPr lang="en-US" sz="1100"/>
          </a:p>
        </p:txBody>
      </p:sp>
      <p:sp>
        <p:nvSpPr>
          <p:cNvPr id="1816074996" name="Shape 6"/>
          <p:cNvSpPr/>
          <p:nvPr/>
        </p:nvSpPr>
        <p:spPr bwMode="auto">
          <a:xfrm>
            <a:off x="2651760" y="3200400"/>
            <a:ext cx="1920240" cy="13716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2126019566" name="Text 7"/>
          <p:cNvSpPr/>
          <p:nvPr/>
        </p:nvSpPr>
        <p:spPr bwMode="auto">
          <a:xfrm>
            <a:off x="2651760" y="32461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  <a:defRPr/>
            </a:pPr>
            <a:r>
              <a:rPr lang="en-US"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6/6</a:t>
            </a:r>
            <a:endParaRPr lang="en-US" sz="3200"/>
          </a:p>
        </p:txBody>
      </p:sp>
      <p:sp>
        <p:nvSpPr>
          <p:cNvPr id="364019345" name="Text 8"/>
          <p:cNvSpPr/>
          <p:nvPr/>
        </p:nvSpPr>
        <p:spPr bwMode="auto">
          <a:xfrm>
            <a:off x="2651760" y="40233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D6E4F0"/>
                </a:solidFill>
                <a:latin typeface="Calibri"/>
                <a:ea typeface="Calibri"/>
                <a:cs typeface="Calibri"/>
              </a:rPr>
              <a:t>Tests bestanden</a:t>
            </a:r>
            <a:endParaRPr lang="en-US" sz="1100"/>
          </a:p>
        </p:txBody>
      </p:sp>
      <p:sp>
        <p:nvSpPr>
          <p:cNvPr id="1367457574" name="Shape 9"/>
          <p:cNvSpPr/>
          <p:nvPr/>
        </p:nvSpPr>
        <p:spPr bwMode="auto">
          <a:xfrm>
            <a:off x="4800600" y="3200400"/>
            <a:ext cx="1920240" cy="13716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871775622" name="Text 10"/>
          <p:cNvSpPr/>
          <p:nvPr/>
        </p:nvSpPr>
        <p:spPr bwMode="auto">
          <a:xfrm>
            <a:off x="4800600" y="32461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  <a:defRPr/>
            </a:pPr>
            <a:r>
              <a:rPr lang="en-US"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108</a:t>
            </a:r>
            <a:endParaRPr lang="en-US" sz="3200"/>
          </a:p>
        </p:txBody>
      </p:sp>
      <p:sp>
        <p:nvSpPr>
          <p:cNvPr id="1468719335" name="Text 11"/>
          <p:cNvSpPr/>
          <p:nvPr/>
        </p:nvSpPr>
        <p:spPr bwMode="auto">
          <a:xfrm>
            <a:off x="4800600" y="40233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D6E4F0"/>
                </a:solidFill>
                <a:latin typeface="Calibri"/>
                <a:ea typeface="Calibri"/>
                <a:cs typeface="Calibri"/>
              </a:rPr>
              <a:t>Nutzwertpunkte</a:t>
            </a:r>
            <a:endParaRPr lang="en-US" sz="1100"/>
          </a:p>
        </p:txBody>
      </p:sp>
      <p:sp>
        <p:nvSpPr>
          <p:cNvPr id="175209456" name="Shape 12"/>
          <p:cNvSpPr/>
          <p:nvPr/>
        </p:nvSpPr>
        <p:spPr bwMode="auto">
          <a:xfrm>
            <a:off x="6949440" y="3200400"/>
            <a:ext cx="1920240" cy="13716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195263568" name="Text 13"/>
          <p:cNvSpPr/>
          <p:nvPr/>
        </p:nvSpPr>
        <p:spPr bwMode="auto">
          <a:xfrm>
            <a:off x="6949440" y="32461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  <a:defRPr/>
            </a:pPr>
            <a:r>
              <a:rPr lang="en-US"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0 €</a:t>
            </a:r>
            <a:endParaRPr lang="en-US" sz="3200"/>
          </a:p>
        </p:txBody>
      </p:sp>
      <p:sp>
        <p:nvSpPr>
          <p:cNvPr id="1159639584" name="Text 14"/>
          <p:cNvSpPr/>
          <p:nvPr/>
        </p:nvSpPr>
        <p:spPr bwMode="auto">
          <a:xfrm>
            <a:off x="6949440" y="40233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D6E4F0"/>
                </a:solidFill>
                <a:latin typeface="Calibri"/>
                <a:ea typeface="Calibri"/>
                <a:cs typeface="Calibri"/>
              </a:rPr>
              <a:t>Lizenzkosten</a:t>
            </a:r>
            <a:endParaRPr lang="en-US" sz="1100"/>
          </a:p>
        </p:txBody>
      </p:sp>
      <p:sp>
        <p:nvSpPr>
          <p:cNvPr id="873098706" name="Text 15"/>
          <p:cNvSpPr/>
          <p:nvPr/>
        </p:nvSpPr>
        <p:spPr bwMode="auto">
          <a:xfrm>
            <a:off x="502920" y="4754880"/>
            <a:ext cx="83210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100">
                <a:solidFill>
                  <a:srgbClr val="5A8AB0"/>
                </a:solidFill>
                <a:latin typeface="Calibri"/>
                <a:ea typeface="Calibri"/>
                <a:cs typeface="Calibri"/>
              </a:rPr>
              <a:t>Ioannis Kiourtzidis  |  Fachinformatiker Systemintegration  |  Bissantz &amp; Company GmbH  |  Sommer 2026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22</Slides>
  <Notes>22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Aufbau einer virtuellen IT-Infrastruktur – Monitoring-System</dc:title>
  <dc:subject>PptxGenJS Presentation</dc:subject>
  <dc:creator>Ioannis Kiourtzidis</dc:creator>
  <cp:lastModifiedBy/>
  <cp:revision>2</cp:revision>
  <dcterms:created xsi:type="dcterms:W3CDTF">2026-05-07T10:59:05Z</dcterms:created>
  <dcterms:modified xsi:type="dcterms:W3CDTF">2026-05-07T14:27:14Z</dcterms:modified>
</cp:coreProperties>
</file>