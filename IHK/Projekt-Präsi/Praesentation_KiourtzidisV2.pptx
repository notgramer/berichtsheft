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78" r:id="rId7"/>
    <p:sldId id="279" r:id="rId8"/>
    <p:sldId id="280" r:id="rId9"/>
    <p:sldId id="281" r:id="rId10"/>
    <p:sldId id="282" r:id="rId11"/>
    <p:sldId id="261" r:id="rId12"/>
    <p:sldId id="262" r:id="rId13"/>
    <p:sldId id="283" r:id="rId14"/>
    <p:sldId id="264" r:id="rId15"/>
    <p:sldId id="265" r:id="rId16"/>
    <p:sldId id="266" r:id="rId17"/>
    <p:sldId id="267" r:id="rId18"/>
    <p:sldId id="268" r:id="rId19"/>
    <p:sldId id="269" r:id="rId20"/>
    <p:sldId id="284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x="9144000" cy="5143500" type="screen16x9"/>
  <p:notesSz cx="5143500" cy="9144000"/>
  <p:defaultTextStyle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2880">
          <p15:clr>
            <a:srgbClr val="A4A3A4"/>
          </p15:clr>
        </p15:guide>
        <p15:guide id="2" orient="horz" pos="16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E74B5"/>
    <a:srgbClr val="A6A6A6"/>
    <a:srgbClr val="1F4E79"/>
    <a:srgbClr val="B3AF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 snapToObjects="1">
      <p:cViewPr varScale="1">
        <p:scale>
          <a:sx n="158" d="100"/>
          <a:sy n="158" d="100"/>
        </p:scale>
        <p:origin x="300" y="138"/>
      </p:cViewPr>
      <p:guideLst>
        <p:guide pos="2880"/>
        <p:guide orient="horz" pos="16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190134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74222055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5282F153-3F37-0F45-9E97-73ACFA13230C}" type="datetimeFigureOut">
              <a:rPr lang="en-US"/>
              <a:t>6/29/2026</a:t>
            </a:fld>
            <a:endParaRPr lang="en-US"/>
          </a:p>
        </p:txBody>
      </p:sp>
      <p:sp>
        <p:nvSpPr>
          <p:cNvPr id="1881156916" name="Slide Image Placeholder 3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308803072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957475547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38777608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CE5E9CC1-C706-0F49-92D6-E571CC5EEA8F}" type="slidenum">
              <a:rPr lang="en-US"/>
              <a:t>‹Nr.›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?>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?>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?>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?>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?>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?>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?>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?>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5214026" name="Slide Image Placeholder 1"/>
          <p:cNvSpPr>
            <a:spLocks noGrp="1" noRot="1" noChangeAspect="1"/>
          </p:cNvSpPr>
          <p:nvPr>
            <p:ph type="sldImg"/>
          </p:nvPr>
        </p:nvSpPr>
        <p:spPr bwMode="auto"/>
        <p:txBody>
          <a:bodyPr/>
          <a:lstStyle/>
          <a:p>
            <a:endParaRPr lang="de-DE"/>
          </a:p>
        </p:txBody>
      </p:sp>
      <p:sp>
        <p:nvSpPr>
          <p:cNvPr id="9271869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340883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3508429" name="Slide Image Placeholder 1"/>
          <p:cNvSpPr>
            <a:spLocks noGrp="1" noRot="1" noChangeAspect="1"/>
          </p:cNvSpPr>
          <p:nvPr>
            <p:ph type="sldImg"/>
          </p:nvPr>
        </p:nvSpPr>
        <p:spPr bwMode="auto"/>
        <p:txBody>
          <a:bodyPr/>
          <a:lstStyle/>
          <a:p>
            <a:endParaRPr lang="de-DE"/>
          </a:p>
        </p:txBody>
      </p:sp>
      <p:sp>
        <p:nvSpPr>
          <p:cNvPr id="14778204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296976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8346920" name="Slide Image Placeholder 1"/>
          <p:cNvSpPr>
            <a:spLocks noGrp="1" noRot="1" noChangeAspect="1"/>
          </p:cNvSpPr>
          <p:nvPr>
            <p:ph type="sldImg"/>
          </p:nvPr>
        </p:nvSpPr>
        <p:spPr bwMode="auto"/>
        <p:txBody>
          <a:bodyPr/>
          <a:lstStyle/>
          <a:p>
            <a:endParaRPr lang="de-DE"/>
          </a:p>
        </p:txBody>
      </p:sp>
      <p:sp>
        <p:nvSpPr>
          <p:cNvPr id="4785948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794003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EB8E202-5E66-541C-B729-3C4639B749A2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797967" name="Slide Image Placeholder 1"/>
          <p:cNvSpPr>
            <a:spLocks noGrp="1" noRot="1" noChangeAspect="1"/>
          </p:cNvSpPr>
          <p:nvPr>
            <p:ph type="sldImg"/>
          </p:nvPr>
        </p:nvSpPr>
        <p:spPr bwMode="auto"/>
        <p:txBody>
          <a:bodyPr/>
          <a:lstStyle/>
          <a:p>
            <a:endParaRPr lang="de-DE"/>
          </a:p>
        </p:txBody>
      </p:sp>
      <p:sp>
        <p:nvSpPr>
          <p:cNvPr id="5174470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126829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6C38AB1-618D-DE5D-2D15-C8BD595D9050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87899" name="Slide Image Placeholder 1"/>
          <p:cNvSpPr>
            <a:spLocks noGrp="1" noRot="1" noChangeAspect="1"/>
          </p:cNvSpPr>
          <p:nvPr>
            <p:ph type="sldImg"/>
          </p:nvPr>
        </p:nvSpPr>
        <p:spPr bwMode="auto"/>
        <p:txBody>
          <a:bodyPr/>
          <a:lstStyle/>
          <a:p>
            <a:endParaRPr lang="de-DE"/>
          </a:p>
        </p:txBody>
      </p:sp>
      <p:sp>
        <p:nvSpPr>
          <p:cNvPr id="5662784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102402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6FFFDDA-D214-BED8-9077-7D8E24A43589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F9C5E3-B88D-0E14-6703-BDDDE2E3AECD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87899" name="Slide Image Placeholder 1">
            <a:extLst>
              <a:ext uri="{FF2B5EF4-FFF2-40B4-BE49-F238E27FC236}">
                <a16:creationId xmlns:a16="http://schemas.microsoft.com/office/drawing/2014/main" id="{6221F78E-90DB-EE07-AA28-5EA0CF06D9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  <p:txBody>
          <a:bodyPr/>
          <a:lstStyle/>
          <a:p>
            <a:endParaRPr lang="de-DE"/>
          </a:p>
        </p:txBody>
      </p:sp>
      <p:sp>
        <p:nvSpPr>
          <p:cNvPr id="566278484" name="Notes Placeholder 2">
            <a:extLst>
              <a:ext uri="{FF2B5EF4-FFF2-40B4-BE49-F238E27FC236}">
                <a16:creationId xmlns:a16="http://schemas.microsoft.com/office/drawing/2014/main" id="{8CCE87FE-D121-545C-DCD9-77A22E8A92B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10240216" name="Slide Number Placeholder 3">
            <a:extLst>
              <a:ext uri="{FF2B5EF4-FFF2-40B4-BE49-F238E27FC236}">
                <a16:creationId xmlns:a16="http://schemas.microsoft.com/office/drawing/2014/main" id="{45BC82A0-BB67-0400-099E-635C054756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6FFFDDA-D214-BED8-9077-7D8E24A43589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4692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F4152B-D247-13B1-7DCB-2D0FA546AFEA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87899" name="Slide Image Placeholder 1">
            <a:extLst>
              <a:ext uri="{FF2B5EF4-FFF2-40B4-BE49-F238E27FC236}">
                <a16:creationId xmlns:a16="http://schemas.microsoft.com/office/drawing/2014/main" id="{F7FB6C79-99A1-091F-8EB2-86C4360AED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  <p:txBody>
          <a:bodyPr/>
          <a:lstStyle/>
          <a:p>
            <a:endParaRPr lang="de-DE"/>
          </a:p>
        </p:txBody>
      </p:sp>
      <p:sp>
        <p:nvSpPr>
          <p:cNvPr id="566278484" name="Notes Placeholder 2">
            <a:extLst>
              <a:ext uri="{FF2B5EF4-FFF2-40B4-BE49-F238E27FC236}">
                <a16:creationId xmlns:a16="http://schemas.microsoft.com/office/drawing/2014/main" id="{DE2A2646-1E77-531F-BAB7-316B1086A52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10240216" name="Slide Number Placeholder 3">
            <a:extLst>
              <a:ext uri="{FF2B5EF4-FFF2-40B4-BE49-F238E27FC236}">
                <a16:creationId xmlns:a16="http://schemas.microsoft.com/office/drawing/2014/main" id="{ACD03A2D-76DF-1EE0-1FFB-44B7132E4ED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6FFFDDA-D214-BED8-9077-7D8E24A43589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316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17835E-C0F1-638B-F2DF-58C788EEC64A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87899" name="Slide Image Placeholder 1">
            <a:extLst>
              <a:ext uri="{FF2B5EF4-FFF2-40B4-BE49-F238E27FC236}">
                <a16:creationId xmlns:a16="http://schemas.microsoft.com/office/drawing/2014/main" id="{35E16B2B-BCD6-71BF-9D99-BE6EEF8DA9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  <p:txBody>
          <a:bodyPr/>
          <a:lstStyle/>
          <a:p>
            <a:endParaRPr lang="de-DE"/>
          </a:p>
        </p:txBody>
      </p:sp>
      <p:sp>
        <p:nvSpPr>
          <p:cNvPr id="566278484" name="Notes Placeholder 2">
            <a:extLst>
              <a:ext uri="{FF2B5EF4-FFF2-40B4-BE49-F238E27FC236}">
                <a16:creationId xmlns:a16="http://schemas.microsoft.com/office/drawing/2014/main" id="{8B3A9CE9-3816-1E94-02C0-72C43F8AB8D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10240216" name="Slide Number Placeholder 3">
            <a:extLst>
              <a:ext uri="{FF2B5EF4-FFF2-40B4-BE49-F238E27FC236}">
                <a16:creationId xmlns:a16="http://schemas.microsoft.com/office/drawing/2014/main" id="{548BD9EB-2BFC-F023-2EBA-8354DFFCFF5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6FFFDDA-D214-BED8-9077-7D8E24A43589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18061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B8BF48-B0C1-64E7-E4F5-6731BFEB19AE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87899" name="Slide Image Placeholder 1">
            <a:extLst>
              <a:ext uri="{FF2B5EF4-FFF2-40B4-BE49-F238E27FC236}">
                <a16:creationId xmlns:a16="http://schemas.microsoft.com/office/drawing/2014/main" id="{A53FD1C4-46D6-722F-D206-863526CF80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  <p:txBody>
          <a:bodyPr/>
          <a:lstStyle/>
          <a:p>
            <a:endParaRPr lang="de-DE"/>
          </a:p>
        </p:txBody>
      </p:sp>
      <p:sp>
        <p:nvSpPr>
          <p:cNvPr id="566278484" name="Notes Placeholder 2">
            <a:extLst>
              <a:ext uri="{FF2B5EF4-FFF2-40B4-BE49-F238E27FC236}">
                <a16:creationId xmlns:a16="http://schemas.microsoft.com/office/drawing/2014/main" id="{09C525C2-CDFA-5C5F-759F-6669C2D8D3B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10240216" name="Slide Number Placeholder 3">
            <a:extLst>
              <a:ext uri="{FF2B5EF4-FFF2-40B4-BE49-F238E27FC236}">
                <a16:creationId xmlns:a16="http://schemas.microsoft.com/office/drawing/2014/main" id="{58081A28-D331-0A80-1F0C-6BE2C2C5D4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6FFFDDA-D214-BED8-9077-7D8E24A43589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6048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DE8049-CCE3-7A9F-DDD6-87FD24CFB5DC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87899" name="Slide Image Placeholder 1">
            <a:extLst>
              <a:ext uri="{FF2B5EF4-FFF2-40B4-BE49-F238E27FC236}">
                <a16:creationId xmlns:a16="http://schemas.microsoft.com/office/drawing/2014/main" id="{CC5CD47C-B777-E7CE-C057-F61BE4C2B4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  <p:txBody>
          <a:bodyPr/>
          <a:lstStyle/>
          <a:p>
            <a:endParaRPr lang="de-DE"/>
          </a:p>
        </p:txBody>
      </p:sp>
      <p:sp>
        <p:nvSpPr>
          <p:cNvPr id="566278484" name="Notes Placeholder 2">
            <a:extLst>
              <a:ext uri="{FF2B5EF4-FFF2-40B4-BE49-F238E27FC236}">
                <a16:creationId xmlns:a16="http://schemas.microsoft.com/office/drawing/2014/main" id="{15B8EC4A-3C86-E613-68C3-BD404BDDBE6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10240216" name="Slide Number Placeholder 3">
            <a:extLst>
              <a:ext uri="{FF2B5EF4-FFF2-40B4-BE49-F238E27FC236}">
                <a16:creationId xmlns:a16="http://schemas.microsoft.com/office/drawing/2014/main" id="{F2A32D41-E799-9B11-3E0E-048475DC2D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6FFFDDA-D214-BED8-9077-7D8E24A43589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38546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8751614" name="Slide Image Placeholder 1"/>
          <p:cNvSpPr>
            <a:spLocks noGrp="1" noRot="1" noChangeAspect="1"/>
          </p:cNvSpPr>
          <p:nvPr>
            <p:ph type="sldImg"/>
          </p:nvPr>
        </p:nvSpPr>
        <p:spPr bwMode="auto"/>
        <p:txBody>
          <a:bodyPr/>
          <a:lstStyle/>
          <a:p>
            <a:endParaRPr lang="de-DE"/>
          </a:p>
        </p:txBody>
      </p:sp>
      <p:sp>
        <p:nvSpPr>
          <p:cNvPr id="8318081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9414116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0531828" name="Slide Image Placeholder 1"/>
          <p:cNvSpPr>
            <a:spLocks noGrp="1" noRot="1" noChangeAspect="1"/>
          </p:cNvSpPr>
          <p:nvPr>
            <p:ph type="sldImg"/>
          </p:nvPr>
        </p:nvSpPr>
        <p:spPr bwMode="auto"/>
        <p:txBody>
          <a:bodyPr/>
          <a:lstStyle/>
          <a:p>
            <a:endParaRPr lang="de-DE"/>
          </a:p>
        </p:txBody>
      </p:sp>
      <p:sp>
        <p:nvSpPr>
          <p:cNvPr id="20832218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810782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1769DC-24E2-2337-94E6-4E1239C81B23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3149099" name="Slide Image Placeholder 1">
            <a:extLst>
              <a:ext uri="{FF2B5EF4-FFF2-40B4-BE49-F238E27FC236}">
                <a16:creationId xmlns:a16="http://schemas.microsoft.com/office/drawing/2014/main" id="{F4CFC919-0D49-24BC-FB1D-335039A9D8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  <p:txBody>
          <a:bodyPr/>
          <a:lstStyle/>
          <a:p>
            <a:endParaRPr lang="de-DE"/>
          </a:p>
        </p:txBody>
      </p:sp>
      <p:sp>
        <p:nvSpPr>
          <p:cNvPr id="1344971908" name="Notes Placeholder 2">
            <a:extLst>
              <a:ext uri="{FF2B5EF4-FFF2-40B4-BE49-F238E27FC236}">
                <a16:creationId xmlns:a16="http://schemas.microsoft.com/office/drawing/2014/main" id="{52C070EF-1F3F-4264-2CC6-77DAB06AE31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24647959" name="Slide Number Placeholder 3">
            <a:extLst>
              <a:ext uri="{FF2B5EF4-FFF2-40B4-BE49-F238E27FC236}">
                <a16:creationId xmlns:a16="http://schemas.microsoft.com/office/drawing/2014/main" id="{E2D79415-CBFB-4477-BE39-D5C8C09464B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841808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7056111" name="Slide Image Placeholder 1"/>
          <p:cNvSpPr>
            <a:spLocks noGrp="1" noRot="1" noChangeAspect="1"/>
          </p:cNvSpPr>
          <p:nvPr>
            <p:ph type="sldImg"/>
          </p:nvPr>
        </p:nvSpPr>
        <p:spPr bwMode="auto"/>
        <p:txBody>
          <a:bodyPr/>
          <a:lstStyle/>
          <a:p>
            <a:endParaRPr lang="de-DE"/>
          </a:p>
        </p:txBody>
      </p:sp>
      <p:sp>
        <p:nvSpPr>
          <p:cNvPr id="6205510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907869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000699" name="Slide Image Placeholder 1"/>
          <p:cNvSpPr>
            <a:spLocks noGrp="1" noRot="1" noChangeAspect="1"/>
          </p:cNvSpPr>
          <p:nvPr>
            <p:ph type="sldImg"/>
          </p:nvPr>
        </p:nvSpPr>
        <p:spPr bwMode="auto"/>
        <p:txBody>
          <a:bodyPr/>
          <a:lstStyle/>
          <a:p>
            <a:endParaRPr lang="de-DE"/>
          </a:p>
        </p:txBody>
      </p:sp>
      <p:sp>
        <p:nvSpPr>
          <p:cNvPr id="21397283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1044947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2589858" name="Slide Image Placeholder 1"/>
          <p:cNvSpPr>
            <a:spLocks noGrp="1" noRot="1" noChangeAspect="1"/>
          </p:cNvSpPr>
          <p:nvPr>
            <p:ph type="sldImg"/>
          </p:nvPr>
        </p:nvSpPr>
        <p:spPr bwMode="auto"/>
        <p:txBody>
          <a:bodyPr/>
          <a:lstStyle/>
          <a:p>
            <a:endParaRPr lang="de-DE"/>
          </a:p>
        </p:txBody>
      </p:sp>
      <p:sp>
        <p:nvSpPr>
          <p:cNvPr id="20006866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664161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3030513" name="Slide Image Placeholder 1"/>
          <p:cNvSpPr>
            <a:spLocks noGrp="1" noRot="1" noChangeAspect="1"/>
          </p:cNvSpPr>
          <p:nvPr>
            <p:ph type="sldImg"/>
          </p:nvPr>
        </p:nvSpPr>
        <p:spPr bwMode="auto"/>
        <p:txBody>
          <a:bodyPr/>
          <a:lstStyle/>
          <a:p>
            <a:endParaRPr lang="de-DE"/>
          </a:p>
        </p:txBody>
      </p:sp>
      <p:sp>
        <p:nvSpPr>
          <p:cNvPr id="20936431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772657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6524206" name="Slide Image Placeholder 1"/>
          <p:cNvSpPr>
            <a:spLocks noGrp="1" noRot="1" noChangeAspect="1"/>
          </p:cNvSpPr>
          <p:nvPr>
            <p:ph type="sldImg"/>
          </p:nvPr>
        </p:nvSpPr>
        <p:spPr bwMode="auto"/>
        <p:txBody>
          <a:bodyPr/>
          <a:lstStyle/>
          <a:p>
            <a:endParaRPr lang="de-DE"/>
          </a:p>
        </p:txBody>
      </p:sp>
      <p:sp>
        <p:nvSpPr>
          <p:cNvPr id="3190685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508245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3914214" name="Slide Image Placeholder 1"/>
          <p:cNvSpPr>
            <a:spLocks noGrp="1" noRot="1" noChangeAspect="1"/>
          </p:cNvSpPr>
          <p:nvPr>
            <p:ph type="sldImg"/>
          </p:nvPr>
        </p:nvSpPr>
        <p:spPr bwMode="auto"/>
        <p:txBody>
          <a:bodyPr/>
          <a:lstStyle/>
          <a:p>
            <a:endParaRPr lang="de-DE"/>
          </a:p>
        </p:txBody>
      </p:sp>
      <p:sp>
        <p:nvSpPr>
          <p:cNvPr id="3071921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340624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97DAF8-5BA2-9194-79C6-34E73D067142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5124079" name="Slide Image Placeholder 1">
            <a:extLst>
              <a:ext uri="{FF2B5EF4-FFF2-40B4-BE49-F238E27FC236}">
                <a16:creationId xmlns:a16="http://schemas.microsoft.com/office/drawing/2014/main" id="{D6E97316-8D9E-EB40-FBB4-4EB54AA8D0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  <p:txBody>
          <a:bodyPr/>
          <a:lstStyle/>
          <a:p>
            <a:endParaRPr lang="de-DE"/>
          </a:p>
        </p:txBody>
      </p:sp>
      <p:sp>
        <p:nvSpPr>
          <p:cNvPr id="1297289152" name="Notes Placeholder 2">
            <a:extLst>
              <a:ext uri="{FF2B5EF4-FFF2-40B4-BE49-F238E27FC236}">
                <a16:creationId xmlns:a16="http://schemas.microsoft.com/office/drawing/2014/main" id="{2AE35CF8-0DCA-3DC1-8514-7F28D17FD88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84165430" name="Slide Number Placeholder 3">
            <a:extLst>
              <a:ext uri="{FF2B5EF4-FFF2-40B4-BE49-F238E27FC236}">
                <a16:creationId xmlns:a16="http://schemas.microsoft.com/office/drawing/2014/main" id="{07492EF5-C4DF-20E8-8BA4-05E8D149632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786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5124079" name="Slide Image Placeholder 1"/>
          <p:cNvSpPr>
            <a:spLocks noGrp="1" noRot="1" noChangeAspect="1"/>
          </p:cNvSpPr>
          <p:nvPr>
            <p:ph type="sldImg"/>
          </p:nvPr>
        </p:nvSpPr>
        <p:spPr bwMode="auto"/>
        <p:txBody>
          <a:bodyPr/>
          <a:lstStyle/>
          <a:p>
            <a:endParaRPr lang="de-DE"/>
          </a:p>
        </p:txBody>
      </p:sp>
      <p:sp>
        <p:nvSpPr>
          <p:cNvPr id="12972891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841654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21</a:t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6437402" name="Slide Image Placeholder 1"/>
          <p:cNvSpPr>
            <a:spLocks noGrp="1" noRot="1" noChangeAspect="1"/>
          </p:cNvSpPr>
          <p:nvPr>
            <p:ph type="sldImg"/>
          </p:nvPr>
        </p:nvSpPr>
        <p:spPr bwMode="auto"/>
        <p:txBody>
          <a:bodyPr/>
          <a:lstStyle/>
          <a:p>
            <a:endParaRPr lang="de-DE"/>
          </a:p>
        </p:txBody>
      </p:sp>
      <p:sp>
        <p:nvSpPr>
          <p:cNvPr id="7030912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669151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22</a:t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6593009" name="Slide Image Placeholder 1"/>
          <p:cNvSpPr>
            <a:spLocks noGrp="1" noRot="1" noChangeAspect="1"/>
          </p:cNvSpPr>
          <p:nvPr>
            <p:ph type="sldImg"/>
          </p:nvPr>
        </p:nvSpPr>
        <p:spPr bwMode="auto"/>
        <p:txBody>
          <a:bodyPr/>
          <a:lstStyle/>
          <a:p>
            <a:endParaRPr lang="de-DE"/>
          </a:p>
        </p:txBody>
      </p:sp>
      <p:sp>
        <p:nvSpPr>
          <p:cNvPr id="6395905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694421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23</a:t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1730725" name="Slide Image Placeholder 1"/>
          <p:cNvSpPr>
            <a:spLocks noGrp="1" noRot="1" noChangeAspect="1"/>
          </p:cNvSpPr>
          <p:nvPr>
            <p:ph type="sldImg"/>
          </p:nvPr>
        </p:nvSpPr>
        <p:spPr bwMode="auto"/>
        <p:txBody>
          <a:bodyPr/>
          <a:lstStyle/>
          <a:p>
            <a:endParaRPr lang="de-DE"/>
          </a:p>
        </p:txBody>
      </p:sp>
      <p:sp>
        <p:nvSpPr>
          <p:cNvPr id="8039262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245807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24</a:t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0753077" name="Slide Image Placeholder 1"/>
          <p:cNvSpPr>
            <a:spLocks noGrp="1" noRot="1" noChangeAspect="1"/>
          </p:cNvSpPr>
          <p:nvPr>
            <p:ph type="sldImg"/>
          </p:nvPr>
        </p:nvSpPr>
        <p:spPr bwMode="auto"/>
        <p:txBody>
          <a:bodyPr/>
          <a:lstStyle/>
          <a:p>
            <a:endParaRPr lang="de-DE"/>
          </a:p>
        </p:txBody>
      </p:sp>
      <p:sp>
        <p:nvSpPr>
          <p:cNvPr id="5196005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852130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25</a:t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7073367" name="Slide Image Placeholder 1"/>
          <p:cNvSpPr>
            <a:spLocks noGrp="1" noRot="1" noChangeAspect="1"/>
          </p:cNvSpPr>
          <p:nvPr>
            <p:ph type="sldImg"/>
          </p:nvPr>
        </p:nvSpPr>
        <p:spPr bwMode="auto"/>
        <p:txBody>
          <a:bodyPr/>
          <a:lstStyle/>
          <a:p>
            <a:endParaRPr lang="de-DE"/>
          </a:p>
        </p:txBody>
      </p:sp>
      <p:sp>
        <p:nvSpPr>
          <p:cNvPr id="4889556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279780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26</a:t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3797586" name="Slide Image Placeholder 1"/>
          <p:cNvSpPr>
            <a:spLocks noGrp="1" noRot="1" noChangeAspect="1"/>
          </p:cNvSpPr>
          <p:nvPr>
            <p:ph type="sldImg"/>
          </p:nvPr>
        </p:nvSpPr>
        <p:spPr bwMode="auto"/>
        <p:txBody>
          <a:bodyPr/>
          <a:lstStyle/>
          <a:p>
            <a:endParaRPr lang="de-DE"/>
          </a:p>
        </p:txBody>
      </p:sp>
      <p:sp>
        <p:nvSpPr>
          <p:cNvPr id="7870871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33279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27</a:t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82485" name="Slide Image Placeholder 1"/>
          <p:cNvSpPr>
            <a:spLocks noGrp="1" noRot="1" noChangeAspect="1"/>
          </p:cNvSpPr>
          <p:nvPr>
            <p:ph type="sldImg"/>
          </p:nvPr>
        </p:nvSpPr>
        <p:spPr bwMode="auto"/>
        <p:txBody>
          <a:bodyPr/>
          <a:lstStyle/>
          <a:p>
            <a:endParaRPr lang="de-DE"/>
          </a:p>
        </p:txBody>
      </p:sp>
      <p:sp>
        <p:nvSpPr>
          <p:cNvPr id="19708273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322149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28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Textfeld 2">
            <a:extLst>
              <a:ext uri="{FF2B5EF4-FFF2-40B4-BE49-F238E27FC236}">
                <a16:creationId xmlns:a16="http://schemas.microsoft.com/office/drawing/2014/main" id="{A15BADC9-E388-BD87-9DD6-A204363B647F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8855075" y="4973320"/>
            <a:ext cx="242888" cy="1066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de-DE" sz="7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intern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?>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?>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?>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?>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?>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?>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?>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?>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?>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5.xml.rels><?xml version="1.0" encoding="UTF-8"?>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?>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?>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?>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?>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?>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?>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?>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?>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?>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?>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?>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?>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?>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 name="Slide 1"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4342327" name="!!Shape 0"/>
          <p:cNvSpPr/>
          <p:nvPr/>
        </p:nvSpPr>
        <p:spPr bwMode="auto">
          <a:xfrm>
            <a:off x="0" y="0"/>
            <a:ext cx="228600" cy="5143500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66338050" name="Text 1"/>
          <p:cNvSpPr/>
          <p:nvPr/>
        </p:nvSpPr>
        <p:spPr bwMode="auto">
          <a:xfrm>
            <a:off x="502920" y="914400"/>
            <a:ext cx="8412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3800" b="1" dirty="0">
                <a:solidFill>
                  <a:srgbClr val="FFFFFF"/>
                </a:soli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  <a:latin typeface="Calibri"/>
                <a:ea typeface="Calibri"/>
                <a:cs typeface="Calibri"/>
              </a:rPr>
              <a:t xml:space="preserve">Aufbau </a:t>
            </a:r>
            <a:r>
              <a:rPr lang="en-US" sz="3800" b="1" dirty="0" err="1">
                <a:solidFill>
                  <a:srgbClr val="FFFFFF"/>
                </a:soli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  <a:latin typeface="Calibri"/>
                <a:ea typeface="Calibri"/>
                <a:cs typeface="Calibri"/>
              </a:rPr>
              <a:t>einer</a:t>
            </a:r>
            <a:r>
              <a:rPr lang="en-US" sz="3800" b="1" dirty="0">
                <a:solidFill>
                  <a:srgbClr val="FFFFFF"/>
                </a:soli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  <a:latin typeface="Calibri"/>
                <a:ea typeface="Calibri"/>
                <a:cs typeface="Calibri"/>
              </a:rPr>
              <a:t xml:space="preserve"> </a:t>
            </a:r>
            <a:r>
              <a:rPr lang="en-US" sz="3800" b="1" dirty="0" err="1">
                <a:solidFill>
                  <a:srgbClr val="FFFFFF"/>
                </a:soli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  <a:latin typeface="Calibri"/>
                <a:ea typeface="Calibri"/>
                <a:cs typeface="Calibri"/>
              </a:rPr>
              <a:t>virtuellen</a:t>
            </a:r>
            <a:r>
              <a:rPr lang="en-US" sz="3800" b="1" dirty="0">
                <a:solidFill>
                  <a:srgbClr val="FFFFFF"/>
                </a:soli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  <a:latin typeface="Calibri"/>
                <a:ea typeface="Calibri"/>
                <a:cs typeface="Calibri"/>
              </a:rPr>
              <a:t xml:space="preserve"> IT-</a:t>
            </a:r>
            <a:r>
              <a:rPr lang="en-US" sz="3800" b="1" dirty="0" err="1">
                <a:solidFill>
                  <a:srgbClr val="FFFFFF"/>
                </a:soli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  <a:latin typeface="Calibri"/>
                <a:ea typeface="Calibri"/>
                <a:cs typeface="Calibri"/>
              </a:rPr>
              <a:t>Infrastruktur</a:t>
            </a:r>
            <a:endParaRPr lang="en-US" sz="3800" dirty="0">
              <a:effectLst>
                <a:outerShdw blurRad="50800" dist="38100" dir="16200000" rotWithShape="0">
                  <a:prstClr val="black">
                    <a:alpha val="40000"/>
                  </a:prstClr>
                </a:outerShdw>
              </a:effectLst>
            </a:endParaRPr>
          </a:p>
          <a:p>
            <a:pPr marL="0" indent="0" algn="l">
              <a:buNone/>
              <a:defRPr/>
            </a:pPr>
            <a:r>
              <a:rPr lang="en-US" sz="3800" b="1" dirty="0" err="1">
                <a:solidFill>
                  <a:srgbClr val="FFFFFF"/>
                </a:soli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  <a:latin typeface="Calibri"/>
                <a:ea typeface="Calibri"/>
                <a:cs typeface="Calibri"/>
              </a:rPr>
              <a:t>zur</a:t>
            </a:r>
            <a:r>
              <a:rPr lang="en-US" sz="3800" b="1" dirty="0">
                <a:solidFill>
                  <a:srgbClr val="FFFFFF"/>
                </a:soli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  <a:latin typeface="Calibri"/>
                <a:ea typeface="Calibri"/>
                <a:cs typeface="Calibri"/>
              </a:rPr>
              <a:t xml:space="preserve"> </a:t>
            </a:r>
            <a:r>
              <a:rPr lang="en-US" sz="3800" b="1" dirty="0" err="1">
                <a:solidFill>
                  <a:srgbClr val="FFFFFF"/>
                </a:soli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  <a:latin typeface="Calibri"/>
                <a:ea typeface="Calibri"/>
                <a:cs typeface="Calibri"/>
              </a:rPr>
              <a:t>Implementierung</a:t>
            </a:r>
            <a:r>
              <a:rPr lang="en-US" sz="3800" b="1" dirty="0">
                <a:solidFill>
                  <a:srgbClr val="FFFFFF"/>
                </a:soli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  <a:latin typeface="Calibri"/>
                <a:ea typeface="Calibri"/>
                <a:cs typeface="Calibri"/>
              </a:rPr>
              <a:t xml:space="preserve"> </a:t>
            </a:r>
            <a:r>
              <a:rPr lang="en-US" sz="3800" b="1" dirty="0" err="1">
                <a:solidFill>
                  <a:srgbClr val="FFFFFF"/>
                </a:soli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  <a:latin typeface="Calibri"/>
                <a:ea typeface="Calibri"/>
                <a:cs typeface="Calibri"/>
              </a:rPr>
              <a:t>eines</a:t>
            </a:r>
            <a:r>
              <a:rPr lang="en-US" sz="3800" b="1" dirty="0">
                <a:solidFill>
                  <a:srgbClr val="FFFFFF"/>
                </a:soli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  <a:latin typeface="Calibri"/>
                <a:ea typeface="Calibri"/>
                <a:cs typeface="Calibri"/>
              </a:rPr>
              <a:t xml:space="preserve"> </a:t>
            </a:r>
            <a:r>
              <a:rPr lang="en-US" sz="3800" b="1" dirty="0" err="1">
                <a:solidFill>
                  <a:srgbClr val="FFFFFF"/>
                </a:soli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  <a:latin typeface="Calibri"/>
                <a:ea typeface="Calibri"/>
                <a:cs typeface="Calibri"/>
              </a:rPr>
              <a:t>zentralen</a:t>
            </a:r>
            <a:endParaRPr lang="en-US" sz="3800" dirty="0">
              <a:effectLst>
                <a:outerShdw blurRad="50800" dist="38100" dir="16200000" rotWithShape="0">
                  <a:prstClr val="black">
                    <a:alpha val="40000"/>
                  </a:prstClr>
                </a:outerShdw>
              </a:effectLst>
            </a:endParaRPr>
          </a:p>
          <a:p>
            <a:pPr marL="0" indent="0" algn="l">
              <a:buNone/>
              <a:defRPr/>
            </a:pPr>
            <a:r>
              <a:rPr lang="en-US" sz="3800" b="1" dirty="0">
                <a:solidFill>
                  <a:srgbClr val="FFFFFF"/>
                </a:soli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  <a:latin typeface="Calibri"/>
                <a:ea typeface="Calibri"/>
                <a:cs typeface="Calibri"/>
              </a:rPr>
              <a:t>Monitoring-Systems</a:t>
            </a:r>
            <a:endParaRPr lang="en-US" sz="3800" dirty="0">
              <a:effectLst>
                <a:outerShdw blurRad="50800" dist="38100" dir="16200000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610456591" name="Text 2"/>
          <p:cNvSpPr/>
          <p:nvPr/>
        </p:nvSpPr>
        <p:spPr bwMode="auto">
          <a:xfrm>
            <a:off x="502920" y="283464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2000">
                <a:solidFill>
                  <a:srgbClr val="D6E4F0"/>
                </a:solidFill>
                <a:latin typeface="Calibri"/>
                <a:ea typeface="Calibri"/>
                <a:cs typeface="Calibri"/>
              </a:rPr>
              <a:t>Abschlussprojekt Fachinformatiker Systemintegration · Sommer 2026</a:t>
            </a:r>
            <a:endParaRPr lang="en-US" sz="2000"/>
          </a:p>
        </p:txBody>
      </p:sp>
      <p:sp>
        <p:nvSpPr>
          <p:cNvPr id="357178745" name="Text 3"/>
          <p:cNvSpPr/>
          <p:nvPr/>
        </p:nvSpPr>
        <p:spPr bwMode="auto">
          <a:xfrm>
            <a:off x="502920" y="448056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1300">
                <a:solidFill>
                  <a:srgbClr val="8BAFC8"/>
                </a:solidFill>
                <a:latin typeface="Calibri"/>
                <a:ea typeface="Calibri"/>
                <a:cs typeface="Calibri"/>
              </a:rPr>
              <a:t>Ioannis Kiourtzidis  |  Bissantz &amp; Company GmbH  |  Sommer 2026</a:t>
            </a:r>
            <a:endParaRPr lang="en-US" sz="1300"/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7351199" name="Shape 3"/>
          <p:cNvSpPr/>
          <p:nvPr/>
        </p:nvSpPr>
        <p:spPr bwMode="auto">
          <a:xfrm>
            <a:off x="411480" y="1014984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2033021" name="Shape 9"/>
          <p:cNvSpPr/>
          <p:nvPr/>
        </p:nvSpPr>
        <p:spPr bwMode="auto">
          <a:xfrm>
            <a:off x="411480" y="100584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63280750" name="Shape 8"/>
          <p:cNvSpPr/>
          <p:nvPr/>
        </p:nvSpPr>
        <p:spPr bwMode="auto">
          <a:xfrm>
            <a:off x="411480" y="196596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963769775" name="!!Shape 0"/>
          <p:cNvSpPr/>
          <p:nvPr/>
        </p:nvSpPr>
        <p:spPr bwMode="auto">
          <a:xfrm>
            <a:off x="411480" y="201168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2600" b="1" dirty="0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Agenda</a:t>
            </a:r>
            <a:endParaRPr lang="en-US" sz="2600" dirty="0"/>
          </a:p>
        </p:txBody>
      </p:sp>
      <p:sp>
        <p:nvSpPr>
          <p:cNvPr id="1211097787" name="Shape 1"/>
          <p:cNvSpPr/>
          <p:nvPr/>
        </p:nvSpPr>
        <p:spPr bwMode="auto">
          <a:xfrm>
            <a:off x="411480" y="822960"/>
            <a:ext cx="8321039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35611619" name="Shape 4"/>
          <p:cNvSpPr/>
          <p:nvPr/>
        </p:nvSpPr>
        <p:spPr bwMode="auto">
          <a:xfrm>
            <a:off x="411480" y="196596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04840831" name="Text 5"/>
          <p:cNvSpPr/>
          <p:nvPr/>
        </p:nvSpPr>
        <p:spPr bwMode="auto">
          <a:xfrm>
            <a:off x="411480" y="100584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01</a:t>
            </a:r>
            <a:endParaRPr lang="en-US" sz="1400"/>
          </a:p>
        </p:txBody>
      </p:sp>
      <p:sp>
        <p:nvSpPr>
          <p:cNvPr id="1026750607" name="Text 6"/>
          <p:cNvSpPr/>
          <p:nvPr/>
        </p:nvSpPr>
        <p:spPr bwMode="auto">
          <a:xfrm>
            <a:off x="1005840" y="10515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Ausgangssituation &amp; Problem</a:t>
            </a:r>
            <a:endParaRPr lang="en-US" sz="1300"/>
          </a:p>
        </p:txBody>
      </p:sp>
      <p:sp>
        <p:nvSpPr>
          <p:cNvPr id="30156623" name="Text 10"/>
          <p:cNvSpPr/>
          <p:nvPr/>
        </p:nvSpPr>
        <p:spPr bwMode="auto">
          <a:xfrm>
            <a:off x="411480" y="196596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02</a:t>
            </a:r>
            <a:endParaRPr lang="en-US" sz="1400"/>
          </a:p>
        </p:txBody>
      </p:sp>
      <p:sp>
        <p:nvSpPr>
          <p:cNvPr id="752962867" name="Text 11"/>
          <p:cNvSpPr/>
          <p:nvPr/>
        </p:nvSpPr>
        <p:spPr bwMode="auto">
          <a:xfrm>
            <a:off x="1005840" y="20116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Projektziel</a:t>
            </a:r>
            <a:endParaRPr lang="en-US" sz="1300" dirty="0"/>
          </a:p>
        </p:txBody>
      </p:sp>
      <p:sp>
        <p:nvSpPr>
          <p:cNvPr id="632577923" name="Shape 13"/>
          <p:cNvSpPr/>
          <p:nvPr/>
        </p:nvSpPr>
        <p:spPr bwMode="auto">
          <a:xfrm>
            <a:off x="411480" y="292608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86186051" name="Shape 14"/>
          <p:cNvSpPr/>
          <p:nvPr/>
        </p:nvSpPr>
        <p:spPr bwMode="auto">
          <a:xfrm>
            <a:off x="411480" y="292608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81764811" name="Text 15"/>
          <p:cNvSpPr/>
          <p:nvPr/>
        </p:nvSpPr>
        <p:spPr bwMode="auto">
          <a:xfrm>
            <a:off x="411480" y="292608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03</a:t>
            </a:r>
            <a:endParaRPr lang="en-US" sz="1400"/>
          </a:p>
        </p:txBody>
      </p:sp>
      <p:sp>
        <p:nvSpPr>
          <p:cNvPr id="1523102982" name="Text 16"/>
          <p:cNvSpPr/>
          <p:nvPr/>
        </p:nvSpPr>
        <p:spPr bwMode="auto">
          <a:xfrm>
            <a:off x="1005840" y="29718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Systemarchitektur</a:t>
            </a:r>
            <a:endParaRPr lang="en-US" sz="1300"/>
          </a:p>
        </p:txBody>
      </p:sp>
      <p:sp>
        <p:nvSpPr>
          <p:cNvPr id="660524581" name="Shape 18"/>
          <p:cNvSpPr/>
          <p:nvPr/>
        </p:nvSpPr>
        <p:spPr bwMode="auto">
          <a:xfrm>
            <a:off x="411480" y="388620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11362712" name="Shape 19"/>
          <p:cNvSpPr/>
          <p:nvPr/>
        </p:nvSpPr>
        <p:spPr bwMode="auto">
          <a:xfrm>
            <a:off x="411480" y="388620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73094154" name="Text 20"/>
          <p:cNvSpPr/>
          <p:nvPr/>
        </p:nvSpPr>
        <p:spPr bwMode="auto">
          <a:xfrm>
            <a:off x="411480" y="388620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04</a:t>
            </a:r>
            <a:endParaRPr lang="en-US" sz="1400"/>
          </a:p>
        </p:txBody>
      </p:sp>
      <p:sp>
        <p:nvSpPr>
          <p:cNvPr id="89037806" name="Text 21"/>
          <p:cNvSpPr/>
          <p:nvPr/>
        </p:nvSpPr>
        <p:spPr bwMode="auto">
          <a:xfrm>
            <a:off x="1005840" y="39319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Technologie-Entscheidung</a:t>
            </a:r>
            <a:endParaRPr lang="en-US" sz="1300"/>
          </a:p>
        </p:txBody>
      </p:sp>
      <p:sp>
        <p:nvSpPr>
          <p:cNvPr id="1106073471" name="Shape 23"/>
          <p:cNvSpPr/>
          <p:nvPr/>
        </p:nvSpPr>
        <p:spPr bwMode="auto">
          <a:xfrm>
            <a:off x="4754880" y="100584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16053288" name="Shape 24"/>
          <p:cNvSpPr/>
          <p:nvPr/>
        </p:nvSpPr>
        <p:spPr bwMode="auto">
          <a:xfrm>
            <a:off x="4754880" y="100584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89451003" name="Text 25"/>
          <p:cNvSpPr/>
          <p:nvPr/>
        </p:nvSpPr>
        <p:spPr bwMode="auto">
          <a:xfrm>
            <a:off x="4754880" y="100584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05</a:t>
            </a:r>
            <a:endParaRPr lang="en-US" sz="1400"/>
          </a:p>
        </p:txBody>
      </p:sp>
      <p:sp>
        <p:nvSpPr>
          <p:cNvPr id="626687986" name="Text 26"/>
          <p:cNvSpPr/>
          <p:nvPr/>
        </p:nvSpPr>
        <p:spPr bwMode="auto">
          <a:xfrm>
            <a:off x="5349240" y="10515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Implementierung</a:t>
            </a:r>
            <a:endParaRPr lang="en-US" sz="1300"/>
          </a:p>
        </p:txBody>
      </p:sp>
      <p:sp>
        <p:nvSpPr>
          <p:cNvPr id="875132478" name="Shape 28"/>
          <p:cNvSpPr/>
          <p:nvPr/>
        </p:nvSpPr>
        <p:spPr bwMode="auto">
          <a:xfrm>
            <a:off x="4754880" y="196596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16930259" name="Shape 29"/>
          <p:cNvSpPr/>
          <p:nvPr/>
        </p:nvSpPr>
        <p:spPr bwMode="auto">
          <a:xfrm>
            <a:off x="4754880" y="196596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1118695" name="Text 30"/>
          <p:cNvSpPr/>
          <p:nvPr/>
        </p:nvSpPr>
        <p:spPr bwMode="auto">
          <a:xfrm>
            <a:off x="4754880" y="196596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06</a:t>
            </a:r>
            <a:endParaRPr lang="en-US" sz="1400"/>
          </a:p>
        </p:txBody>
      </p:sp>
      <p:sp>
        <p:nvSpPr>
          <p:cNvPr id="71463573" name="Text 31"/>
          <p:cNvSpPr/>
          <p:nvPr/>
        </p:nvSpPr>
        <p:spPr bwMode="auto">
          <a:xfrm>
            <a:off x="5349240" y="20116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Tests &amp; Ergebnisse</a:t>
            </a:r>
            <a:endParaRPr lang="en-US" sz="1300"/>
          </a:p>
        </p:txBody>
      </p:sp>
      <p:sp>
        <p:nvSpPr>
          <p:cNvPr id="1248020954" name="Shape 33"/>
          <p:cNvSpPr/>
          <p:nvPr/>
        </p:nvSpPr>
        <p:spPr bwMode="auto">
          <a:xfrm>
            <a:off x="4754880" y="292608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56535827" name="Shape 34"/>
          <p:cNvSpPr/>
          <p:nvPr/>
        </p:nvSpPr>
        <p:spPr bwMode="auto">
          <a:xfrm>
            <a:off x="4754880" y="292608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69407709" name="Text 35"/>
          <p:cNvSpPr/>
          <p:nvPr/>
        </p:nvSpPr>
        <p:spPr bwMode="auto">
          <a:xfrm>
            <a:off x="4754880" y="292608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07</a:t>
            </a:r>
            <a:endParaRPr lang="en-US" sz="1400"/>
          </a:p>
        </p:txBody>
      </p:sp>
      <p:sp>
        <p:nvSpPr>
          <p:cNvPr id="1778507062" name="Text 36"/>
          <p:cNvSpPr/>
          <p:nvPr/>
        </p:nvSpPr>
        <p:spPr bwMode="auto">
          <a:xfrm>
            <a:off x="5349240" y="29718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Nutzwertanalyse &amp; Empfehlung</a:t>
            </a:r>
            <a:endParaRPr lang="en-US" sz="1300"/>
          </a:p>
        </p:txBody>
      </p:sp>
      <p:sp>
        <p:nvSpPr>
          <p:cNvPr id="1609885425" name="Shape 38"/>
          <p:cNvSpPr/>
          <p:nvPr/>
        </p:nvSpPr>
        <p:spPr bwMode="auto">
          <a:xfrm>
            <a:off x="4754880" y="388620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0939996" name="Shape 39"/>
          <p:cNvSpPr/>
          <p:nvPr/>
        </p:nvSpPr>
        <p:spPr bwMode="auto">
          <a:xfrm>
            <a:off x="4754880" y="388620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48073713" name="Text 40"/>
          <p:cNvSpPr/>
          <p:nvPr/>
        </p:nvSpPr>
        <p:spPr bwMode="auto">
          <a:xfrm>
            <a:off x="4754880" y="388620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08</a:t>
            </a:r>
            <a:endParaRPr lang="en-US" sz="1400"/>
          </a:p>
        </p:txBody>
      </p:sp>
      <p:sp>
        <p:nvSpPr>
          <p:cNvPr id="1965357587" name="Text 41"/>
          <p:cNvSpPr/>
          <p:nvPr/>
        </p:nvSpPr>
        <p:spPr bwMode="auto">
          <a:xfrm>
            <a:off x="5349240" y="39319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Fazit &amp; Ausblick</a:t>
            </a:r>
            <a:endParaRPr lang="en-US" sz="1300"/>
          </a:p>
        </p:txBody>
      </p:sp>
      <p:sp>
        <p:nvSpPr>
          <p:cNvPr id="4" name="Anzeiger">
            <a:extLst>
              <a:ext uri="{FF2B5EF4-FFF2-40B4-BE49-F238E27FC236}">
                <a16:creationId xmlns:a16="http://schemas.microsoft.com/office/drawing/2014/main" id="{347CB75D-8076-B202-0462-2D959EF0600E}"/>
              </a:ext>
            </a:extLst>
          </p:cNvPr>
          <p:cNvSpPr/>
          <p:nvPr/>
        </p:nvSpPr>
        <p:spPr bwMode="auto">
          <a:xfrm>
            <a:off x="450963" y="-1627632"/>
            <a:ext cx="4160519" cy="749808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00050" name="Seitenzahl"/>
          <p:cNvSpPr/>
          <p:nvPr/>
        </p:nvSpPr>
        <p:spPr bwMode="auto">
          <a:xfrm>
            <a:off x="8250000" y="4970000"/>
            <a:ext cx="750000" cy="1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de-DE" sz="900" dirty="0">
                <a:solidFill>
                  <a:srgbClr val="5A8AB0"/>
                </a:solidFill>
                <a:latin typeface="Calibri"/>
                <a:ea typeface="Calibri"/>
                <a:cs typeface="Calibri"/>
              </a:rPr>
              <a:t>2 von 28</a:t>
            </a:r>
            <a:endParaRPr lang="de-DE" sz="9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9865769" name="Text 0"/>
          <p:cNvSpPr/>
          <p:nvPr/>
        </p:nvSpPr>
        <p:spPr bwMode="auto">
          <a:xfrm>
            <a:off x="411480" y="201168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260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Agenda</a:t>
            </a:r>
            <a:endParaRPr lang="en-US" sz="2600"/>
          </a:p>
        </p:txBody>
      </p:sp>
      <p:sp>
        <p:nvSpPr>
          <p:cNvPr id="1180477243" name="Shape 1"/>
          <p:cNvSpPr/>
          <p:nvPr/>
        </p:nvSpPr>
        <p:spPr bwMode="auto">
          <a:xfrm>
            <a:off x="411480" y="822960"/>
            <a:ext cx="8321039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97553891" name="Shape 3"/>
          <p:cNvSpPr/>
          <p:nvPr/>
        </p:nvSpPr>
        <p:spPr bwMode="auto">
          <a:xfrm>
            <a:off x="411480" y="100584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86617083" name="Shape 4"/>
          <p:cNvSpPr/>
          <p:nvPr/>
        </p:nvSpPr>
        <p:spPr bwMode="auto">
          <a:xfrm>
            <a:off x="411480" y="100584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134630197" name="Text 5"/>
          <p:cNvSpPr/>
          <p:nvPr/>
        </p:nvSpPr>
        <p:spPr bwMode="auto">
          <a:xfrm>
            <a:off x="411480" y="100584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01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520717504" name="Text 6"/>
          <p:cNvSpPr/>
          <p:nvPr/>
        </p:nvSpPr>
        <p:spPr bwMode="auto">
          <a:xfrm>
            <a:off x="1005840" y="10515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Ausgangssituation &amp; Problem</a:t>
            </a:r>
            <a:endParaRPr lang="en-US" sz="1300"/>
          </a:p>
        </p:txBody>
      </p:sp>
      <p:sp>
        <p:nvSpPr>
          <p:cNvPr id="1069026900" name="Shape 8"/>
          <p:cNvSpPr/>
          <p:nvPr/>
        </p:nvSpPr>
        <p:spPr bwMode="auto">
          <a:xfrm>
            <a:off x="411480" y="196596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93534599" name="Shape 9"/>
          <p:cNvSpPr/>
          <p:nvPr/>
        </p:nvSpPr>
        <p:spPr bwMode="auto">
          <a:xfrm>
            <a:off x="411480" y="196596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24632613" name="Text 10"/>
          <p:cNvSpPr/>
          <p:nvPr/>
        </p:nvSpPr>
        <p:spPr bwMode="auto">
          <a:xfrm>
            <a:off x="411480" y="196596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02</a:t>
            </a:r>
            <a:endParaRPr lang="en-US" sz="1400"/>
          </a:p>
        </p:txBody>
      </p:sp>
      <p:sp>
        <p:nvSpPr>
          <p:cNvPr id="2060393772" name="Text 11"/>
          <p:cNvSpPr/>
          <p:nvPr/>
        </p:nvSpPr>
        <p:spPr bwMode="auto">
          <a:xfrm>
            <a:off x="1005840" y="20116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 dirty="0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Projektziel</a:t>
            </a:r>
            <a:endParaRPr sz="13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04152346" name="Shape 13"/>
          <p:cNvSpPr/>
          <p:nvPr/>
        </p:nvSpPr>
        <p:spPr bwMode="auto">
          <a:xfrm>
            <a:off x="411480" y="292608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48734118" name="Shape 14"/>
          <p:cNvSpPr/>
          <p:nvPr/>
        </p:nvSpPr>
        <p:spPr bwMode="auto">
          <a:xfrm>
            <a:off x="411480" y="292608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82284612" name="Text 15"/>
          <p:cNvSpPr/>
          <p:nvPr/>
        </p:nvSpPr>
        <p:spPr bwMode="auto">
          <a:xfrm>
            <a:off x="411480" y="292608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03</a:t>
            </a:r>
            <a:endParaRPr lang="en-US" sz="1400"/>
          </a:p>
        </p:txBody>
      </p:sp>
      <p:sp>
        <p:nvSpPr>
          <p:cNvPr id="720761890" name="Text 16"/>
          <p:cNvSpPr/>
          <p:nvPr/>
        </p:nvSpPr>
        <p:spPr bwMode="auto">
          <a:xfrm>
            <a:off x="1005840" y="29718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Systemarchitektur</a:t>
            </a:r>
            <a:endParaRPr sz="130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061233739" name="Shape 18"/>
          <p:cNvSpPr/>
          <p:nvPr/>
        </p:nvSpPr>
        <p:spPr bwMode="auto">
          <a:xfrm>
            <a:off x="411480" y="388620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7611453" name="Shape 19"/>
          <p:cNvSpPr/>
          <p:nvPr/>
        </p:nvSpPr>
        <p:spPr bwMode="auto">
          <a:xfrm>
            <a:off x="411480" y="388620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53731652" name="Text 20"/>
          <p:cNvSpPr/>
          <p:nvPr/>
        </p:nvSpPr>
        <p:spPr bwMode="auto">
          <a:xfrm>
            <a:off x="411480" y="388620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04</a:t>
            </a:r>
            <a:endParaRPr lang="en-US" sz="1400"/>
          </a:p>
        </p:txBody>
      </p:sp>
      <p:sp>
        <p:nvSpPr>
          <p:cNvPr id="843744979" name="Text 21"/>
          <p:cNvSpPr/>
          <p:nvPr/>
        </p:nvSpPr>
        <p:spPr bwMode="auto">
          <a:xfrm>
            <a:off x="1005840" y="39319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Technologie-Entscheidung</a:t>
            </a:r>
            <a:endParaRPr sz="130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480490211" name="Shape 23"/>
          <p:cNvSpPr/>
          <p:nvPr/>
        </p:nvSpPr>
        <p:spPr bwMode="auto">
          <a:xfrm>
            <a:off x="4754880" y="100584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91494536" name="Shape 24"/>
          <p:cNvSpPr/>
          <p:nvPr/>
        </p:nvSpPr>
        <p:spPr bwMode="auto">
          <a:xfrm>
            <a:off x="4754880" y="100584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39465826" name="Text 25"/>
          <p:cNvSpPr/>
          <p:nvPr/>
        </p:nvSpPr>
        <p:spPr bwMode="auto">
          <a:xfrm>
            <a:off x="4754880" y="100584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05</a:t>
            </a:r>
            <a:endParaRPr lang="en-US" sz="1400"/>
          </a:p>
        </p:txBody>
      </p:sp>
      <p:sp>
        <p:nvSpPr>
          <p:cNvPr id="344605560" name="Text 26"/>
          <p:cNvSpPr/>
          <p:nvPr/>
        </p:nvSpPr>
        <p:spPr bwMode="auto">
          <a:xfrm>
            <a:off x="5349240" y="10515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Implementierung</a:t>
            </a:r>
            <a:endParaRPr sz="130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905771511" name="Shape 28"/>
          <p:cNvSpPr/>
          <p:nvPr/>
        </p:nvSpPr>
        <p:spPr bwMode="auto">
          <a:xfrm>
            <a:off x="4754880" y="196596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4750572" name="Shape 29"/>
          <p:cNvSpPr/>
          <p:nvPr/>
        </p:nvSpPr>
        <p:spPr bwMode="auto">
          <a:xfrm>
            <a:off x="4754880" y="196596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68469905" name="Text 30"/>
          <p:cNvSpPr/>
          <p:nvPr/>
        </p:nvSpPr>
        <p:spPr bwMode="auto">
          <a:xfrm>
            <a:off x="4754880" y="196596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06</a:t>
            </a:r>
            <a:endParaRPr lang="en-US" sz="1400"/>
          </a:p>
        </p:txBody>
      </p:sp>
      <p:sp>
        <p:nvSpPr>
          <p:cNvPr id="19813883" name="Text 31"/>
          <p:cNvSpPr/>
          <p:nvPr/>
        </p:nvSpPr>
        <p:spPr bwMode="auto">
          <a:xfrm>
            <a:off x="5349240" y="20116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Tests &amp; Ergebnisse</a:t>
            </a:r>
            <a:endParaRPr sz="130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473448204" name="Shape 33"/>
          <p:cNvSpPr/>
          <p:nvPr/>
        </p:nvSpPr>
        <p:spPr bwMode="auto">
          <a:xfrm>
            <a:off x="4754880" y="292608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17634101" name="Shape 34"/>
          <p:cNvSpPr/>
          <p:nvPr/>
        </p:nvSpPr>
        <p:spPr bwMode="auto">
          <a:xfrm>
            <a:off x="4754880" y="292608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84474072" name="Text 35"/>
          <p:cNvSpPr/>
          <p:nvPr/>
        </p:nvSpPr>
        <p:spPr bwMode="auto">
          <a:xfrm>
            <a:off x="4754880" y="292608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07</a:t>
            </a:r>
            <a:endParaRPr lang="en-US" sz="1400"/>
          </a:p>
        </p:txBody>
      </p:sp>
      <p:sp>
        <p:nvSpPr>
          <p:cNvPr id="1227101324" name="Text 36"/>
          <p:cNvSpPr/>
          <p:nvPr/>
        </p:nvSpPr>
        <p:spPr bwMode="auto">
          <a:xfrm>
            <a:off x="5349240" y="29718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Nutzwertanalyse &amp; Empfehlung</a:t>
            </a:r>
            <a:endParaRPr sz="130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144234917" name="Shape 38"/>
          <p:cNvSpPr/>
          <p:nvPr/>
        </p:nvSpPr>
        <p:spPr bwMode="auto">
          <a:xfrm>
            <a:off x="4754880" y="388620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91711755" name="Shape 39"/>
          <p:cNvSpPr/>
          <p:nvPr/>
        </p:nvSpPr>
        <p:spPr bwMode="auto">
          <a:xfrm>
            <a:off x="4754880" y="388620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25092358" name="Text 40"/>
          <p:cNvSpPr/>
          <p:nvPr/>
        </p:nvSpPr>
        <p:spPr bwMode="auto">
          <a:xfrm>
            <a:off x="4754880" y="388620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08</a:t>
            </a:r>
            <a:endParaRPr lang="en-US" sz="1400"/>
          </a:p>
        </p:txBody>
      </p:sp>
      <p:sp>
        <p:nvSpPr>
          <p:cNvPr id="1976541983" name="Text 41"/>
          <p:cNvSpPr/>
          <p:nvPr/>
        </p:nvSpPr>
        <p:spPr bwMode="auto">
          <a:xfrm>
            <a:off x="5349240" y="39319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Fazit &amp; Ausblick</a:t>
            </a:r>
            <a:endParaRPr sz="130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3" name="Anzeiger">
            <a:extLst>
              <a:ext uri="{FF2B5EF4-FFF2-40B4-BE49-F238E27FC236}">
                <a16:creationId xmlns:a16="http://schemas.microsoft.com/office/drawing/2014/main" id="{ED7871FD-D67F-9B4C-DF68-EE0204920C22}"/>
              </a:ext>
            </a:extLst>
          </p:cNvPr>
          <p:cNvSpPr/>
          <p:nvPr/>
        </p:nvSpPr>
        <p:spPr bwMode="auto">
          <a:xfrm>
            <a:off x="412864" y="1005840"/>
            <a:ext cx="4160519" cy="749808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00050" name="Seitenzahl"/>
          <p:cNvSpPr/>
          <p:nvPr/>
        </p:nvSpPr>
        <p:spPr bwMode="auto">
          <a:xfrm>
            <a:off x="8250000" y="4970000"/>
            <a:ext cx="750000" cy="1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de-DE" sz="900" dirty="0">
                <a:solidFill>
                  <a:srgbClr val="5A8AB0"/>
                </a:solidFill>
                <a:latin typeface="Calibri"/>
                <a:ea typeface="Calibri"/>
                <a:cs typeface="Calibri"/>
              </a:rPr>
              <a:t>3 von 28</a:t>
            </a:r>
            <a:endParaRPr lang="de-DE" sz="9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900387" name="Text 0"/>
          <p:cNvSpPr/>
          <p:nvPr/>
        </p:nvSpPr>
        <p:spPr bwMode="auto">
          <a:xfrm>
            <a:off x="411480" y="201168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260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Agenda</a:t>
            </a:r>
            <a:endParaRPr lang="en-US" sz="2600"/>
          </a:p>
        </p:txBody>
      </p:sp>
      <p:sp>
        <p:nvSpPr>
          <p:cNvPr id="626935657" name="Shape 1"/>
          <p:cNvSpPr/>
          <p:nvPr/>
        </p:nvSpPr>
        <p:spPr bwMode="auto">
          <a:xfrm>
            <a:off x="411480" y="822960"/>
            <a:ext cx="8321039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109788228" name="Shape 3"/>
          <p:cNvSpPr/>
          <p:nvPr/>
        </p:nvSpPr>
        <p:spPr bwMode="auto">
          <a:xfrm>
            <a:off x="411480" y="100584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19557890" name="Shape 4"/>
          <p:cNvSpPr/>
          <p:nvPr/>
        </p:nvSpPr>
        <p:spPr bwMode="auto">
          <a:xfrm>
            <a:off x="411480" y="100584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22117928" name="Text 5"/>
          <p:cNvSpPr/>
          <p:nvPr/>
        </p:nvSpPr>
        <p:spPr bwMode="auto">
          <a:xfrm>
            <a:off x="411480" y="100584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01</a:t>
            </a:r>
            <a:endParaRPr lang="en-US" sz="1400"/>
          </a:p>
        </p:txBody>
      </p:sp>
      <p:sp>
        <p:nvSpPr>
          <p:cNvPr id="1609944422" name="Text 6"/>
          <p:cNvSpPr/>
          <p:nvPr/>
        </p:nvSpPr>
        <p:spPr bwMode="auto">
          <a:xfrm>
            <a:off x="1005840" y="10515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Ausgangssituation &amp; Problem</a:t>
            </a:r>
            <a:endParaRPr sz="130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392623497" name="Shape 8"/>
          <p:cNvSpPr/>
          <p:nvPr/>
        </p:nvSpPr>
        <p:spPr bwMode="auto">
          <a:xfrm>
            <a:off x="411480" y="196596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598139430" name="Shape 9"/>
          <p:cNvSpPr/>
          <p:nvPr/>
        </p:nvSpPr>
        <p:spPr bwMode="auto">
          <a:xfrm>
            <a:off x="411480" y="196596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50547030" name="Text 10"/>
          <p:cNvSpPr/>
          <p:nvPr/>
        </p:nvSpPr>
        <p:spPr bwMode="auto">
          <a:xfrm>
            <a:off x="411480" y="196596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02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67332363" name="Text 11"/>
          <p:cNvSpPr/>
          <p:nvPr/>
        </p:nvSpPr>
        <p:spPr bwMode="auto">
          <a:xfrm>
            <a:off x="1005840" y="20116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Projektziel</a:t>
            </a:r>
            <a:endParaRPr sz="1300" dirty="0">
              <a:solidFill>
                <a:schemeClr val="tx1"/>
              </a:solidFill>
            </a:endParaRPr>
          </a:p>
        </p:txBody>
      </p:sp>
      <p:sp>
        <p:nvSpPr>
          <p:cNvPr id="1913816319" name="Shape 13"/>
          <p:cNvSpPr/>
          <p:nvPr/>
        </p:nvSpPr>
        <p:spPr bwMode="auto">
          <a:xfrm>
            <a:off x="411480" y="292608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3625843" name="Shape 14"/>
          <p:cNvSpPr/>
          <p:nvPr/>
        </p:nvSpPr>
        <p:spPr bwMode="auto">
          <a:xfrm>
            <a:off x="411480" y="292608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96932930" name="Text 15"/>
          <p:cNvSpPr/>
          <p:nvPr/>
        </p:nvSpPr>
        <p:spPr bwMode="auto">
          <a:xfrm>
            <a:off x="411480" y="292608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03</a:t>
            </a:r>
            <a:endParaRPr lang="en-US" sz="1400"/>
          </a:p>
        </p:txBody>
      </p:sp>
      <p:sp>
        <p:nvSpPr>
          <p:cNvPr id="1073533166" name="Text 16"/>
          <p:cNvSpPr/>
          <p:nvPr/>
        </p:nvSpPr>
        <p:spPr bwMode="auto">
          <a:xfrm>
            <a:off x="1005840" y="29718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Systemarchitektur</a:t>
            </a:r>
            <a:endParaRPr sz="130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229106082" name="Shape 18"/>
          <p:cNvSpPr/>
          <p:nvPr/>
        </p:nvSpPr>
        <p:spPr bwMode="auto">
          <a:xfrm>
            <a:off x="411480" y="388620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588531412" name="Shape 19"/>
          <p:cNvSpPr/>
          <p:nvPr/>
        </p:nvSpPr>
        <p:spPr bwMode="auto">
          <a:xfrm>
            <a:off x="411480" y="388620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39993939" name="Text 20"/>
          <p:cNvSpPr/>
          <p:nvPr/>
        </p:nvSpPr>
        <p:spPr bwMode="auto">
          <a:xfrm>
            <a:off x="411480" y="388620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04</a:t>
            </a:r>
            <a:endParaRPr lang="en-US" sz="1400"/>
          </a:p>
        </p:txBody>
      </p:sp>
      <p:sp>
        <p:nvSpPr>
          <p:cNvPr id="2110354638" name="Text 21"/>
          <p:cNvSpPr/>
          <p:nvPr/>
        </p:nvSpPr>
        <p:spPr bwMode="auto">
          <a:xfrm>
            <a:off x="1005840" y="39319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Technologie-Entscheidung</a:t>
            </a:r>
            <a:endParaRPr sz="130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108881272" name="Shape 23"/>
          <p:cNvSpPr/>
          <p:nvPr/>
        </p:nvSpPr>
        <p:spPr bwMode="auto">
          <a:xfrm>
            <a:off x="4754880" y="100584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5715388" name="Shape 24"/>
          <p:cNvSpPr/>
          <p:nvPr/>
        </p:nvSpPr>
        <p:spPr bwMode="auto">
          <a:xfrm>
            <a:off x="4754880" y="100584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26432951" name="Text 25"/>
          <p:cNvSpPr/>
          <p:nvPr/>
        </p:nvSpPr>
        <p:spPr bwMode="auto">
          <a:xfrm>
            <a:off x="4754880" y="100584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05</a:t>
            </a:r>
            <a:endParaRPr lang="en-US" sz="1400"/>
          </a:p>
        </p:txBody>
      </p:sp>
      <p:sp>
        <p:nvSpPr>
          <p:cNvPr id="1823361809" name="Text 26"/>
          <p:cNvSpPr/>
          <p:nvPr/>
        </p:nvSpPr>
        <p:spPr bwMode="auto">
          <a:xfrm>
            <a:off x="5349240" y="10515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Implementierung</a:t>
            </a:r>
            <a:endParaRPr sz="130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946668116" name="Shape 28"/>
          <p:cNvSpPr/>
          <p:nvPr/>
        </p:nvSpPr>
        <p:spPr bwMode="auto">
          <a:xfrm>
            <a:off x="4754880" y="196596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59494867" name="Shape 29"/>
          <p:cNvSpPr/>
          <p:nvPr/>
        </p:nvSpPr>
        <p:spPr bwMode="auto">
          <a:xfrm>
            <a:off x="4754880" y="196596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114016406" name="Text 30"/>
          <p:cNvSpPr/>
          <p:nvPr/>
        </p:nvSpPr>
        <p:spPr bwMode="auto">
          <a:xfrm>
            <a:off x="4754880" y="196596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06</a:t>
            </a:r>
            <a:endParaRPr lang="en-US" sz="1400"/>
          </a:p>
        </p:txBody>
      </p:sp>
      <p:sp>
        <p:nvSpPr>
          <p:cNvPr id="933118856" name="Text 31"/>
          <p:cNvSpPr/>
          <p:nvPr/>
        </p:nvSpPr>
        <p:spPr bwMode="auto">
          <a:xfrm>
            <a:off x="5349240" y="20116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Tests &amp; Ergebnisse</a:t>
            </a:r>
            <a:endParaRPr sz="130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2035567326" name="Shape 33"/>
          <p:cNvSpPr/>
          <p:nvPr/>
        </p:nvSpPr>
        <p:spPr bwMode="auto">
          <a:xfrm>
            <a:off x="4754880" y="292608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23057362" name="Shape 34"/>
          <p:cNvSpPr/>
          <p:nvPr/>
        </p:nvSpPr>
        <p:spPr bwMode="auto">
          <a:xfrm>
            <a:off x="4754880" y="292608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31598580" name="Text 35"/>
          <p:cNvSpPr/>
          <p:nvPr/>
        </p:nvSpPr>
        <p:spPr bwMode="auto">
          <a:xfrm>
            <a:off x="4754880" y="292608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07</a:t>
            </a:r>
            <a:endParaRPr lang="en-US" sz="1400"/>
          </a:p>
        </p:txBody>
      </p:sp>
      <p:sp>
        <p:nvSpPr>
          <p:cNvPr id="1472362019" name="Text 36"/>
          <p:cNvSpPr/>
          <p:nvPr/>
        </p:nvSpPr>
        <p:spPr bwMode="auto">
          <a:xfrm>
            <a:off x="5349240" y="29718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Nutzwertanalyse &amp; Empfehlung</a:t>
            </a:r>
            <a:endParaRPr sz="130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006883572" name="Shape 38"/>
          <p:cNvSpPr/>
          <p:nvPr/>
        </p:nvSpPr>
        <p:spPr bwMode="auto">
          <a:xfrm>
            <a:off x="4754880" y="388620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968767483" name="Shape 39"/>
          <p:cNvSpPr/>
          <p:nvPr/>
        </p:nvSpPr>
        <p:spPr bwMode="auto">
          <a:xfrm>
            <a:off x="4754880" y="388620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52661534" name="Text 40"/>
          <p:cNvSpPr/>
          <p:nvPr/>
        </p:nvSpPr>
        <p:spPr bwMode="auto">
          <a:xfrm>
            <a:off x="4754880" y="388620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08</a:t>
            </a:r>
            <a:endParaRPr lang="en-US" sz="1400"/>
          </a:p>
        </p:txBody>
      </p:sp>
      <p:sp>
        <p:nvSpPr>
          <p:cNvPr id="90003663" name="Text 41"/>
          <p:cNvSpPr/>
          <p:nvPr/>
        </p:nvSpPr>
        <p:spPr bwMode="auto">
          <a:xfrm>
            <a:off x="5349240" y="39319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Fazit &amp; Ausblick</a:t>
            </a:r>
            <a:endParaRPr sz="130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3" name="Anzeiger">
            <a:extLst>
              <a:ext uri="{FF2B5EF4-FFF2-40B4-BE49-F238E27FC236}">
                <a16:creationId xmlns:a16="http://schemas.microsoft.com/office/drawing/2014/main" id="{DF627B22-79D2-4C88-A426-5F8B1313F903}"/>
              </a:ext>
            </a:extLst>
          </p:cNvPr>
          <p:cNvSpPr/>
          <p:nvPr/>
        </p:nvSpPr>
        <p:spPr bwMode="auto">
          <a:xfrm>
            <a:off x="412864" y="1968727"/>
            <a:ext cx="4160519" cy="749808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00050" name="Seitenzahl"/>
          <p:cNvSpPr/>
          <p:nvPr/>
        </p:nvSpPr>
        <p:spPr bwMode="auto">
          <a:xfrm>
            <a:off x="8250000" y="4970000"/>
            <a:ext cx="750000" cy="1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de-DE" sz="900" dirty="0">
                <a:solidFill>
                  <a:srgbClr val="5A8AB0"/>
                </a:solidFill>
                <a:latin typeface="Calibri"/>
                <a:ea typeface="Calibri"/>
                <a:cs typeface="Calibri"/>
              </a:rPr>
              <a:t>4 von 28</a:t>
            </a:r>
            <a:endParaRPr lang="de-DE" sz="9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4378887" name="Text 0"/>
          <p:cNvSpPr/>
          <p:nvPr/>
        </p:nvSpPr>
        <p:spPr bwMode="auto">
          <a:xfrm>
            <a:off x="411480" y="201168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260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Agenda</a:t>
            </a:r>
            <a:endParaRPr lang="en-US" sz="2600"/>
          </a:p>
        </p:txBody>
      </p:sp>
      <p:sp>
        <p:nvSpPr>
          <p:cNvPr id="869437356" name="Shape 1"/>
          <p:cNvSpPr/>
          <p:nvPr/>
        </p:nvSpPr>
        <p:spPr bwMode="auto">
          <a:xfrm>
            <a:off x="411480" y="822960"/>
            <a:ext cx="8321039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94453572" name="Shape 3"/>
          <p:cNvSpPr/>
          <p:nvPr/>
        </p:nvSpPr>
        <p:spPr bwMode="auto">
          <a:xfrm>
            <a:off x="411480" y="100584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91337661" name="Shape 4"/>
          <p:cNvSpPr/>
          <p:nvPr/>
        </p:nvSpPr>
        <p:spPr bwMode="auto">
          <a:xfrm>
            <a:off x="411480" y="100584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33758461" name="Text 5"/>
          <p:cNvSpPr/>
          <p:nvPr/>
        </p:nvSpPr>
        <p:spPr bwMode="auto">
          <a:xfrm>
            <a:off x="411480" y="100584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01</a:t>
            </a:r>
            <a:endParaRPr lang="en-US" sz="1400"/>
          </a:p>
        </p:txBody>
      </p:sp>
      <p:sp>
        <p:nvSpPr>
          <p:cNvPr id="368860147" name="Text 6"/>
          <p:cNvSpPr/>
          <p:nvPr/>
        </p:nvSpPr>
        <p:spPr bwMode="auto">
          <a:xfrm>
            <a:off x="1005840" y="10515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Ausgangssituation &amp; Problem</a:t>
            </a:r>
            <a:endParaRPr sz="130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448704985" name="Shape 8"/>
          <p:cNvSpPr/>
          <p:nvPr/>
        </p:nvSpPr>
        <p:spPr bwMode="auto">
          <a:xfrm>
            <a:off x="411480" y="196596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21823693" name="Shape 9"/>
          <p:cNvSpPr/>
          <p:nvPr/>
        </p:nvSpPr>
        <p:spPr bwMode="auto">
          <a:xfrm>
            <a:off x="411480" y="196596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33113082" name="Text 10"/>
          <p:cNvSpPr/>
          <p:nvPr/>
        </p:nvSpPr>
        <p:spPr bwMode="auto">
          <a:xfrm>
            <a:off x="411480" y="196596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02</a:t>
            </a:r>
            <a:endParaRPr sz="1400">
              <a:solidFill>
                <a:schemeClr val="bg1"/>
              </a:solidFill>
            </a:endParaRPr>
          </a:p>
        </p:txBody>
      </p:sp>
      <p:sp>
        <p:nvSpPr>
          <p:cNvPr id="1045715279" name="Text 11"/>
          <p:cNvSpPr/>
          <p:nvPr/>
        </p:nvSpPr>
        <p:spPr bwMode="auto">
          <a:xfrm>
            <a:off x="1005840" y="20116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 dirty="0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Projektziel</a:t>
            </a:r>
            <a:endParaRPr sz="13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075426089" name="Shape 13"/>
          <p:cNvSpPr/>
          <p:nvPr/>
        </p:nvSpPr>
        <p:spPr bwMode="auto">
          <a:xfrm>
            <a:off x="411480" y="292608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7492451" name="Shape 14"/>
          <p:cNvSpPr/>
          <p:nvPr/>
        </p:nvSpPr>
        <p:spPr bwMode="auto">
          <a:xfrm>
            <a:off x="411480" y="292608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144350226" name="Text 15"/>
          <p:cNvSpPr/>
          <p:nvPr/>
        </p:nvSpPr>
        <p:spPr bwMode="auto">
          <a:xfrm>
            <a:off x="411480" y="292608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03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2126149793" name="Text 16"/>
          <p:cNvSpPr/>
          <p:nvPr/>
        </p:nvSpPr>
        <p:spPr bwMode="auto">
          <a:xfrm>
            <a:off x="1005840" y="29718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Systemarchitektur</a:t>
            </a:r>
            <a:endParaRPr sz="130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830053037" name="Shape 18"/>
          <p:cNvSpPr/>
          <p:nvPr/>
        </p:nvSpPr>
        <p:spPr bwMode="auto">
          <a:xfrm>
            <a:off x="411480" y="388620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94880504" name="Shape 19"/>
          <p:cNvSpPr/>
          <p:nvPr/>
        </p:nvSpPr>
        <p:spPr bwMode="auto">
          <a:xfrm>
            <a:off x="411480" y="388620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74103900" name="Text 20"/>
          <p:cNvSpPr/>
          <p:nvPr/>
        </p:nvSpPr>
        <p:spPr bwMode="auto">
          <a:xfrm>
            <a:off x="411480" y="388620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04</a:t>
            </a:r>
            <a:endParaRPr lang="en-US" sz="1400"/>
          </a:p>
        </p:txBody>
      </p:sp>
      <p:sp>
        <p:nvSpPr>
          <p:cNvPr id="322012116" name="Text 21"/>
          <p:cNvSpPr/>
          <p:nvPr/>
        </p:nvSpPr>
        <p:spPr bwMode="auto">
          <a:xfrm>
            <a:off x="1005840" y="39319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Technologie-Entscheidung</a:t>
            </a:r>
            <a:endParaRPr sz="130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782292812" name="Shape 23"/>
          <p:cNvSpPr/>
          <p:nvPr/>
        </p:nvSpPr>
        <p:spPr bwMode="auto">
          <a:xfrm>
            <a:off x="4754880" y="100584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38495548" name="Shape 24"/>
          <p:cNvSpPr/>
          <p:nvPr/>
        </p:nvSpPr>
        <p:spPr bwMode="auto">
          <a:xfrm>
            <a:off x="4754880" y="100584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97200296" name="Text 25"/>
          <p:cNvSpPr/>
          <p:nvPr/>
        </p:nvSpPr>
        <p:spPr bwMode="auto">
          <a:xfrm>
            <a:off x="4754880" y="100584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05</a:t>
            </a:r>
            <a:endParaRPr lang="en-US" sz="1400"/>
          </a:p>
        </p:txBody>
      </p:sp>
      <p:sp>
        <p:nvSpPr>
          <p:cNvPr id="2121776462" name="Text 26"/>
          <p:cNvSpPr/>
          <p:nvPr/>
        </p:nvSpPr>
        <p:spPr bwMode="auto">
          <a:xfrm>
            <a:off x="5349240" y="10515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Implementierung</a:t>
            </a:r>
            <a:endParaRPr sz="130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646939193" name="Shape 28"/>
          <p:cNvSpPr/>
          <p:nvPr/>
        </p:nvSpPr>
        <p:spPr bwMode="auto">
          <a:xfrm>
            <a:off x="4754880" y="196596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53839944" name="Shape 29"/>
          <p:cNvSpPr/>
          <p:nvPr/>
        </p:nvSpPr>
        <p:spPr bwMode="auto">
          <a:xfrm>
            <a:off x="4754880" y="196596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60231556" name="Text 30"/>
          <p:cNvSpPr/>
          <p:nvPr/>
        </p:nvSpPr>
        <p:spPr bwMode="auto">
          <a:xfrm>
            <a:off x="4754880" y="196596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06</a:t>
            </a:r>
            <a:endParaRPr lang="en-US" sz="1400"/>
          </a:p>
        </p:txBody>
      </p:sp>
      <p:sp>
        <p:nvSpPr>
          <p:cNvPr id="1783669986" name="Text 31"/>
          <p:cNvSpPr/>
          <p:nvPr/>
        </p:nvSpPr>
        <p:spPr bwMode="auto">
          <a:xfrm>
            <a:off x="5349240" y="20116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Tests &amp; Ergebnisse</a:t>
            </a:r>
            <a:endParaRPr sz="130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304377321" name="Shape 33"/>
          <p:cNvSpPr/>
          <p:nvPr/>
        </p:nvSpPr>
        <p:spPr bwMode="auto">
          <a:xfrm>
            <a:off x="4754880" y="292608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68786287" name="Shape 34"/>
          <p:cNvSpPr/>
          <p:nvPr/>
        </p:nvSpPr>
        <p:spPr bwMode="auto">
          <a:xfrm>
            <a:off x="4754880" y="292608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78365891" name="Text 35"/>
          <p:cNvSpPr/>
          <p:nvPr/>
        </p:nvSpPr>
        <p:spPr bwMode="auto">
          <a:xfrm>
            <a:off x="4754880" y="292608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07</a:t>
            </a:r>
            <a:endParaRPr lang="en-US" sz="1400"/>
          </a:p>
        </p:txBody>
      </p:sp>
      <p:sp>
        <p:nvSpPr>
          <p:cNvPr id="560667217" name="Text 36"/>
          <p:cNvSpPr/>
          <p:nvPr/>
        </p:nvSpPr>
        <p:spPr bwMode="auto">
          <a:xfrm>
            <a:off x="5349240" y="29718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Nutzwertanalyse &amp; Empfehlung</a:t>
            </a:r>
            <a:endParaRPr sz="130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522782640" name="Shape 38"/>
          <p:cNvSpPr/>
          <p:nvPr/>
        </p:nvSpPr>
        <p:spPr bwMode="auto">
          <a:xfrm>
            <a:off x="4754880" y="388620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54790769" name="Shape 39"/>
          <p:cNvSpPr/>
          <p:nvPr/>
        </p:nvSpPr>
        <p:spPr bwMode="auto">
          <a:xfrm>
            <a:off x="4754880" y="388620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1946519" name="Text 40"/>
          <p:cNvSpPr/>
          <p:nvPr/>
        </p:nvSpPr>
        <p:spPr bwMode="auto">
          <a:xfrm>
            <a:off x="4754880" y="388620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08</a:t>
            </a:r>
            <a:endParaRPr lang="en-US" sz="1400"/>
          </a:p>
        </p:txBody>
      </p:sp>
      <p:sp>
        <p:nvSpPr>
          <p:cNvPr id="1374344216" name="Text 41"/>
          <p:cNvSpPr/>
          <p:nvPr/>
        </p:nvSpPr>
        <p:spPr bwMode="auto">
          <a:xfrm>
            <a:off x="5349240" y="39319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Fazit &amp; Ausblick</a:t>
            </a:r>
            <a:endParaRPr sz="130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3" name="Anzeiger">
            <a:extLst>
              <a:ext uri="{FF2B5EF4-FFF2-40B4-BE49-F238E27FC236}">
                <a16:creationId xmlns:a16="http://schemas.microsoft.com/office/drawing/2014/main" id="{BAB20858-EE91-AF1E-948B-3B58DD2F5B78}"/>
              </a:ext>
            </a:extLst>
          </p:cNvPr>
          <p:cNvSpPr/>
          <p:nvPr/>
        </p:nvSpPr>
        <p:spPr bwMode="auto">
          <a:xfrm>
            <a:off x="412864" y="2926080"/>
            <a:ext cx="4160519" cy="749808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00050" name="Seitenzahl"/>
          <p:cNvSpPr/>
          <p:nvPr/>
        </p:nvSpPr>
        <p:spPr bwMode="auto">
          <a:xfrm>
            <a:off x="8250000" y="4970000"/>
            <a:ext cx="750000" cy="1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de-DE" sz="900" dirty="0">
                <a:solidFill>
                  <a:srgbClr val="5A8AB0"/>
                </a:solidFill>
                <a:latin typeface="Calibri"/>
                <a:ea typeface="Calibri"/>
                <a:cs typeface="Calibri"/>
              </a:rPr>
              <a:t>5 von 28</a:t>
            </a:r>
            <a:endParaRPr lang="de-DE" sz="9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rgbClr val="F7F9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1E3FF7-D6D9-F094-D2E8-6EC12C7C24ED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4378887" name="Text 0">
            <a:extLst>
              <a:ext uri="{FF2B5EF4-FFF2-40B4-BE49-F238E27FC236}">
                <a16:creationId xmlns:a16="http://schemas.microsoft.com/office/drawing/2014/main" id="{B887A3C8-4514-4704-E8C7-6C0FF5533D6B}"/>
              </a:ext>
            </a:extLst>
          </p:cNvPr>
          <p:cNvSpPr/>
          <p:nvPr/>
        </p:nvSpPr>
        <p:spPr bwMode="auto">
          <a:xfrm>
            <a:off x="411480" y="201168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260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Agenda</a:t>
            </a:r>
            <a:endParaRPr lang="en-US" sz="2600"/>
          </a:p>
        </p:txBody>
      </p:sp>
      <p:sp>
        <p:nvSpPr>
          <p:cNvPr id="869437356" name="Shape 1">
            <a:extLst>
              <a:ext uri="{FF2B5EF4-FFF2-40B4-BE49-F238E27FC236}">
                <a16:creationId xmlns:a16="http://schemas.microsoft.com/office/drawing/2014/main" id="{14C44AC4-5AB4-DC0D-263A-DFBE3CC1556E}"/>
              </a:ext>
            </a:extLst>
          </p:cNvPr>
          <p:cNvSpPr/>
          <p:nvPr/>
        </p:nvSpPr>
        <p:spPr bwMode="auto">
          <a:xfrm>
            <a:off x="411480" y="822960"/>
            <a:ext cx="8321039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94453572" name="Shape 3">
            <a:extLst>
              <a:ext uri="{FF2B5EF4-FFF2-40B4-BE49-F238E27FC236}">
                <a16:creationId xmlns:a16="http://schemas.microsoft.com/office/drawing/2014/main" id="{8AA96055-473D-8C45-2251-E5415C14B8BD}"/>
              </a:ext>
            </a:extLst>
          </p:cNvPr>
          <p:cNvSpPr/>
          <p:nvPr/>
        </p:nvSpPr>
        <p:spPr bwMode="auto">
          <a:xfrm>
            <a:off x="411480" y="100584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91337661" name="Shape 4">
            <a:extLst>
              <a:ext uri="{FF2B5EF4-FFF2-40B4-BE49-F238E27FC236}">
                <a16:creationId xmlns:a16="http://schemas.microsoft.com/office/drawing/2014/main" id="{B0B3ED93-6583-F9ED-F979-89DDCDA1B36C}"/>
              </a:ext>
            </a:extLst>
          </p:cNvPr>
          <p:cNvSpPr/>
          <p:nvPr/>
        </p:nvSpPr>
        <p:spPr bwMode="auto">
          <a:xfrm>
            <a:off x="411480" y="100584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33758461" name="Text 5">
            <a:extLst>
              <a:ext uri="{FF2B5EF4-FFF2-40B4-BE49-F238E27FC236}">
                <a16:creationId xmlns:a16="http://schemas.microsoft.com/office/drawing/2014/main" id="{D60670C6-EA31-6B9D-D21E-564DAEE08C11}"/>
              </a:ext>
            </a:extLst>
          </p:cNvPr>
          <p:cNvSpPr/>
          <p:nvPr/>
        </p:nvSpPr>
        <p:spPr bwMode="auto">
          <a:xfrm>
            <a:off x="411480" y="100584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01</a:t>
            </a:r>
            <a:endParaRPr lang="en-US" sz="1400"/>
          </a:p>
        </p:txBody>
      </p:sp>
      <p:sp>
        <p:nvSpPr>
          <p:cNvPr id="368860147" name="Text 6">
            <a:extLst>
              <a:ext uri="{FF2B5EF4-FFF2-40B4-BE49-F238E27FC236}">
                <a16:creationId xmlns:a16="http://schemas.microsoft.com/office/drawing/2014/main" id="{AC7A63C7-987D-16C9-BD4B-75FE93B04AEA}"/>
              </a:ext>
            </a:extLst>
          </p:cNvPr>
          <p:cNvSpPr/>
          <p:nvPr/>
        </p:nvSpPr>
        <p:spPr bwMode="auto">
          <a:xfrm>
            <a:off x="1005840" y="10515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Ausgangssituation &amp; Problem</a:t>
            </a:r>
            <a:endParaRPr sz="130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448704985" name="Shape 8">
            <a:extLst>
              <a:ext uri="{FF2B5EF4-FFF2-40B4-BE49-F238E27FC236}">
                <a16:creationId xmlns:a16="http://schemas.microsoft.com/office/drawing/2014/main" id="{006023BF-55EC-4715-E0AA-A13A29801079}"/>
              </a:ext>
            </a:extLst>
          </p:cNvPr>
          <p:cNvSpPr/>
          <p:nvPr/>
        </p:nvSpPr>
        <p:spPr bwMode="auto">
          <a:xfrm>
            <a:off x="411480" y="196596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21823693" name="Shape 9">
            <a:extLst>
              <a:ext uri="{FF2B5EF4-FFF2-40B4-BE49-F238E27FC236}">
                <a16:creationId xmlns:a16="http://schemas.microsoft.com/office/drawing/2014/main" id="{263589FE-5CAA-C6D1-49DE-A2AC67C55D41}"/>
              </a:ext>
            </a:extLst>
          </p:cNvPr>
          <p:cNvSpPr/>
          <p:nvPr/>
        </p:nvSpPr>
        <p:spPr bwMode="auto">
          <a:xfrm>
            <a:off x="411480" y="196596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33113082" name="Text 10">
            <a:extLst>
              <a:ext uri="{FF2B5EF4-FFF2-40B4-BE49-F238E27FC236}">
                <a16:creationId xmlns:a16="http://schemas.microsoft.com/office/drawing/2014/main" id="{7D3F108C-8DFE-9B83-20A2-D50D818BD584}"/>
              </a:ext>
            </a:extLst>
          </p:cNvPr>
          <p:cNvSpPr/>
          <p:nvPr/>
        </p:nvSpPr>
        <p:spPr bwMode="auto">
          <a:xfrm>
            <a:off x="411480" y="196596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02</a:t>
            </a:r>
            <a:endParaRPr sz="1400">
              <a:solidFill>
                <a:schemeClr val="bg1"/>
              </a:solidFill>
            </a:endParaRPr>
          </a:p>
        </p:txBody>
      </p:sp>
      <p:sp>
        <p:nvSpPr>
          <p:cNvPr id="1045715279" name="Text 11">
            <a:extLst>
              <a:ext uri="{FF2B5EF4-FFF2-40B4-BE49-F238E27FC236}">
                <a16:creationId xmlns:a16="http://schemas.microsoft.com/office/drawing/2014/main" id="{CA6FCF21-7B30-CEF4-2376-7A164AB30AB1}"/>
              </a:ext>
            </a:extLst>
          </p:cNvPr>
          <p:cNvSpPr/>
          <p:nvPr/>
        </p:nvSpPr>
        <p:spPr bwMode="auto">
          <a:xfrm>
            <a:off x="1005840" y="20116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 dirty="0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Projektziel</a:t>
            </a:r>
            <a:endParaRPr sz="13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075426089" name="Shape 13">
            <a:extLst>
              <a:ext uri="{FF2B5EF4-FFF2-40B4-BE49-F238E27FC236}">
                <a16:creationId xmlns:a16="http://schemas.microsoft.com/office/drawing/2014/main" id="{BE7293CA-CED3-BC27-9C5A-7458B0167C8A}"/>
              </a:ext>
            </a:extLst>
          </p:cNvPr>
          <p:cNvSpPr/>
          <p:nvPr/>
        </p:nvSpPr>
        <p:spPr bwMode="auto">
          <a:xfrm>
            <a:off x="411480" y="292608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7492451" name="Shape 14">
            <a:extLst>
              <a:ext uri="{FF2B5EF4-FFF2-40B4-BE49-F238E27FC236}">
                <a16:creationId xmlns:a16="http://schemas.microsoft.com/office/drawing/2014/main" id="{9BA9786F-7A7C-618A-CF6D-8591CC14691C}"/>
              </a:ext>
            </a:extLst>
          </p:cNvPr>
          <p:cNvSpPr/>
          <p:nvPr/>
        </p:nvSpPr>
        <p:spPr bwMode="auto">
          <a:xfrm>
            <a:off x="411480" y="292608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144350226" name="Text 15">
            <a:extLst>
              <a:ext uri="{FF2B5EF4-FFF2-40B4-BE49-F238E27FC236}">
                <a16:creationId xmlns:a16="http://schemas.microsoft.com/office/drawing/2014/main" id="{3B502357-EA61-616C-5708-EC3D60D4E043}"/>
              </a:ext>
            </a:extLst>
          </p:cNvPr>
          <p:cNvSpPr/>
          <p:nvPr/>
        </p:nvSpPr>
        <p:spPr bwMode="auto">
          <a:xfrm>
            <a:off x="411480" y="292608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03</a:t>
            </a:r>
            <a:endParaRPr lang="en-US" sz="1400"/>
          </a:p>
        </p:txBody>
      </p:sp>
      <p:sp>
        <p:nvSpPr>
          <p:cNvPr id="2126149793" name="Text 16">
            <a:extLst>
              <a:ext uri="{FF2B5EF4-FFF2-40B4-BE49-F238E27FC236}">
                <a16:creationId xmlns:a16="http://schemas.microsoft.com/office/drawing/2014/main" id="{F9C7FF19-C714-6A1D-0789-A0AC32DEDB8C}"/>
              </a:ext>
            </a:extLst>
          </p:cNvPr>
          <p:cNvSpPr/>
          <p:nvPr/>
        </p:nvSpPr>
        <p:spPr bwMode="auto">
          <a:xfrm>
            <a:off x="1005840" y="29718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 dirty="0" err="1">
                <a:solidFill>
                  <a:schemeClr val="bg1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Systemarchitektur</a:t>
            </a:r>
            <a:endParaRPr sz="1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830053037" name="Shape 18">
            <a:extLst>
              <a:ext uri="{FF2B5EF4-FFF2-40B4-BE49-F238E27FC236}">
                <a16:creationId xmlns:a16="http://schemas.microsoft.com/office/drawing/2014/main" id="{9B4A25CE-9268-B830-F2DB-C18CC75B7592}"/>
              </a:ext>
            </a:extLst>
          </p:cNvPr>
          <p:cNvSpPr/>
          <p:nvPr/>
        </p:nvSpPr>
        <p:spPr bwMode="auto">
          <a:xfrm>
            <a:off x="411480" y="388620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94880504" name="Shape 19">
            <a:extLst>
              <a:ext uri="{FF2B5EF4-FFF2-40B4-BE49-F238E27FC236}">
                <a16:creationId xmlns:a16="http://schemas.microsoft.com/office/drawing/2014/main" id="{67EA39EF-0A04-4A1F-CE80-9C9C098575B3}"/>
              </a:ext>
            </a:extLst>
          </p:cNvPr>
          <p:cNvSpPr/>
          <p:nvPr/>
        </p:nvSpPr>
        <p:spPr bwMode="auto">
          <a:xfrm>
            <a:off x="411480" y="388620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74103900" name="Text 20">
            <a:extLst>
              <a:ext uri="{FF2B5EF4-FFF2-40B4-BE49-F238E27FC236}">
                <a16:creationId xmlns:a16="http://schemas.microsoft.com/office/drawing/2014/main" id="{F831276A-DB92-0267-04A9-347CE409212C}"/>
              </a:ext>
            </a:extLst>
          </p:cNvPr>
          <p:cNvSpPr/>
          <p:nvPr/>
        </p:nvSpPr>
        <p:spPr bwMode="auto">
          <a:xfrm>
            <a:off x="411480" y="388620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04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322012116" name="Text 21">
            <a:extLst>
              <a:ext uri="{FF2B5EF4-FFF2-40B4-BE49-F238E27FC236}">
                <a16:creationId xmlns:a16="http://schemas.microsoft.com/office/drawing/2014/main" id="{F041D095-A28E-145B-3DF7-C1296C79D653}"/>
              </a:ext>
            </a:extLst>
          </p:cNvPr>
          <p:cNvSpPr/>
          <p:nvPr/>
        </p:nvSpPr>
        <p:spPr bwMode="auto">
          <a:xfrm>
            <a:off x="1005840" y="39319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 dirty="0">
                <a:latin typeface="Calibri"/>
                <a:ea typeface="Calibri"/>
                <a:cs typeface="Calibri"/>
              </a:rPr>
              <a:t>Technologie-</a:t>
            </a:r>
            <a:r>
              <a:rPr lang="en-US" sz="1300" b="1" dirty="0" err="1">
                <a:latin typeface="Calibri"/>
                <a:ea typeface="Calibri"/>
                <a:cs typeface="Calibri"/>
              </a:rPr>
              <a:t>Entscheidung</a:t>
            </a:r>
            <a:endParaRPr sz="1300" dirty="0"/>
          </a:p>
        </p:txBody>
      </p:sp>
      <p:sp>
        <p:nvSpPr>
          <p:cNvPr id="782292812" name="Shape 23">
            <a:extLst>
              <a:ext uri="{FF2B5EF4-FFF2-40B4-BE49-F238E27FC236}">
                <a16:creationId xmlns:a16="http://schemas.microsoft.com/office/drawing/2014/main" id="{650E2422-4DCF-DA75-E52F-E11BAB156B76}"/>
              </a:ext>
            </a:extLst>
          </p:cNvPr>
          <p:cNvSpPr/>
          <p:nvPr/>
        </p:nvSpPr>
        <p:spPr bwMode="auto">
          <a:xfrm>
            <a:off x="4754880" y="100584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38495548" name="Shape 24">
            <a:extLst>
              <a:ext uri="{FF2B5EF4-FFF2-40B4-BE49-F238E27FC236}">
                <a16:creationId xmlns:a16="http://schemas.microsoft.com/office/drawing/2014/main" id="{05CD9701-FCB6-6B20-9ADD-064EF53B817B}"/>
              </a:ext>
            </a:extLst>
          </p:cNvPr>
          <p:cNvSpPr/>
          <p:nvPr/>
        </p:nvSpPr>
        <p:spPr bwMode="auto">
          <a:xfrm>
            <a:off x="4754880" y="100584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97200296" name="Text 25">
            <a:extLst>
              <a:ext uri="{FF2B5EF4-FFF2-40B4-BE49-F238E27FC236}">
                <a16:creationId xmlns:a16="http://schemas.microsoft.com/office/drawing/2014/main" id="{D47B0830-69D8-0B4B-29FF-96FFB39C972D}"/>
              </a:ext>
            </a:extLst>
          </p:cNvPr>
          <p:cNvSpPr/>
          <p:nvPr/>
        </p:nvSpPr>
        <p:spPr bwMode="auto">
          <a:xfrm>
            <a:off x="4754880" y="100584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05</a:t>
            </a:r>
            <a:endParaRPr lang="en-US" sz="1400"/>
          </a:p>
        </p:txBody>
      </p:sp>
      <p:sp>
        <p:nvSpPr>
          <p:cNvPr id="2121776462" name="Text 26">
            <a:extLst>
              <a:ext uri="{FF2B5EF4-FFF2-40B4-BE49-F238E27FC236}">
                <a16:creationId xmlns:a16="http://schemas.microsoft.com/office/drawing/2014/main" id="{15DB669F-DADF-4637-852D-92B41D842967}"/>
              </a:ext>
            </a:extLst>
          </p:cNvPr>
          <p:cNvSpPr/>
          <p:nvPr/>
        </p:nvSpPr>
        <p:spPr bwMode="auto">
          <a:xfrm>
            <a:off x="5349240" y="10515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Implementierung</a:t>
            </a:r>
            <a:endParaRPr sz="130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646939193" name="Shape 28">
            <a:extLst>
              <a:ext uri="{FF2B5EF4-FFF2-40B4-BE49-F238E27FC236}">
                <a16:creationId xmlns:a16="http://schemas.microsoft.com/office/drawing/2014/main" id="{057B70E8-4C1A-063C-A857-815250DF6C12}"/>
              </a:ext>
            </a:extLst>
          </p:cNvPr>
          <p:cNvSpPr/>
          <p:nvPr/>
        </p:nvSpPr>
        <p:spPr bwMode="auto">
          <a:xfrm>
            <a:off x="4754880" y="196596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53839944" name="Shape 29">
            <a:extLst>
              <a:ext uri="{FF2B5EF4-FFF2-40B4-BE49-F238E27FC236}">
                <a16:creationId xmlns:a16="http://schemas.microsoft.com/office/drawing/2014/main" id="{9C6AEC18-00C0-7F00-9435-95D4E0F61F8F}"/>
              </a:ext>
            </a:extLst>
          </p:cNvPr>
          <p:cNvSpPr/>
          <p:nvPr/>
        </p:nvSpPr>
        <p:spPr bwMode="auto">
          <a:xfrm>
            <a:off x="4754880" y="196596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60231556" name="Text 30">
            <a:extLst>
              <a:ext uri="{FF2B5EF4-FFF2-40B4-BE49-F238E27FC236}">
                <a16:creationId xmlns:a16="http://schemas.microsoft.com/office/drawing/2014/main" id="{F4A0B423-609C-A810-2DFC-5167ED1AD145}"/>
              </a:ext>
            </a:extLst>
          </p:cNvPr>
          <p:cNvSpPr/>
          <p:nvPr/>
        </p:nvSpPr>
        <p:spPr bwMode="auto">
          <a:xfrm>
            <a:off x="4754880" y="196596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06</a:t>
            </a:r>
            <a:endParaRPr lang="en-US" sz="1400"/>
          </a:p>
        </p:txBody>
      </p:sp>
      <p:sp>
        <p:nvSpPr>
          <p:cNvPr id="1783669986" name="Text 31">
            <a:extLst>
              <a:ext uri="{FF2B5EF4-FFF2-40B4-BE49-F238E27FC236}">
                <a16:creationId xmlns:a16="http://schemas.microsoft.com/office/drawing/2014/main" id="{7E0667A6-1A67-8B24-F59C-4BE176F69640}"/>
              </a:ext>
            </a:extLst>
          </p:cNvPr>
          <p:cNvSpPr/>
          <p:nvPr/>
        </p:nvSpPr>
        <p:spPr bwMode="auto">
          <a:xfrm>
            <a:off x="5349240" y="20116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Tests &amp; Ergebnisse</a:t>
            </a:r>
            <a:endParaRPr sz="130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304377321" name="Shape 33">
            <a:extLst>
              <a:ext uri="{FF2B5EF4-FFF2-40B4-BE49-F238E27FC236}">
                <a16:creationId xmlns:a16="http://schemas.microsoft.com/office/drawing/2014/main" id="{5D33A06B-2143-3AFA-9759-9627D930F482}"/>
              </a:ext>
            </a:extLst>
          </p:cNvPr>
          <p:cNvSpPr/>
          <p:nvPr/>
        </p:nvSpPr>
        <p:spPr bwMode="auto">
          <a:xfrm>
            <a:off x="4754880" y="292608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68786287" name="Shape 34">
            <a:extLst>
              <a:ext uri="{FF2B5EF4-FFF2-40B4-BE49-F238E27FC236}">
                <a16:creationId xmlns:a16="http://schemas.microsoft.com/office/drawing/2014/main" id="{53BAFCDB-51DD-8B09-9548-B0A7B1E76418}"/>
              </a:ext>
            </a:extLst>
          </p:cNvPr>
          <p:cNvSpPr/>
          <p:nvPr/>
        </p:nvSpPr>
        <p:spPr bwMode="auto">
          <a:xfrm>
            <a:off x="4754880" y="292608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78365891" name="Text 35">
            <a:extLst>
              <a:ext uri="{FF2B5EF4-FFF2-40B4-BE49-F238E27FC236}">
                <a16:creationId xmlns:a16="http://schemas.microsoft.com/office/drawing/2014/main" id="{99B641A3-E2FA-AAF4-1366-609BE27432A2}"/>
              </a:ext>
            </a:extLst>
          </p:cNvPr>
          <p:cNvSpPr/>
          <p:nvPr/>
        </p:nvSpPr>
        <p:spPr bwMode="auto">
          <a:xfrm>
            <a:off x="4754880" y="292608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07</a:t>
            </a:r>
            <a:endParaRPr lang="en-US" sz="1400"/>
          </a:p>
        </p:txBody>
      </p:sp>
      <p:sp>
        <p:nvSpPr>
          <p:cNvPr id="560667217" name="Text 36">
            <a:extLst>
              <a:ext uri="{FF2B5EF4-FFF2-40B4-BE49-F238E27FC236}">
                <a16:creationId xmlns:a16="http://schemas.microsoft.com/office/drawing/2014/main" id="{EBA9DFCC-CF9F-70D5-D16E-44190EEE42E7}"/>
              </a:ext>
            </a:extLst>
          </p:cNvPr>
          <p:cNvSpPr/>
          <p:nvPr/>
        </p:nvSpPr>
        <p:spPr bwMode="auto">
          <a:xfrm>
            <a:off x="5349240" y="29718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Nutzwertanalyse &amp; Empfehlung</a:t>
            </a:r>
            <a:endParaRPr sz="130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522782640" name="Shape 38">
            <a:extLst>
              <a:ext uri="{FF2B5EF4-FFF2-40B4-BE49-F238E27FC236}">
                <a16:creationId xmlns:a16="http://schemas.microsoft.com/office/drawing/2014/main" id="{02AFD7CB-431C-58D8-B6D5-5BFF63F8919C}"/>
              </a:ext>
            </a:extLst>
          </p:cNvPr>
          <p:cNvSpPr/>
          <p:nvPr/>
        </p:nvSpPr>
        <p:spPr bwMode="auto">
          <a:xfrm>
            <a:off x="4754880" y="388620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54790769" name="Shape 39">
            <a:extLst>
              <a:ext uri="{FF2B5EF4-FFF2-40B4-BE49-F238E27FC236}">
                <a16:creationId xmlns:a16="http://schemas.microsoft.com/office/drawing/2014/main" id="{A3F798AE-8F76-3457-D822-CD78D7CD250B}"/>
              </a:ext>
            </a:extLst>
          </p:cNvPr>
          <p:cNvSpPr/>
          <p:nvPr/>
        </p:nvSpPr>
        <p:spPr bwMode="auto">
          <a:xfrm>
            <a:off x="4754880" y="388620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1946519" name="Text 40">
            <a:extLst>
              <a:ext uri="{FF2B5EF4-FFF2-40B4-BE49-F238E27FC236}">
                <a16:creationId xmlns:a16="http://schemas.microsoft.com/office/drawing/2014/main" id="{E5AAB196-FE8A-FA92-B5D5-E2BEC78D4F4E}"/>
              </a:ext>
            </a:extLst>
          </p:cNvPr>
          <p:cNvSpPr/>
          <p:nvPr/>
        </p:nvSpPr>
        <p:spPr bwMode="auto">
          <a:xfrm>
            <a:off x="4754880" y="388620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08</a:t>
            </a:r>
            <a:endParaRPr lang="en-US" sz="1400"/>
          </a:p>
        </p:txBody>
      </p:sp>
      <p:sp>
        <p:nvSpPr>
          <p:cNvPr id="1374344216" name="Text 41">
            <a:extLst>
              <a:ext uri="{FF2B5EF4-FFF2-40B4-BE49-F238E27FC236}">
                <a16:creationId xmlns:a16="http://schemas.microsoft.com/office/drawing/2014/main" id="{FCCD7CE6-EE58-F7D9-3890-2AD92476F72E}"/>
              </a:ext>
            </a:extLst>
          </p:cNvPr>
          <p:cNvSpPr/>
          <p:nvPr/>
        </p:nvSpPr>
        <p:spPr bwMode="auto">
          <a:xfrm>
            <a:off x="5349240" y="39319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Fazit &amp; Ausblick</a:t>
            </a:r>
            <a:endParaRPr sz="130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3" name="Anzeiger">
            <a:extLst>
              <a:ext uri="{FF2B5EF4-FFF2-40B4-BE49-F238E27FC236}">
                <a16:creationId xmlns:a16="http://schemas.microsoft.com/office/drawing/2014/main" id="{20FF0414-CC55-8625-B089-542A373FAE93}"/>
              </a:ext>
            </a:extLst>
          </p:cNvPr>
          <p:cNvSpPr/>
          <p:nvPr/>
        </p:nvSpPr>
        <p:spPr bwMode="auto">
          <a:xfrm>
            <a:off x="412864" y="3886200"/>
            <a:ext cx="4160519" cy="749808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00050" name="Seitenzahl"/>
          <p:cNvSpPr/>
          <p:nvPr/>
        </p:nvSpPr>
        <p:spPr bwMode="auto">
          <a:xfrm>
            <a:off x="8250000" y="4970000"/>
            <a:ext cx="750000" cy="1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de-DE" sz="900" dirty="0">
                <a:solidFill>
                  <a:srgbClr val="5A8AB0"/>
                </a:solidFill>
                <a:latin typeface="Calibri"/>
                <a:ea typeface="Calibri"/>
                <a:cs typeface="Calibri"/>
              </a:rPr>
              <a:t>6 von 28</a:t>
            </a:r>
            <a:endParaRPr lang="de-DE" sz="900"/>
          </a:p>
        </p:txBody>
      </p:sp>
    </p:spTree>
    <p:extLst>
      <p:ext uri="{BB962C8B-B14F-4D97-AF65-F5344CB8AC3E}">
        <p14:creationId xmlns:p14="http://schemas.microsoft.com/office/powerpoint/2010/main" val="11782849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rgbClr val="F7F9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D13599-8CF3-7EDC-B210-E79BEE271E10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4378887" name="Text 0">
            <a:extLst>
              <a:ext uri="{FF2B5EF4-FFF2-40B4-BE49-F238E27FC236}">
                <a16:creationId xmlns:a16="http://schemas.microsoft.com/office/drawing/2014/main" id="{415C17BC-03CB-1CE0-DE32-F83B5D2847CC}"/>
              </a:ext>
            </a:extLst>
          </p:cNvPr>
          <p:cNvSpPr/>
          <p:nvPr/>
        </p:nvSpPr>
        <p:spPr bwMode="auto">
          <a:xfrm>
            <a:off x="411480" y="201168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260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Agenda</a:t>
            </a:r>
            <a:endParaRPr lang="en-US" sz="2600"/>
          </a:p>
        </p:txBody>
      </p:sp>
      <p:sp>
        <p:nvSpPr>
          <p:cNvPr id="869437356" name="Shape 1">
            <a:extLst>
              <a:ext uri="{FF2B5EF4-FFF2-40B4-BE49-F238E27FC236}">
                <a16:creationId xmlns:a16="http://schemas.microsoft.com/office/drawing/2014/main" id="{3B508ED7-9766-28F2-D969-314036928611}"/>
              </a:ext>
            </a:extLst>
          </p:cNvPr>
          <p:cNvSpPr/>
          <p:nvPr/>
        </p:nvSpPr>
        <p:spPr bwMode="auto">
          <a:xfrm>
            <a:off x="411480" y="822960"/>
            <a:ext cx="8321039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94453572" name="Shape 3">
            <a:extLst>
              <a:ext uri="{FF2B5EF4-FFF2-40B4-BE49-F238E27FC236}">
                <a16:creationId xmlns:a16="http://schemas.microsoft.com/office/drawing/2014/main" id="{4CBD3066-DD6C-34CF-042B-109857B58335}"/>
              </a:ext>
            </a:extLst>
          </p:cNvPr>
          <p:cNvSpPr/>
          <p:nvPr/>
        </p:nvSpPr>
        <p:spPr bwMode="auto">
          <a:xfrm>
            <a:off x="411480" y="100584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91337661" name="Shape 4">
            <a:extLst>
              <a:ext uri="{FF2B5EF4-FFF2-40B4-BE49-F238E27FC236}">
                <a16:creationId xmlns:a16="http://schemas.microsoft.com/office/drawing/2014/main" id="{20C3FC52-F5EA-4B64-B086-C71B82C21FF5}"/>
              </a:ext>
            </a:extLst>
          </p:cNvPr>
          <p:cNvSpPr/>
          <p:nvPr/>
        </p:nvSpPr>
        <p:spPr bwMode="auto">
          <a:xfrm>
            <a:off x="411480" y="100584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33758461" name="Text 5">
            <a:extLst>
              <a:ext uri="{FF2B5EF4-FFF2-40B4-BE49-F238E27FC236}">
                <a16:creationId xmlns:a16="http://schemas.microsoft.com/office/drawing/2014/main" id="{BD9CF79C-E016-4DD8-5CED-05C7F0015B35}"/>
              </a:ext>
            </a:extLst>
          </p:cNvPr>
          <p:cNvSpPr/>
          <p:nvPr/>
        </p:nvSpPr>
        <p:spPr bwMode="auto">
          <a:xfrm>
            <a:off x="411480" y="100584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01</a:t>
            </a:r>
            <a:endParaRPr lang="en-US" sz="1400"/>
          </a:p>
        </p:txBody>
      </p:sp>
      <p:sp>
        <p:nvSpPr>
          <p:cNvPr id="368860147" name="Text 6">
            <a:extLst>
              <a:ext uri="{FF2B5EF4-FFF2-40B4-BE49-F238E27FC236}">
                <a16:creationId xmlns:a16="http://schemas.microsoft.com/office/drawing/2014/main" id="{8D04FAB1-E4DC-2C43-05DC-507A0EE45D7B}"/>
              </a:ext>
            </a:extLst>
          </p:cNvPr>
          <p:cNvSpPr/>
          <p:nvPr/>
        </p:nvSpPr>
        <p:spPr bwMode="auto">
          <a:xfrm>
            <a:off x="1005840" y="10515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Ausgangssituation &amp; Problem</a:t>
            </a:r>
            <a:endParaRPr sz="130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448704985" name="Shape 8">
            <a:extLst>
              <a:ext uri="{FF2B5EF4-FFF2-40B4-BE49-F238E27FC236}">
                <a16:creationId xmlns:a16="http://schemas.microsoft.com/office/drawing/2014/main" id="{9CC6BC81-5588-A761-1472-434902A0583A}"/>
              </a:ext>
            </a:extLst>
          </p:cNvPr>
          <p:cNvSpPr/>
          <p:nvPr/>
        </p:nvSpPr>
        <p:spPr bwMode="auto">
          <a:xfrm>
            <a:off x="411480" y="196596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21823693" name="Shape 9">
            <a:extLst>
              <a:ext uri="{FF2B5EF4-FFF2-40B4-BE49-F238E27FC236}">
                <a16:creationId xmlns:a16="http://schemas.microsoft.com/office/drawing/2014/main" id="{D64EBEC6-EDFA-CDDF-54D8-8216A891D1E1}"/>
              </a:ext>
            </a:extLst>
          </p:cNvPr>
          <p:cNvSpPr/>
          <p:nvPr/>
        </p:nvSpPr>
        <p:spPr bwMode="auto">
          <a:xfrm>
            <a:off x="411480" y="196596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33113082" name="Text 10">
            <a:extLst>
              <a:ext uri="{FF2B5EF4-FFF2-40B4-BE49-F238E27FC236}">
                <a16:creationId xmlns:a16="http://schemas.microsoft.com/office/drawing/2014/main" id="{0C5AEC30-92AA-A123-A5F7-1528AE57B3FF}"/>
              </a:ext>
            </a:extLst>
          </p:cNvPr>
          <p:cNvSpPr/>
          <p:nvPr/>
        </p:nvSpPr>
        <p:spPr bwMode="auto">
          <a:xfrm>
            <a:off x="411480" y="196596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02</a:t>
            </a:r>
            <a:endParaRPr sz="1400">
              <a:solidFill>
                <a:schemeClr val="bg1"/>
              </a:solidFill>
            </a:endParaRPr>
          </a:p>
        </p:txBody>
      </p:sp>
      <p:sp>
        <p:nvSpPr>
          <p:cNvPr id="1045715279" name="Text 11">
            <a:extLst>
              <a:ext uri="{FF2B5EF4-FFF2-40B4-BE49-F238E27FC236}">
                <a16:creationId xmlns:a16="http://schemas.microsoft.com/office/drawing/2014/main" id="{307947E6-976B-3040-97D7-6FFA08D29F7A}"/>
              </a:ext>
            </a:extLst>
          </p:cNvPr>
          <p:cNvSpPr/>
          <p:nvPr/>
        </p:nvSpPr>
        <p:spPr bwMode="auto">
          <a:xfrm>
            <a:off x="1005840" y="20116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 dirty="0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Projektziel</a:t>
            </a:r>
            <a:endParaRPr sz="13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075426089" name="Shape 13">
            <a:extLst>
              <a:ext uri="{FF2B5EF4-FFF2-40B4-BE49-F238E27FC236}">
                <a16:creationId xmlns:a16="http://schemas.microsoft.com/office/drawing/2014/main" id="{7315B040-353D-D9CC-13EA-D340D1BD6A6C}"/>
              </a:ext>
            </a:extLst>
          </p:cNvPr>
          <p:cNvSpPr/>
          <p:nvPr/>
        </p:nvSpPr>
        <p:spPr bwMode="auto">
          <a:xfrm>
            <a:off x="411480" y="292608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7492451" name="Shape 14">
            <a:extLst>
              <a:ext uri="{FF2B5EF4-FFF2-40B4-BE49-F238E27FC236}">
                <a16:creationId xmlns:a16="http://schemas.microsoft.com/office/drawing/2014/main" id="{80529FE8-3A64-78A1-1865-58C296CDD1B7}"/>
              </a:ext>
            </a:extLst>
          </p:cNvPr>
          <p:cNvSpPr/>
          <p:nvPr/>
        </p:nvSpPr>
        <p:spPr bwMode="auto">
          <a:xfrm>
            <a:off x="411480" y="292608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144350226" name="Text 15">
            <a:extLst>
              <a:ext uri="{FF2B5EF4-FFF2-40B4-BE49-F238E27FC236}">
                <a16:creationId xmlns:a16="http://schemas.microsoft.com/office/drawing/2014/main" id="{EC88077D-72C9-21C5-7B26-2FB3868B6A8C}"/>
              </a:ext>
            </a:extLst>
          </p:cNvPr>
          <p:cNvSpPr/>
          <p:nvPr/>
        </p:nvSpPr>
        <p:spPr bwMode="auto">
          <a:xfrm>
            <a:off x="411480" y="292608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03</a:t>
            </a:r>
            <a:endParaRPr lang="en-US" sz="1400"/>
          </a:p>
        </p:txBody>
      </p:sp>
      <p:sp>
        <p:nvSpPr>
          <p:cNvPr id="2126149793" name="Text 16">
            <a:extLst>
              <a:ext uri="{FF2B5EF4-FFF2-40B4-BE49-F238E27FC236}">
                <a16:creationId xmlns:a16="http://schemas.microsoft.com/office/drawing/2014/main" id="{7513285D-7C50-3B9B-D539-46459A969D13}"/>
              </a:ext>
            </a:extLst>
          </p:cNvPr>
          <p:cNvSpPr/>
          <p:nvPr/>
        </p:nvSpPr>
        <p:spPr bwMode="auto">
          <a:xfrm>
            <a:off x="1005840" y="29718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 dirty="0" err="1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Systemarchitektur</a:t>
            </a:r>
            <a:endParaRPr sz="13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830053037" name="Shape 18">
            <a:extLst>
              <a:ext uri="{FF2B5EF4-FFF2-40B4-BE49-F238E27FC236}">
                <a16:creationId xmlns:a16="http://schemas.microsoft.com/office/drawing/2014/main" id="{9429A44C-AB7C-9021-6DD7-A409352D4AFD}"/>
              </a:ext>
            </a:extLst>
          </p:cNvPr>
          <p:cNvSpPr/>
          <p:nvPr/>
        </p:nvSpPr>
        <p:spPr bwMode="auto">
          <a:xfrm>
            <a:off x="411480" y="388620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94880504" name="Shape 19">
            <a:extLst>
              <a:ext uri="{FF2B5EF4-FFF2-40B4-BE49-F238E27FC236}">
                <a16:creationId xmlns:a16="http://schemas.microsoft.com/office/drawing/2014/main" id="{DC5B6FBD-4C4D-51FB-266D-E7622E74571A}"/>
              </a:ext>
            </a:extLst>
          </p:cNvPr>
          <p:cNvSpPr/>
          <p:nvPr/>
        </p:nvSpPr>
        <p:spPr bwMode="auto">
          <a:xfrm>
            <a:off x="411480" y="388620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74103900" name="Text 20">
            <a:extLst>
              <a:ext uri="{FF2B5EF4-FFF2-40B4-BE49-F238E27FC236}">
                <a16:creationId xmlns:a16="http://schemas.microsoft.com/office/drawing/2014/main" id="{C7F584C7-2228-FE0A-5BE5-0F5AA144C303}"/>
              </a:ext>
            </a:extLst>
          </p:cNvPr>
          <p:cNvSpPr/>
          <p:nvPr/>
        </p:nvSpPr>
        <p:spPr bwMode="auto">
          <a:xfrm>
            <a:off x="411480" y="388620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04</a:t>
            </a:r>
            <a:endParaRPr lang="en-US" sz="1400"/>
          </a:p>
        </p:txBody>
      </p:sp>
      <p:sp>
        <p:nvSpPr>
          <p:cNvPr id="322012116" name="Text 21">
            <a:extLst>
              <a:ext uri="{FF2B5EF4-FFF2-40B4-BE49-F238E27FC236}">
                <a16:creationId xmlns:a16="http://schemas.microsoft.com/office/drawing/2014/main" id="{42838062-A658-D0E7-C5DE-8FC92EA3315A}"/>
              </a:ext>
            </a:extLst>
          </p:cNvPr>
          <p:cNvSpPr/>
          <p:nvPr/>
        </p:nvSpPr>
        <p:spPr bwMode="auto">
          <a:xfrm>
            <a:off x="1005840" y="39319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Technologie-Entscheidung</a:t>
            </a:r>
            <a:endParaRPr sz="130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782292812" name="Shape 23">
            <a:extLst>
              <a:ext uri="{FF2B5EF4-FFF2-40B4-BE49-F238E27FC236}">
                <a16:creationId xmlns:a16="http://schemas.microsoft.com/office/drawing/2014/main" id="{CB622151-5626-F46E-D75C-F185B5CF57C9}"/>
              </a:ext>
            </a:extLst>
          </p:cNvPr>
          <p:cNvSpPr/>
          <p:nvPr/>
        </p:nvSpPr>
        <p:spPr bwMode="auto">
          <a:xfrm>
            <a:off x="4754880" y="100584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38495548" name="Shape 24">
            <a:extLst>
              <a:ext uri="{FF2B5EF4-FFF2-40B4-BE49-F238E27FC236}">
                <a16:creationId xmlns:a16="http://schemas.microsoft.com/office/drawing/2014/main" id="{2875EEF6-1A67-F287-EC25-629CC7531978}"/>
              </a:ext>
            </a:extLst>
          </p:cNvPr>
          <p:cNvSpPr/>
          <p:nvPr/>
        </p:nvSpPr>
        <p:spPr bwMode="auto">
          <a:xfrm>
            <a:off x="4754880" y="100584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97200296" name="Text 25">
            <a:extLst>
              <a:ext uri="{FF2B5EF4-FFF2-40B4-BE49-F238E27FC236}">
                <a16:creationId xmlns:a16="http://schemas.microsoft.com/office/drawing/2014/main" id="{053FD488-BC14-C8FD-31A1-103B56B13D55}"/>
              </a:ext>
            </a:extLst>
          </p:cNvPr>
          <p:cNvSpPr/>
          <p:nvPr/>
        </p:nvSpPr>
        <p:spPr bwMode="auto">
          <a:xfrm>
            <a:off x="4754880" y="100584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05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2121776462" name="Text 26">
            <a:extLst>
              <a:ext uri="{FF2B5EF4-FFF2-40B4-BE49-F238E27FC236}">
                <a16:creationId xmlns:a16="http://schemas.microsoft.com/office/drawing/2014/main" id="{1339C0B6-DCDA-14A6-CE65-BC41DF8D378F}"/>
              </a:ext>
            </a:extLst>
          </p:cNvPr>
          <p:cNvSpPr/>
          <p:nvPr/>
        </p:nvSpPr>
        <p:spPr bwMode="auto">
          <a:xfrm>
            <a:off x="5349240" y="10515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 dirty="0" err="1">
                <a:latin typeface="Calibri"/>
                <a:ea typeface="Calibri"/>
                <a:cs typeface="Calibri"/>
              </a:rPr>
              <a:t>Implementierung</a:t>
            </a:r>
            <a:endParaRPr sz="1300" dirty="0"/>
          </a:p>
        </p:txBody>
      </p:sp>
      <p:sp>
        <p:nvSpPr>
          <p:cNvPr id="1646939193" name="Shape 28">
            <a:extLst>
              <a:ext uri="{FF2B5EF4-FFF2-40B4-BE49-F238E27FC236}">
                <a16:creationId xmlns:a16="http://schemas.microsoft.com/office/drawing/2014/main" id="{42F8B5D7-F259-58F1-BA3F-755C94C54346}"/>
              </a:ext>
            </a:extLst>
          </p:cNvPr>
          <p:cNvSpPr/>
          <p:nvPr/>
        </p:nvSpPr>
        <p:spPr bwMode="auto">
          <a:xfrm>
            <a:off x="4754880" y="196596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53839944" name="Shape 29">
            <a:extLst>
              <a:ext uri="{FF2B5EF4-FFF2-40B4-BE49-F238E27FC236}">
                <a16:creationId xmlns:a16="http://schemas.microsoft.com/office/drawing/2014/main" id="{8BEAA260-661C-00AB-C0CF-BA5AE828F75B}"/>
              </a:ext>
            </a:extLst>
          </p:cNvPr>
          <p:cNvSpPr/>
          <p:nvPr/>
        </p:nvSpPr>
        <p:spPr bwMode="auto">
          <a:xfrm>
            <a:off x="4754880" y="196596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60231556" name="Text 30">
            <a:extLst>
              <a:ext uri="{FF2B5EF4-FFF2-40B4-BE49-F238E27FC236}">
                <a16:creationId xmlns:a16="http://schemas.microsoft.com/office/drawing/2014/main" id="{7C6D037C-5428-6E77-A840-B7B586646843}"/>
              </a:ext>
            </a:extLst>
          </p:cNvPr>
          <p:cNvSpPr/>
          <p:nvPr/>
        </p:nvSpPr>
        <p:spPr bwMode="auto">
          <a:xfrm>
            <a:off x="4754880" y="196596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06</a:t>
            </a:r>
            <a:endParaRPr lang="en-US" sz="1400"/>
          </a:p>
        </p:txBody>
      </p:sp>
      <p:sp>
        <p:nvSpPr>
          <p:cNvPr id="1783669986" name="Text 31">
            <a:extLst>
              <a:ext uri="{FF2B5EF4-FFF2-40B4-BE49-F238E27FC236}">
                <a16:creationId xmlns:a16="http://schemas.microsoft.com/office/drawing/2014/main" id="{B976FE09-2D0F-06E0-5037-11F1138270BD}"/>
              </a:ext>
            </a:extLst>
          </p:cNvPr>
          <p:cNvSpPr/>
          <p:nvPr/>
        </p:nvSpPr>
        <p:spPr bwMode="auto">
          <a:xfrm>
            <a:off x="5349240" y="20116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Tests &amp; Ergebnisse</a:t>
            </a:r>
            <a:endParaRPr sz="130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304377321" name="Shape 33">
            <a:extLst>
              <a:ext uri="{FF2B5EF4-FFF2-40B4-BE49-F238E27FC236}">
                <a16:creationId xmlns:a16="http://schemas.microsoft.com/office/drawing/2014/main" id="{7636BF73-1F7C-5411-2B37-1726DF3BA409}"/>
              </a:ext>
            </a:extLst>
          </p:cNvPr>
          <p:cNvSpPr/>
          <p:nvPr/>
        </p:nvSpPr>
        <p:spPr bwMode="auto">
          <a:xfrm>
            <a:off x="4754880" y="292608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68786287" name="Shape 34">
            <a:extLst>
              <a:ext uri="{FF2B5EF4-FFF2-40B4-BE49-F238E27FC236}">
                <a16:creationId xmlns:a16="http://schemas.microsoft.com/office/drawing/2014/main" id="{68D26DF3-DB69-8575-DAB2-AE8FE6921217}"/>
              </a:ext>
            </a:extLst>
          </p:cNvPr>
          <p:cNvSpPr/>
          <p:nvPr/>
        </p:nvSpPr>
        <p:spPr bwMode="auto">
          <a:xfrm>
            <a:off x="4754880" y="292608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78365891" name="Text 35">
            <a:extLst>
              <a:ext uri="{FF2B5EF4-FFF2-40B4-BE49-F238E27FC236}">
                <a16:creationId xmlns:a16="http://schemas.microsoft.com/office/drawing/2014/main" id="{AEF0B9E0-8E00-5E5C-24BD-96F25108C634}"/>
              </a:ext>
            </a:extLst>
          </p:cNvPr>
          <p:cNvSpPr/>
          <p:nvPr/>
        </p:nvSpPr>
        <p:spPr bwMode="auto">
          <a:xfrm>
            <a:off x="4754880" y="292608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07</a:t>
            </a:r>
            <a:endParaRPr lang="en-US" sz="1400"/>
          </a:p>
        </p:txBody>
      </p:sp>
      <p:sp>
        <p:nvSpPr>
          <p:cNvPr id="560667217" name="Text 36">
            <a:extLst>
              <a:ext uri="{FF2B5EF4-FFF2-40B4-BE49-F238E27FC236}">
                <a16:creationId xmlns:a16="http://schemas.microsoft.com/office/drawing/2014/main" id="{73CB1EBA-503E-2DD3-E911-C7A158ABC231}"/>
              </a:ext>
            </a:extLst>
          </p:cNvPr>
          <p:cNvSpPr/>
          <p:nvPr/>
        </p:nvSpPr>
        <p:spPr bwMode="auto">
          <a:xfrm>
            <a:off x="5349240" y="29718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Nutzwertanalyse &amp; Empfehlung</a:t>
            </a:r>
            <a:endParaRPr sz="130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522782640" name="Shape 38">
            <a:extLst>
              <a:ext uri="{FF2B5EF4-FFF2-40B4-BE49-F238E27FC236}">
                <a16:creationId xmlns:a16="http://schemas.microsoft.com/office/drawing/2014/main" id="{B6D9A7CE-3A11-C748-3954-94448D19D70C}"/>
              </a:ext>
            </a:extLst>
          </p:cNvPr>
          <p:cNvSpPr/>
          <p:nvPr/>
        </p:nvSpPr>
        <p:spPr bwMode="auto">
          <a:xfrm>
            <a:off x="4754880" y="388620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54790769" name="Shape 39">
            <a:extLst>
              <a:ext uri="{FF2B5EF4-FFF2-40B4-BE49-F238E27FC236}">
                <a16:creationId xmlns:a16="http://schemas.microsoft.com/office/drawing/2014/main" id="{748705DD-B7E2-8CF0-A1AE-C2C262F5962A}"/>
              </a:ext>
            </a:extLst>
          </p:cNvPr>
          <p:cNvSpPr/>
          <p:nvPr/>
        </p:nvSpPr>
        <p:spPr bwMode="auto">
          <a:xfrm>
            <a:off x="4754880" y="388620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1946519" name="Text 40">
            <a:extLst>
              <a:ext uri="{FF2B5EF4-FFF2-40B4-BE49-F238E27FC236}">
                <a16:creationId xmlns:a16="http://schemas.microsoft.com/office/drawing/2014/main" id="{F6964C40-F7BB-389C-7270-74EAAB0B61C6}"/>
              </a:ext>
            </a:extLst>
          </p:cNvPr>
          <p:cNvSpPr/>
          <p:nvPr/>
        </p:nvSpPr>
        <p:spPr bwMode="auto">
          <a:xfrm>
            <a:off x="4754880" y="388620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08</a:t>
            </a:r>
            <a:endParaRPr lang="en-US" sz="1400"/>
          </a:p>
        </p:txBody>
      </p:sp>
      <p:sp>
        <p:nvSpPr>
          <p:cNvPr id="1374344216" name="Text 41">
            <a:extLst>
              <a:ext uri="{FF2B5EF4-FFF2-40B4-BE49-F238E27FC236}">
                <a16:creationId xmlns:a16="http://schemas.microsoft.com/office/drawing/2014/main" id="{9B5928C8-85B8-D359-416C-6AA01A159171}"/>
              </a:ext>
            </a:extLst>
          </p:cNvPr>
          <p:cNvSpPr/>
          <p:nvPr/>
        </p:nvSpPr>
        <p:spPr bwMode="auto">
          <a:xfrm>
            <a:off x="5349240" y="39319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Fazit &amp; Ausblick</a:t>
            </a:r>
            <a:endParaRPr sz="130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3" name="Anzeiger">
            <a:extLst>
              <a:ext uri="{FF2B5EF4-FFF2-40B4-BE49-F238E27FC236}">
                <a16:creationId xmlns:a16="http://schemas.microsoft.com/office/drawing/2014/main" id="{9863D36E-8D92-137F-BFE5-40AE1F5185AC}"/>
              </a:ext>
            </a:extLst>
          </p:cNvPr>
          <p:cNvSpPr/>
          <p:nvPr/>
        </p:nvSpPr>
        <p:spPr bwMode="auto">
          <a:xfrm>
            <a:off x="4741024" y="1005840"/>
            <a:ext cx="4160519" cy="749808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00050" name="Seitenzahl"/>
          <p:cNvSpPr/>
          <p:nvPr/>
        </p:nvSpPr>
        <p:spPr bwMode="auto">
          <a:xfrm>
            <a:off x="8250000" y="4970000"/>
            <a:ext cx="750000" cy="1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de-DE" sz="900" dirty="0">
                <a:solidFill>
                  <a:srgbClr val="5A8AB0"/>
                </a:solidFill>
                <a:latin typeface="Calibri"/>
                <a:ea typeface="Calibri"/>
                <a:cs typeface="Calibri"/>
              </a:rPr>
              <a:t>7 von 28</a:t>
            </a:r>
            <a:endParaRPr lang="de-DE" sz="900"/>
          </a:p>
        </p:txBody>
      </p:sp>
    </p:spTree>
    <p:extLst>
      <p:ext uri="{BB962C8B-B14F-4D97-AF65-F5344CB8AC3E}">
        <p14:creationId xmlns:p14="http://schemas.microsoft.com/office/powerpoint/2010/main" val="647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rgbClr val="F7F9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E2698C-FAF1-521F-EC0F-1D4C035C247C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4378887" name="Text 0">
            <a:extLst>
              <a:ext uri="{FF2B5EF4-FFF2-40B4-BE49-F238E27FC236}">
                <a16:creationId xmlns:a16="http://schemas.microsoft.com/office/drawing/2014/main" id="{F309CFE1-BB27-DC8F-5896-E12ECA9F3D1D}"/>
              </a:ext>
            </a:extLst>
          </p:cNvPr>
          <p:cNvSpPr/>
          <p:nvPr/>
        </p:nvSpPr>
        <p:spPr bwMode="auto">
          <a:xfrm>
            <a:off x="411480" y="201168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260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Agenda</a:t>
            </a:r>
            <a:endParaRPr lang="en-US" sz="2600"/>
          </a:p>
        </p:txBody>
      </p:sp>
      <p:sp>
        <p:nvSpPr>
          <p:cNvPr id="869437356" name="Shape 1">
            <a:extLst>
              <a:ext uri="{FF2B5EF4-FFF2-40B4-BE49-F238E27FC236}">
                <a16:creationId xmlns:a16="http://schemas.microsoft.com/office/drawing/2014/main" id="{522D5CB9-9D69-A691-8F2B-B5901322DAA9}"/>
              </a:ext>
            </a:extLst>
          </p:cNvPr>
          <p:cNvSpPr/>
          <p:nvPr/>
        </p:nvSpPr>
        <p:spPr bwMode="auto">
          <a:xfrm>
            <a:off x="411480" y="822960"/>
            <a:ext cx="8321039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94453572" name="Shape 3">
            <a:extLst>
              <a:ext uri="{FF2B5EF4-FFF2-40B4-BE49-F238E27FC236}">
                <a16:creationId xmlns:a16="http://schemas.microsoft.com/office/drawing/2014/main" id="{E2741CB8-5311-C38C-78DF-C664DCB687E6}"/>
              </a:ext>
            </a:extLst>
          </p:cNvPr>
          <p:cNvSpPr/>
          <p:nvPr/>
        </p:nvSpPr>
        <p:spPr bwMode="auto">
          <a:xfrm>
            <a:off x="411480" y="100584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91337661" name="Shape 4">
            <a:extLst>
              <a:ext uri="{FF2B5EF4-FFF2-40B4-BE49-F238E27FC236}">
                <a16:creationId xmlns:a16="http://schemas.microsoft.com/office/drawing/2014/main" id="{50F45054-064E-3525-BBAF-8100C710418D}"/>
              </a:ext>
            </a:extLst>
          </p:cNvPr>
          <p:cNvSpPr/>
          <p:nvPr/>
        </p:nvSpPr>
        <p:spPr bwMode="auto">
          <a:xfrm>
            <a:off x="411480" y="100584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33758461" name="Text 5">
            <a:extLst>
              <a:ext uri="{FF2B5EF4-FFF2-40B4-BE49-F238E27FC236}">
                <a16:creationId xmlns:a16="http://schemas.microsoft.com/office/drawing/2014/main" id="{784A1918-ABCF-9BDA-8767-1301F9958DC2}"/>
              </a:ext>
            </a:extLst>
          </p:cNvPr>
          <p:cNvSpPr/>
          <p:nvPr/>
        </p:nvSpPr>
        <p:spPr bwMode="auto">
          <a:xfrm>
            <a:off x="411480" y="100584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01</a:t>
            </a:r>
            <a:endParaRPr lang="en-US" sz="1400"/>
          </a:p>
        </p:txBody>
      </p:sp>
      <p:sp>
        <p:nvSpPr>
          <p:cNvPr id="368860147" name="Text 6">
            <a:extLst>
              <a:ext uri="{FF2B5EF4-FFF2-40B4-BE49-F238E27FC236}">
                <a16:creationId xmlns:a16="http://schemas.microsoft.com/office/drawing/2014/main" id="{E23DC4DE-A57B-D0E5-2E40-F3E8B719E732}"/>
              </a:ext>
            </a:extLst>
          </p:cNvPr>
          <p:cNvSpPr/>
          <p:nvPr/>
        </p:nvSpPr>
        <p:spPr bwMode="auto">
          <a:xfrm>
            <a:off x="1005840" y="10515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Ausgangssituation &amp; Problem</a:t>
            </a:r>
            <a:endParaRPr sz="130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448704985" name="Shape 8">
            <a:extLst>
              <a:ext uri="{FF2B5EF4-FFF2-40B4-BE49-F238E27FC236}">
                <a16:creationId xmlns:a16="http://schemas.microsoft.com/office/drawing/2014/main" id="{EAAA7AEE-3D74-9601-EFC7-53025B02223B}"/>
              </a:ext>
            </a:extLst>
          </p:cNvPr>
          <p:cNvSpPr/>
          <p:nvPr/>
        </p:nvSpPr>
        <p:spPr bwMode="auto">
          <a:xfrm>
            <a:off x="411480" y="196596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21823693" name="Shape 9">
            <a:extLst>
              <a:ext uri="{FF2B5EF4-FFF2-40B4-BE49-F238E27FC236}">
                <a16:creationId xmlns:a16="http://schemas.microsoft.com/office/drawing/2014/main" id="{B36D0BA7-D59F-4C04-30C7-206D2C2B6C10}"/>
              </a:ext>
            </a:extLst>
          </p:cNvPr>
          <p:cNvSpPr/>
          <p:nvPr/>
        </p:nvSpPr>
        <p:spPr bwMode="auto">
          <a:xfrm>
            <a:off x="411480" y="196596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33113082" name="Text 10">
            <a:extLst>
              <a:ext uri="{FF2B5EF4-FFF2-40B4-BE49-F238E27FC236}">
                <a16:creationId xmlns:a16="http://schemas.microsoft.com/office/drawing/2014/main" id="{80CA5643-A3C8-CEFC-D8FE-1890913F68A1}"/>
              </a:ext>
            </a:extLst>
          </p:cNvPr>
          <p:cNvSpPr/>
          <p:nvPr/>
        </p:nvSpPr>
        <p:spPr bwMode="auto">
          <a:xfrm>
            <a:off x="411480" y="196596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02</a:t>
            </a:r>
            <a:endParaRPr sz="1400">
              <a:solidFill>
                <a:schemeClr val="bg1"/>
              </a:solidFill>
            </a:endParaRPr>
          </a:p>
        </p:txBody>
      </p:sp>
      <p:sp>
        <p:nvSpPr>
          <p:cNvPr id="1045715279" name="Text 11">
            <a:extLst>
              <a:ext uri="{FF2B5EF4-FFF2-40B4-BE49-F238E27FC236}">
                <a16:creationId xmlns:a16="http://schemas.microsoft.com/office/drawing/2014/main" id="{F77A5F2D-92BC-CCB4-674A-B5B6AD506B45}"/>
              </a:ext>
            </a:extLst>
          </p:cNvPr>
          <p:cNvSpPr/>
          <p:nvPr/>
        </p:nvSpPr>
        <p:spPr bwMode="auto">
          <a:xfrm>
            <a:off x="1005840" y="20116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 dirty="0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Projektziel</a:t>
            </a:r>
            <a:endParaRPr sz="13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075426089" name="Shape 13">
            <a:extLst>
              <a:ext uri="{FF2B5EF4-FFF2-40B4-BE49-F238E27FC236}">
                <a16:creationId xmlns:a16="http://schemas.microsoft.com/office/drawing/2014/main" id="{5E4E840C-8A83-D280-CB9A-4747967AE3BE}"/>
              </a:ext>
            </a:extLst>
          </p:cNvPr>
          <p:cNvSpPr/>
          <p:nvPr/>
        </p:nvSpPr>
        <p:spPr bwMode="auto">
          <a:xfrm>
            <a:off x="411480" y="292608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7492451" name="Shape 14">
            <a:extLst>
              <a:ext uri="{FF2B5EF4-FFF2-40B4-BE49-F238E27FC236}">
                <a16:creationId xmlns:a16="http://schemas.microsoft.com/office/drawing/2014/main" id="{E66844E6-E32B-AB7B-B5D5-65ECFCCDA153}"/>
              </a:ext>
            </a:extLst>
          </p:cNvPr>
          <p:cNvSpPr/>
          <p:nvPr/>
        </p:nvSpPr>
        <p:spPr bwMode="auto">
          <a:xfrm>
            <a:off x="411480" y="292608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144350226" name="Text 15">
            <a:extLst>
              <a:ext uri="{FF2B5EF4-FFF2-40B4-BE49-F238E27FC236}">
                <a16:creationId xmlns:a16="http://schemas.microsoft.com/office/drawing/2014/main" id="{F5683389-1546-85FF-1027-B1FFB0B3F1E5}"/>
              </a:ext>
            </a:extLst>
          </p:cNvPr>
          <p:cNvSpPr/>
          <p:nvPr/>
        </p:nvSpPr>
        <p:spPr bwMode="auto">
          <a:xfrm>
            <a:off x="411480" y="292608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03</a:t>
            </a:r>
            <a:endParaRPr lang="en-US" sz="1400"/>
          </a:p>
        </p:txBody>
      </p:sp>
      <p:sp>
        <p:nvSpPr>
          <p:cNvPr id="2126149793" name="Text 16">
            <a:extLst>
              <a:ext uri="{FF2B5EF4-FFF2-40B4-BE49-F238E27FC236}">
                <a16:creationId xmlns:a16="http://schemas.microsoft.com/office/drawing/2014/main" id="{238F49B4-EAD1-A822-DB72-737EE47FA455}"/>
              </a:ext>
            </a:extLst>
          </p:cNvPr>
          <p:cNvSpPr/>
          <p:nvPr/>
        </p:nvSpPr>
        <p:spPr bwMode="auto">
          <a:xfrm>
            <a:off x="1005840" y="29718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 dirty="0" err="1">
                <a:solidFill>
                  <a:schemeClr val="bg1">
                    <a:lumMod val="65000"/>
                  </a:schemeClr>
                </a:solidFill>
                <a:latin typeface="Calibri"/>
                <a:ea typeface="Calibri"/>
                <a:cs typeface="Calibri"/>
              </a:rPr>
              <a:t>Systemarchitektur</a:t>
            </a:r>
            <a:endParaRPr sz="13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830053037" name="Shape 18">
            <a:extLst>
              <a:ext uri="{FF2B5EF4-FFF2-40B4-BE49-F238E27FC236}">
                <a16:creationId xmlns:a16="http://schemas.microsoft.com/office/drawing/2014/main" id="{CA380E2B-0172-E7DE-5AAA-8F93B4B90C4C}"/>
              </a:ext>
            </a:extLst>
          </p:cNvPr>
          <p:cNvSpPr/>
          <p:nvPr/>
        </p:nvSpPr>
        <p:spPr bwMode="auto">
          <a:xfrm>
            <a:off x="411480" y="388620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94880504" name="Shape 19">
            <a:extLst>
              <a:ext uri="{FF2B5EF4-FFF2-40B4-BE49-F238E27FC236}">
                <a16:creationId xmlns:a16="http://schemas.microsoft.com/office/drawing/2014/main" id="{71CF0133-F1D7-0A17-003C-0990D4F57B86}"/>
              </a:ext>
            </a:extLst>
          </p:cNvPr>
          <p:cNvSpPr/>
          <p:nvPr/>
        </p:nvSpPr>
        <p:spPr bwMode="auto">
          <a:xfrm>
            <a:off x="411480" y="388620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74103900" name="Text 20">
            <a:extLst>
              <a:ext uri="{FF2B5EF4-FFF2-40B4-BE49-F238E27FC236}">
                <a16:creationId xmlns:a16="http://schemas.microsoft.com/office/drawing/2014/main" id="{9D03EE09-9873-C3A4-9016-BEE67FADC698}"/>
              </a:ext>
            </a:extLst>
          </p:cNvPr>
          <p:cNvSpPr/>
          <p:nvPr/>
        </p:nvSpPr>
        <p:spPr bwMode="auto">
          <a:xfrm>
            <a:off x="411480" y="388620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04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322012116" name="Text 21">
            <a:extLst>
              <a:ext uri="{FF2B5EF4-FFF2-40B4-BE49-F238E27FC236}">
                <a16:creationId xmlns:a16="http://schemas.microsoft.com/office/drawing/2014/main" id="{53A52F45-3305-2BC0-5244-3166BB0F1A53}"/>
              </a:ext>
            </a:extLst>
          </p:cNvPr>
          <p:cNvSpPr/>
          <p:nvPr/>
        </p:nvSpPr>
        <p:spPr bwMode="auto">
          <a:xfrm>
            <a:off x="1005840" y="39319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Technologie-Entscheidung</a:t>
            </a:r>
            <a:endParaRPr sz="130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782292812" name="Shape 23">
            <a:extLst>
              <a:ext uri="{FF2B5EF4-FFF2-40B4-BE49-F238E27FC236}">
                <a16:creationId xmlns:a16="http://schemas.microsoft.com/office/drawing/2014/main" id="{57389C18-3AA5-DDAD-228C-8CD3144944A6}"/>
              </a:ext>
            </a:extLst>
          </p:cNvPr>
          <p:cNvSpPr/>
          <p:nvPr/>
        </p:nvSpPr>
        <p:spPr bwMode="auto">
          <a:xfrm>
            <a:off x="4754880" y="100584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38495548" name="Shape 24">
            <a:extLst>
              <a:ext uri="{FF2B5EF4-FFF2-40B4-BE49-F238E27FC236}">
                <a16:creationId xmlns:a16="http://schemas.microsoft.com/office/drawing/2014/main" id="{C5A6B055-FB3F-8DA9-FBAE-6A2CF044F67C}"/>
              </a:ext>
            </a:extLst>
          </p:cNvPr>
          <p:cNvSpPr/>
          <p:nvPr/>
        </p:nvSpPr>
        <p:spPr bwMode="auto">
          <a:xfrm>
            <a:off x="4754880" y="100584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97200296" name="Text 25">
            <a:extLst>
              <a:ext uri="{FF2B5EF4-FFF2-40B4-BE49-F238E27FC236}">
                <a16:creationId xmlns:a16="http://schemas.microsoft.com/office/drawing/2014/main" id="{9D2D0181-C6ED-CB7C-93D1-E2A5C1DE8711}"/>
              </a:ext>
            </a:extLst>
          </p:cNvPr>
          <p:cNvSpPr/>
          <p:nvPr/>
        </p:nvSpPr>
        <p:spPr bwMode="auto">
          <a:xfrm>
            <a:off x="4754880" y="100584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05</a:t>
            </a:r>
            <a:endParaRPr lang="en-US" sz="1400"/>
          </a:p>
        </p:txBody>
      </p:sp>
      <p:sp>
        <p:nvSpPr>
          <p:cNvPr id="2121776462" name="Text 26">
            <a:extLst>
              <a:ext uri="{FF2B5EF4-FFF2-40B4-BE49-F238E27FC236}">
                <a16:creationId xmlns:a16="http://schemas.microsoft.com/office/drawing/2014/main" id="{59366592-DCC1-5F49-F253-A457FCEB97C4}"/>
              </a:ext>
            </a:extLst>
          </p:cNvPr>
          <p:cNvSpPr/>
          <p:nvPr/>
        </p:nvSpPr>
        <p:spPr bwMode="auto">
          <a:xfrm>
            <a:off x="5349240" y="10515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Implementierung</a:t>
            </a:r>
            <a:endParaRPr sz="130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646939193" name="Shape 28">
            <a:extLst>
              <a:ext uri="{FF2B5EF4-FFF2-40B4-BE49-F238E27FC236}">
                <a16:creationId xmlns:a16="http://schemas.microsoft.com/office/drawing/2014/main" id="{32DB120F-B65D-E8AE-2E52-EDA351EEA207}"/>
              </a:ext>
            </a:extLst>
          </p:cNvPr>
          <p:cNvSpPr/>
          <p:nvPr/>
        </p:nvSpPr>
        <p:spPr bwMode="auto">
          <a:xfrm>
            <a:off x="4754880" y="196596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53839944" name="Shape 29">
            <a:extLst>
              <a:ext uri="{FF2B5EF4-FFF2-40B4-BE49-F238E27FC236}">
                <a16:creationId xmlns:a16="http://schemas.microsoft.com/office/drawing/2014/main" id="{0E976FC8-BF8F-F64A-0360-5BA66CEABCA3}"/>
              </a:ext>
            </a:extLst>
          </p:cNvPr>
          <p:cNvSpPr/>
          <p:nvPr/>
        </p:nvSpPr>
        <p:spPr bwMode="auto">
          <a:xfrm>
            <a:off x="4754880" y="196596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60231556" name="Text 30">
            <a:extLst>
              <a:ext uri="{FF2B5EF4-FFF2-40B4-BE49-F238E27FC236}">
                <a16:creationId xmlns:a16="http://schemas.microsoft.com/office/drawing/2014/main" id="{4258B37E-C9D6-C63D-717A-0EEDA4DAAF20}"/>
              </a:ext>
            </a:extLst>
          </p:cNvPr>
          <p:cNvSpPr/>
          <p:nvPr/>
        </p:nvSpPr>
        <p:spPr bwMode="auto">
          <a:xfrm>
            <a:off x="4754880" y="196596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06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783669986" name="Text 31">
            <a:extLst>
              <a:ext uri="{FF2B5EF4-FFF2-40B4-BE49-F238E27FC236}">
                <a16:creationId xmlns:a16="http://schemas.microsoft.com/office/drawing/2014/main" id="{0C0BECFD-C12B-1003-B72C-00AA28AF9146}"/>
              </a:ext>
            </a:extLst>
          </p:cNvPr>
          <p:cNvSpPr/>
          <p:nvPr/>
        </p:nvSpPr>
        <p:spPr bwMode="auto">
          <a:xfrm>
            <a:off x="5349240" y="20116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 dirty="0">
                <a:latin typeface="Calibri"/>
                <a:ea typeface="Calibri"/>
                <a:cs typeface="Calibri"/>
              </a:rPr>
              <a:t xml:space="preserve">Tests &amp; </a:t>
            </a:r>
            <a:r>
              <a:rPr lang="en-US" sz="1300" b="1" dirty="0" err="1">
                <a:latin typeface="Calibri"/>
                <a:ea typeface="Calibri"/>
                <a:cs typeface="Calibri"/>
              </a:rPr>
              <a:t>Ergebnisse</a:t>
            </a:r>
            <a:endParaRPr sz="1300" dirty="0"/>
          </a:p>
        </p:txBody>
      </p:sp>
      <p:sp>
        <p:nvSpPr>
          <p:cNvPr id="1304377321" name="Shape 33">
            <a:extLst>
              <a:ext uri="{FF2B5EF4-FFF2-40B4-BE49-F238E27FC236}">
                <a16:creationId xmlns:a16="http://schemas.microsoft.com/office/drawing/2014/main" id="{002E7ED6-EC81-807F-DC80-C8156E6743B1}"/>
              </a:ext>
            </a:extLst>
          </p:cNvPr>
          <p:cNvSpPr/>
          <p:nvPr/>
        </p:nvSpPr>
        <p:spPr bwMode="auto">
          <a:xfrm>
            <a:off x="4754880" y="292608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68786287" name="Shape 34">
            <a:extLst>
              <a:ext uri="{FF2B5EF4-FFF2-40B4-BE49-F238E27FC236}">
                <a16:creationId xmlns:a16="http://schemas.microsoft.com/office/drawing/2014/main" id="{89B1DCF7-6133-185E-224D-467F3B731F7C}"/>
              </a:ext>
            </a:extLst>
          </p:cNvPr>
          <p:cNvSpPr/>
          <p:nvPr/>
        </p:nvSpPr>
        <p:spPr bwMode="auto">
          <a:xfrm>
            <a:off x="4754880" y="292608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78365891" name="Text 35">
            <a:extLst>
              <a:ext uri="{FF2B5EF4-FFF2-40B4-BE49-F238E27FC236}">
                <a16:creationId xmlns:a16="http://schemas.microsoft.com/office/drawing/2014/main" id="{4F23284E-27AB-E368-66AE-9F2D520D5871}"/>
              </a:ext>
            </a:extLst>
          </p:cNvPr>
          <p:cNvSpPr/>
          <p:nvPr/>
        </p:nvSpPr>
        <p:spPr bwMode="auto">
          <a:xfrm>
            <a:off x="4754880" y="292608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07</a:t>
            </a:r>
            <a:endParaRPr lang="en-US" sz="1400"/>
          </a:p>
        </p:txBody>
      </p:sp>
      <p:sp>
        <p:nvSpPr>
          <p:cNvPr id="560667217" name="Text 36">
            <a:extLst>
              <a:ext uri="{FF2B5EF4-FFF2-40B4-BE49-F238E27FC236}">
                <a16:creationId xmlns:a16="http://schemas.microsoft.com/office/drawing/2014/main" id="{E801D5B9-EA7F-639A-2E6F-7171F8DC8FFB}"/>
              </a:ext>
            </a:extLst>
          </p:cNvPr>
          <p:cNvSpPr/>
          <p:nvPr/>
        </p:nvSpPr>
        <p:spPr bwMode="auto">
          <a:xfrm>
            <a:off x="5349240" y="29718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Nutzwertanalyse &amp; Empfehlung</a:t>
            </a:r>
            <a:endParaRPr sz="130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522782640" name="Shape 38">
            <a:extLst>
              <a:ext uri="{FF2B5EF4-FFF2-40B4-BE49-F238E27FC236}">
                <a16:creationId xmlns:a16="http://schemas.microsoft.com/office/drawing/2014/main" id="{83E4BC19-8DC2-05F2-818C-F48A40EC36D8}"/>
              </a:ext>
            </a:extLst>
          </p:cNvPr>
          <p:cNvSpPr/>
          <p:nvPr/>
        </p:nvSpPr>
        <p:spPr bwMode="auto">
          <a:xfrm>
            <a:off x="4754880" y="388620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54790769" name="Shape 39">
            <a:extLst>
              <a:ext uri="{FF2B5EF4-FFF2-40B4-BE49-F238E27FC236}">
                <a16:creationId xmlns:a16="http://schemas.microsoft.com/office/drawing/2014/main" id="{ECFCF26B-EEB0-6518-9573-C1DD754EB34A}"/>
              </a:ext>
            </a:extLst>
          </p:cNvPr>
          <p:cNvSpPr/>
          <p:nvPr/>
        </p:nvSpPr>
        <p:spPr bwMode="auto">
          <a:xfrm>
            <a:off x="4754880" y="388620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1946519" name="Text 40">
            <a:extLst>
              <a:ext uri="{FF2B5EF4-FFF2-40B4-BE49-F238E27FC236}">
                <a16:creationId xmlns:a16="http://schemas.microsoft.com/office/drawing/2014/main" id="{00B2BBDB-00B7-76DD-4DB1-F8F86150502C}"/>
              </a:ext>
            </a:extLst>
          </p:cNvPr>
          <p:cNvSpPr/>
          <p:nvPr/>
        </p:nvSpPr>
        <p:spPr bwMode="auto">
          <a:xfrm>
            <a:off x="4754880" y="388620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08</a:t>
            </a:r>
            <a:endParaRPr lang="en-US" sz="1400"/>
          </a:p>
        </p:txBody>
      </p:sp>
      <p:sp>
        <p:nvSpPr>
          <p:cNvPr id="1374344216" name="Text 41">
            <a:extLst>
              <a:ext uri="{FF2B5EF4-FFF2-40B4-BE49-F238E27FC236}">
                <a16:creationId xmlns:a16="http://schemas.microsoft.com/office/drawing/2014/main" id="{A8BF4214-4A54-C8A6-8C45-BB48478986C9}"/>
              </a:ext>
            </a:extLst>
          </p:cNvPr>
          <p:cNvSpPr/>
          <p:nvPr/>
        </p:nvSpPr>
        <p:spPr bwMode="auto">
          <a:xfrm>
            <a:off x="5349240" y="39319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Fazit &amp; Ausblick</a:t>
            </a:r>
            <a:endParaRPr sz="130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3" name="Anzeiger">
            <a:extLst>
              <a:ext uri="{FF2B5EF4-FFF2-40B4-BE49-F238E27FC236}">
                <a16:creationId xmlns:a16="http://schemas.microsoft.com/office/drawing/2014/main" id="{19A1D267-FA26-4379-45AD-ACE3E885E187}"/>
              </a:ext>
            </a:extLst>
          </p:cNvPr>
          <p:cNvSpPr/>
          <p:nvPr/>
        </p:nvSpPr>
        <p:spPr bwMode="auto">
          <a:xfrm>
            <a:off x="4756264" y="1965960"/>
            <a:ext cx="4160519" cy="749808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00050" name="Seitenzahl"/>
          <p:cNvSpPr/>
          <p:nvPr/>
        </p:nvSpPr>
        <p:spPr bwMode="auto">
          <a:xfrm>
            <a:off x="8250000" y="4970000"/>
            <a:ext cx="750000" cy="1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de-DE" sz="900" dirty="0">
                <a:solidFill>
                  <a:srgbClr val="5A8AB0"/>
                </a:solidFill>
                <a:latin typeface="Calibri"/>
                <a:ea typeface="Calibri"/>
                <a:cs typeface="Calibri"/>
              </a:rPr>
              <a:t>8 von 28</a:t>
            </a:r>
            <a:endParaRPr lang="de-DE" sz="900"/>
          </a:p>
        </p:txBody>
      </p:sp>
    </p:spTree>
    <p:extLst>
      <p:ext uri="{BB962C8B-B14F-4D97-AF65-F5344CB8AC3E}">
        <p14:creationId xmlns:p14="http://schemas.microsoft.com/office/powerpoint/2010/main" val="42044209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rgbClr val="F7F9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9E2836-663B-EF08-FFAE-5B50A2D95400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4378887" name="Text 0">
            <a:extLst>
              <a:ext uri="{FF2B5EF4-FFF2-40B4-BE49-F238E27FC236}">
                <a16:creationId xmlns:a16="http://schemas.microsoft.com/office/drawing/2014/main" id="{1DF93EBC-8A42-0310-807C-DCDA20E1182F}"/>
              </a:ext>
            </a:extLst>
          </p:cNvPr>
          <p:cNvSpPr/>
          <p:nvPr/>
        </p:nvSpPr>
        <p:spPr bwMode="auto">
          <a:xfrm>
            <a:off x="411480" y="201168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260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Agenda</a:t>
            </a:r>
            <a:endParaRPr lang="en-US" sz="2600"/>
          </a:p>
        </p:txBody>
      </p:sp>
      <p:sp>
        <p:nvSpPr>
          <p:cNvPr id="869437356" name="Shape 1">
            <a:extLst>
              <a:ext uri="{FF2B5EF4-FFF2-40B4-BE49-F238E27FC236}">
                <a16:creationId xmlns:a16="http://schemas.microsoft.com/office/drawing/2014/main" id="{32FF97F2-115A-1EBD-BF20-9D03A81AB853}"/>
              </a:ext>
            </a:extLst>
          </p:cNvPr>
          <p:cNvSpPr/>
          <p:nvPr/>
        </p:nvSpPr>
        <p:spPr bwMode="auto">
          <a:xfrm>
            <a:off x="411480" y="822960"/>
            <a:ext cx="8321039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94453572" name="Shape 3">
            <a:extLst>
              <a:ext uri="{FF2B5EF4-FFF2-40B4-BE49-F238E27FC236}">
                <a16:creationId xmlns:a16="http://schemas.microsoft.com/office/drawing/2014/main" id="{33ECE8A3-69C1-9110-7F07-3E8E96B93A7F}"/>
              </a:ext>
            </a:extLst>
          </p:cNvPr>
          <p:cNvSpPr/>
          <p:nvPr/>
        </p:nvSpPr>
        <p:spPr bwMode="auto">
          <a:xfrm>
            <a:off x="411480" y="100584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91337661" name="Shape 4">
            <a:extLst>
              <a:ext uri="{FF2B5EF4-FFF2-40B4-BE49-F238E27FC236}">
                <a16:creationId xmlns:a16="http://schemas.microsoft.com/office/drawing/2014/main" id="{F6D16B81-BEA4-8BFD-3496-D1D2A13CD90F}"/>
              </a:ext>
            </a:extLst>
          </p:cNvPr>
          <p:cNvSpPr/>
          <p:nvPr/>
        </p:nvSpPr>
        <p:spPr bwMode="auto">
          <a:xfrm>
            <a:off x="411480" y="100584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33758461" name="Text 5">
            <a:extLst>
              <a:ext uri="{FF2B5EF4-FFF2-40B4-BE49-F238E27FC236}">
                <a16:creationId xmlns:a16="http://schemas.microsoft.com/office/drawing/2014/main" id="{CCC50A9F-A676-AF6A-B89A-12C5DB185BD2}"/>
              </a:ext>
            </a:extLst>
          </p:cNvPr>
          <p:cNvSpPr/>
          <p:nvPr/>
        </p:nvSpPr>
        <p:spPr bwMode="auto">
          <a:xfrm>
            <a:off x="411480" y="100584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01</a:t>
            </a:r>
            <a:endParaRPr lang="en-US" sz="1400"/>
          </a:p>
        </p:txBody>
      </p:sp>
      <p:sp>
        <p:nvSpPr>
          <p:cNvPr id="368860147" name="Text 6">
            <a:extLst>
              <a:ext uri="{FF2B5EF4-FFF2-40B4-BE49-F238E27FC236}">
                <a16:creationId xmlns:a16="http://schemas.microsoft.com/office/drawing/2014/main" id="{4644B662-0AC9-46DB-5AA7-1952C7478089}"/>
              </a:ext>
            </a:extLst>
          </p:cNvPr>
          <p:cNvSpPr/>
          <p:nvPr/>
        </p:nvSpPr>
        <p:spPr bwMode="auto">
          <a:xfrm>
            <a:off x="1005840" y="10515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Ausgangssituation &amp; Problem</a:t>
            </a:r>
            <a:endParaRPr sz="130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448704985" name="Shape 8">
            <a:extLst>
              <a:ext uri="{FF2B5EF4-FFF2-40B4-BE49-F238E27FC236}">
                <a16:creationId xmlns:a16="http://schemas.microsoft.com/office/drawing/2014/main" id="{46DD1959-F438-71EA-5516-D60AF05DD706}"/>
              </a:ext>
            </a:extLst>
          </p:cNvPr>
          <p:cNvSpPr/>
          <p:nvPr/>
        </p:nvSpPr>
        <p:spPr bwMode="auto">
          <a:xfrm>
            <a:off x="411480" y="196596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21823693" name="Shape 9">
            <a:extLst>
              <a:ext uri="{FF2B5EF4-FFF2-40B4-BE49-F238E27FC236}">
                <a16:creationId xmlns:a16="http://schemas.microsoft.com/office/drawing/2014/main" id="{23A06019-0A03-2EF2-A2CA-BF39AD9AD10E}"/>
              </a:ext>
            </a:extLst>
          </p:cNvPr>
          <p:cNvSpPr/>
          <p:nvPr/>
        </p:nvSpPr>
        <p:spPr bwMode="auto">
          <a:xfrm>
            <a:off x="411480" y="196596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33113082" name="Text 10">
            <a:extLst>
              <a:ext uri="{FF2B5EF4-FFF2-40B4-BE49-F238E27FC236}">
                <a16:creationId xmlns:a16="http://schemas.microsoft.com/office/drawing/2014/main" id="{00680B64-67B7-BB49-6A68-2A01D7A10CF6}"/>
              </a:ext>
            </a:extLst>
          </p:cNvPr>
          <p:cNvSpPr/>
          <p:nvPr/>
        </p:nvSpPr>
        <p:spPr bwMode="auto">
          <a:xfrm>
            <a:off x="411480" y="196596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02</a:t>
            </a:r>
            <a:endParaRPr sz="1400">
              <a:solidFill>
                <a:schemeClr val="bg1"/>
              </a:solidFill>
            </a:endParaRPr>
          </a:p>
        </p:txBody>
      </p:sp>
      <p:sp>
        <p:nvSpPr>
          <p:cNvPr id="1045715279" name="Text 11">
            <a:extLst>
              <a:ext uri="{FF2B5EF4-FFF2-40B4-BE49-F238E27FC236}">
                <a16:creationId xmlns:a16="http://schemas.microsoft.com/office/drawing/2014/main" id="{F71AB986-8B96-B0C4-A030-C9DA98317B07}"/>
              </a:ext>
            </a:extLst>
          </p:cNvPr>
          <p:cNvSpPr/>
          <p:nvPr/>
        </p:nvSpPr>
        <p:spPr bwMode="auto">
          <a:xfrm>
            <a:off x="1005840" y="20116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 dirty="0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Projektziel</a:t>
            </a:r>
            <a:endParaRPr sz="13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075426089" name="Shape 13">
            <a:extLst>
              <a:ext uri="{FF2B5EF4-FFF2-40B4-BE49-F238E27FC236}">
                <a16:creationId xmlns:a16="http://schemas.microsoft.com/office/drawing/2014/main" id="{200CA4F4-FB8A-91A4-8E20-D47B8C2C49C1}"/>
              </a:ext>
            </a:extLst>
          </p:cNvPr>
          <p:cNvSpPr/>
          <p:nvPr/>
        </p:nvSpPr>
        <p:spPr bwMode="auto">
          <a:xfrm>
            <a:off x="411480" y="292608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7492451" name="Shape 14">
            <a:extLst>
              <a:ext uri="{FF2B5EF4-FFF2-40B4-BE49-F238E27FC236}">
                <a16:creationId xmlns:a16="http://schemas.microsoft.com/office/drawing/2014/main" id="{B59D7B4D-9EEA-F93D-07DB-E6E9492F5097}"/>
              </a:ext>
            </a:extLst>
          </p:cNvPr>
          <p:cNvSpPr/>
          <p:nvPr/>
        </p:nvSpPr>
        <p:spPr bwMode="auto">
          <a:xfrm>
            <a:off x="411480" y="292608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144350226" name="Text 15">
            <a:extLst>
              <a:ext uri="{FF2B5EF4-FFF2-40B4-BE49-F238E27FC236}">
                <a16:creationId xmlns:a16="http://schemas.microsoft.com/office/drawing/2014/main" id="{F919C992-E4A9-8C96-3B4E-144BF8088CFB}"/>
              </a:ext>
            </a:extLst>
          </p:cNvPr>
          <p:cNvSpPr/>
          <p:nvPr/>
        </p:nvSpPr>
        <p:spPr bwMode="auto">
          <a:xfrm>
            <a:off x="411480" y="292608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03</a:t>
            </a:r>
            <a:endParaRPr lang="en-US" sz="1400"/>
          </a:p>
        </p:txBody>
      </p:sp>
      <p:sp>
        <p:nvSpPr>
          <p:cNvPr id="2126149793" name="Text 16">
            <a:extLst>
              <a:ext uri="{FF2B5EF4-FFF2-40B4-BE49-F238E27FC236}">
                <a16:creationId xmlns:a16="http://schemas.microsoft.com/office/drawing/2014/main" id="{4B903078-F861-2255-392C-A59B34A1EF8D}"/>
              </a:ext>
            </a:extLst>
          </p:cNvPr>
          <p:cNvSpPr/>
          <p:nvPr/>
        </p:nvSpPr>
        <p:spPr bwMode="auto">
          <a:xfrm>
            <a:off x="1005840" y="29718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 dirty="0" err="1">
                <a:solidFill>
                  <a:srgbClr val="B3AFAF"/>
                </a:solidFill>
                <a:latin typeface="Calibri"/>
                <a:ea typeface="Calibri"/>
                <a:cs typeface="Calibri"/>
              </a:rPr>
              <a:t>Systemarchitektur</a:t>
            </a:r>
            <a:endParaRPr sz="1300" dirty="0">
              <a:solidFill>
                <a:srgbClr val="B3AFAF"/>
              </a:solidFill>
            </a:endParaRPr>
          </a:p>
        </p:txBody>
      </p:sp>
      <p:sp>
        <p:nvSpPr>
          <p:cNvPr id="830053037" name="Shape 18">
            <a:extLst>
              <a:ext uri="{FF2B5EF4-FFF2-40B4-BE49-F238E27FC236}">
                <a16:creationId xmlns:a16="http://schemas.microsoft.com/office/drawing/2014/main" id="{AF338F4D-B0D2-BE52-DE65-841B9A5D779C}"/>
              </a:ext>
            </a:extLst>
          </p:cNvPr>
          <p:cNvSpPr/>
          <p:nvPr/>
        </p:nvSpPr>
        <p:spPr bwMode="auto">
          <a:xfrm>
            <a:off x="411480" y="388620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94880504" name="Shape 19">
            <a:extLst>
              <a:ext uri="{FF2B5EF4-FFF2-40B4-BE49-F238E27FC236}">
                <a16:creationId xmlns:a16="http://schemas.microsoft.com/office/drawing/2014/main" id="{7A075264-F9EF-FBC9-D68D-49470D4135C7}"/>
              </a:ext>
            </a:extLst>
          </p:cNvPr>
          <p:cNvSpPr/>
          <p:nvPr/>
        </p:nvSpPr>
        <p:spPr bwMode="auto">
          <a:xfrm>
            <a:off x="411480" y="388620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74103900" name="Text 20">
            <a:extLst>
              <a:ext uri="{FF2B5EF4-FFF2-40B4-BE49-F238E27FC236}">
                <a16:creationId xmlns:a16="http://schemas.microsoft.com/office/drawing/2014/main" id="{B3CEA54B-7583-AAA1-2ED1-CE39B6F7FE11}"/>
              </a:ext>
            </a:extLst>
          </p:cNvPr>
          <p:cNvSpPr/>
          <p:nvPr/>
        </p:nvSpPr>
        <p:spPr bwMode="auto">
          <a:xfrm>
            <a:off x="411480" y="388620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04</a:t>
            </a:r>
            <a:endParaRPr lang="en-US" sz="1400" dirty="0"/>
          </a:p>
        </p:txBody>
      </p:sp>
      <p:sp>
        <p:nvSpPr>
          <p:cNvPr id="322012116" name="Text 21">
            <a:extLst>
              <a:ext uri="{FF2B5EF4-FFF2-40B4-BE49-F238E27FC236}">
                <a16:creationId xmlns:a16="http://schemas.microsoft.com/office/drawing/2014/main" id="{7E8DA4C1-1856-EE14-862C-C58B08DEC07A}"/>
              </a:ext>
            </a:extLst>
          </p:cNvPr>
          <p:cNvSpPr/>
          <p:nvPr/>
        </p:nvSpPr>
        <p:spPr bwMode="auto">
          <a:xfrm>
            <a:off x="1005840" y="39319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Technologie-Entscheidung</a:t>
            </a:r>
            <a:endParaRPr sz="130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782292812" name="Shape 23">
            <a:extLst>
              <a:ext uri="{FF2B5EF4-FFF2-40B4-BE49-F238E27FC236}">
                <a16:creationId xmlns:a16="http://schemas.microsoft.com/office/drawing/2014/main" id="{46819CEF-AF49-F34B-2BED-A72E18225323}"/>
              </a:ext>
            </a:extLst>
          </p:cNvPr>
          <p:cNvSpPr/>
          <p:nvPr/>
        </p:nvSpPr>
        <p:spPr bwMode="auto">
          <a:xfrm>
            <a:off x="4754880" y="100584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38495548" name="Shape 24">
            <a:extLst>
              <a:ext uri="{FF2B5EF4-FFF2-40B4-BE49-F238E27FC236}">
                <a16:creationId xmlns:a16="http://schemas.microsoft.com/office/drawing/2014/main" id="{D298772B-FE31-0307-22B7-9569FF1FE147}"/>
              </a:ext>
            </a:extLst>
          </p:cNvPr>
          <p:cNvSpPr/>
          <p:nvPr/>
        </p:nvSpPr>
        <p:spPr bwMode="auto">
          <a:xfrm>
            <a:off x="4754880" y="100584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97200296" name="Text 25">
            <a:extLst>
              <a:ext uri="{FF2B5EF4-FFF2-40B4-BE49-F238E27FC236}">
                <a16:creationId xmlns:a16="http://schemas.microsoft.com/office/drawing/2014/main" id="{66371AC7-C2CC-FC43-68C0-30D631557827}"/>
              </a:ext>
            </a:extLst>
          </p:cNvPr>
          <p:cNvSpPr/>
          <p:nvPr/>
        </p:nvSpPr>
        <p:spPr bwMode="auto">
          <a:xfrm>
            <a:off x="4754880" y="100584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05</a:t>
            </a:r>
            <a:endParaRPr lang="en-US" sz="1400"/>
          </a:p>
        </p:txBody>
      </p:sp>
      <p:sp>
        <p:nvSpPr>
          <p:cNvPr id="2121776462" name="Text 26">
            <a:extLst>
              <a:ext uri="{FF2B5EF4-FFF2-40B4-BE49-F238E27FC236}">
                <a16:creationId xmlns:a16="http://schemas.microsoft.com/office/drawing/2014/main" id="{4CEC8A81-7267-9FF4-246D-5F75AA4F3760}"/>
              </a:ext>
            </a:extLst>
          </p:cNvPr>
          <p:cNvSpPr/>
          <p:nvPr/>
        </p:nvSpPr>
        <p:spPr bwMode="auto">
          <a:xfrm>
            <a:off x="5349240" y="10515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Implementierung</a:t>
            </a:r>
            <a:endParaRPr sz="130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646939193" name="Shape 28">
            <a:extLst>
              <a:ext uri="{FF2B5EF4-FFF2-40B4-BE49-F238E27FC236}">
                <a16:creationId xmlns:a16="http://schemas.microsoft.com/office/drawing/2014/main" id="{3CF9CC90-E1FF-07A1-6AE3-786EDA5C0720}"/>
              </a:ext>
            </a:extLst>
          </p:cNvPr>
          <p:cNvSpPr/>
          <p:nvPr/>
        </p:nvSpPr>
        <p:spPr bwMode="auto">
          <a:xfrm>
            <a:off x="4754880" y="196596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53839944" name="Shape 29">
            <a:extLst>
              <a:ext uri="{FF2B5EF4-FFF2-40B4-BE49-F238E27FC236}">
                <a16:creationId xmlns:a16="http://schemas.microsoft.com/office/drawing/2014/main" id="{1E780E88-DD1B-98D5-88F7-4554169972B2}"/>
              </a:ext>
            </a:extLst>
          </p:cNvPr>
          <p:cNvSpPr/>
          <p:nvPr/>
        </p:nvSpPr>
        <p:spPr bwMode="auto">
          <a:xfrm>
            <a:off x="4754880" y="196596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60231556" name="Text 30">
            <a:extLst>
              <a:ext uri="{FF2B5EF4-FFF2-40B4-BE49-F238E27FC236}">
                <a16:creationId xmlns:a16="http://schemas.microsoft.com/office/drawing/2014/main" id="{9509A791-B982-82A6-1BB5-547917650A0E}"/>
              </a:ext>
            </a:extLst>
          </p:cNvPr>
          <p:cNvSpPr/>
          <p:nvPr/>
        </p:nvSpPr>
        <p:spPr bwMode="auto">
          <a:xfrm>
            <a:off x="4754880" y="196596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06</a:t>
            </a:r>
            <a:endParaRPr lang="en-US" sz="1400"/>
          </a:p>
        </p:txBody>
      </p:sp>
      <p:sp>
        <p:nvSpPr>
          <p:cNvPr id="1783669986" name="Text 31">
            <a:extLst>
              <a:ext uri="{FF2B5EF4-FFF2-40B4-BE49-F238E27FC236}">
                <a16:creationId xmlns:a16="http://schemas.microsoft.com/office/drawing/2014/main" id="{64C821ED-34AF-9198-D2F5-36C42D3DEE88}"/>
              </a:ext>
            </a:extLst>
          </p:cNvPr>
          <p:cNvSpPr/>
          <p:nvPr/>
        </p:nvSpPr>
        <p:spPr bwMode="auto">
          <a:xfrm>
            <a:off x="5349240" y="20116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 dirty="0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 xml:space="preserve">Tests &amp; </a:t>
            </a:r>
            <a:r>
              <a:rPr lang="en-US" sz="1300" b="1" dirty="0" err="1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Ergebnisse</a:t>
            </a:r>
            <a:endParaRPr sz="13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304377321" name="Shape 33">
            <a:extLst>
              <a:ext uri="{FF2B5EF4-FFF2-40B4-BE49-F238E27FC236}">
                <a16:creationId xmlns:a16="http://schemas.microsoft.com/office/drawing/2014/main" id="{D229A729-2919-EBAF-63F4-5C749D20FBC3}"/>
              </a:ext>
            </a:extLst>
          </p:cNvPr>
          <p:cNvSpPr/>
          <p:nvPr/>
        </p:nvSpPr>
        <p:spPr bwMode="auto">
          <a:xfrm>
            <a:off x="4754880" y="292608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68786287" name="Shape 34">
            <a:extLst>
              <a:ext uri="{FF2B5EF4-FFF2-40B4-BE49-F238E27FC236}">
                <a16:creationId xmlns:a16="http://schemas.microsoft.com/office/drawing/2014/main" id="{D4470038-09A9-1955-1362-9C680DC8DBE5}"/>
              </a:ext>
            </a:extLst>
          </p:cNvPr>
          <p:cNvSpPr/>
          <p:nvPr/>
        </p:nvSpPr>
        <p:spPr bwMode="auto">
          <a:xfrm>
            <a:off x="4754880" y="292608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78365891" name="Text 35">
            <a:extLst>
              <a:ext uri="{FF2B5EF4-FFF2-40B4-BE49-F238E27FC236}">
                <a16:creationId xmlns:a16="http://schemas.microsoft.com/office/drawing/2014/main" id="{C869831A-775B-C279-74B2-9C88F81CD58C}"/>
              </a:ext>
            </a:extLst>
          </p:cNvPr>
          <p:cNvSpPr/>
          <p:nvPr/>
        </p:nvSpPr>
        <p:spPr bwMode="auto">
          <a:xfrm>
            <a:off x="4754880" y="292608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07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560667217" name="Text 36">
            <a:extLst>
              <a:ext uri="{FF2B5EF4-FFF2-40B4-BE49-F238E27FC236}">
                <a16:creationId xmlns:a16="http://schemas.microsoft.com/office/drawing/2014/main" id="{129EB2E4-D7BE-CC53-7BA2-6257B054A564}"/>
              </a:ext>
            </a:extLst>
          </p:cNvPr>
          <p:cNvSpPr/>
          <p:nvPr/>
        </p:nvSpPr>
        <p:spPr bwMode="auto">
          <a:xfrm>
            <a:off x="5349240" y="29718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 dirty="0" err="1">
                <a:latin typeface="Calibri"/>
                <a:ea typeface="Calibri"/>
                <a:cs typeface="Calibri"/>
              </a:rPr>
              <a:t>Nutzwertanalyse</a:t>
            </a:r>
            <a:r>
              <a:rPr lang="en-US" sz="1300" b="1" dirty="0">
                <a:latin typeface="Calibri"/>
                <a:ea typeface="Calibri"/>
                <a:cs typeface="Calibri"/>
              </a:rPr>
              <a:t xml:space="preserve"> &amp; </a:t>
            </a:r>
            <a:r>
              <a:rPr lang="en-US" sz="1300" b="1" dirty="0" err="1">
                <a:latin typeface="Calibri"/>
                <a:ea typeface="Calibri"/>
                <a:cs typeface="Calibri"/>
              </a:rPr>
              <a:t>Empfehlung</a:t>
            </a:r>
            <a:endParaRPr sz="1300" dirty="0"/>
          </a:p>
        </p:txBody>
      </p:sp>
      <p:sp>
        <p:nvSpPr>
          <p:cNvPr id="522782640" name="Shape 38">
            <a:extLst>
              <a:ext uri="{FF2B5EF4-FFF2-40B4-BE49-F238E27FC236}">
                <a16:creationId xmlns:a16="http://schemas.microsoft.com/office/drawing/2014/main" id="{8A70856C-E0C3-9269-924D-88C4F1280EAC}"/>
              </a:ext>
            </a:extLst>
          </p:cNvPr>
          <p:cNvSpPr/>
          <p:nvPr/>
        </p:nvSpPr>
        <p:spPr bwMode="auto">
          <a:xfrm>
            <a:off x="4754880" y="388620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54790769" name="Shape 39">
            <a:extLst>
              <a:ext uri="{FF2B5EF4-FFF2-40B4-BE49-F238E27FC236}">
                <a16:creationId xmlns:a16="http://schemas.microsoft.com/office/drawing/2014/main" id="{4516F239-EC78-5362-9B1C-CCBA381FF791}"/>
              </a:ext>
            </a:extLst>
          </p:cNvPr>
          <p:cNvSpPr/>
          <p:nvPr/>
        </p:nvSpPr>
        <p:spPr bwMode="auto">
          <a:xfrm>
            <a:off x="4754880" y="388620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1946519" name="Text 40">
            <a:extLst>
              <a:ext uri="{FF2B5EF4-FFF2-40B4-BE49-F238E27FC236}">
                <a16:creationId xmlns:a16="http://schemas.microsoft.com/office/drawing/2014/main" id="{EFF5E60A-8F6B-561C-C378-0FEDF9BECC59}"/>
              </a:ext>
            </a:extLst>
          </p:cNvPr>
          <p:cNvSpPr/>
          <p:nvPr/>
        </p:nvSpPr>
        <p:spPr bwMode="auto">
          <a:xfrm>
            <a:off x="4754880" y="388620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08</a:t>
            </a:r>
            <a:endParaRPr lang="en-US" sz="1400"/>
          </a:p>
        </p:txBody>
      </p:sp>
      <p:sp>
        <p:nvSpPr>
          <p:cNvPr id="1374344216" name="Text 41">
            <a:extLst>
              <a:ext uri="{FF2B5EF4-FFF2-40B4-BE49-F238E27FC236}">
                <a16:creationId xmlns:a16="http://schemas.microsoft.com/office/drawing/2014/main" id="{2A09D38E-8E32-BF46-506E-FD4BC9234911}"/>
              </a:ext>
            </a:extLst>
          </p:cNvPr>
          <p:cNvSpPr/>
          <p:nvPr/>
        </p:nvSpPr>
        <p:spPr bwMode="auto">
          <a:xfrm>
            <a:off x="5349240" y="39319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Fazit &amp; Ausblick</a:t>
            </a:r>
            <a:endParaRPr sz="130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3" name="Anzeiger">
            <a:extLst>
              <a:ext uri="{FF2B5EF4-FFF2-40B4-BE49-F238E27FC236}">
                <a16:creationId xmlns:a16="http://schemas.microsoft.com/office/drawing/2014/main" id="{97D4C697-C65B-F267-638B-14E0F51C028C}"/>
              </a:ext>
            </a:extLst>
          </p:cNvPr>
          <p:cNvSpPr/>
          <p:nvPr/>
        </p:nvSpPr>
        <p:spPr bwMode="auto">
          <a:xfrm>
            <a:off x="4756264" y="2926080"/>
            <a:ext cx="4160519" cy="749808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00050" name="Seitenzahl"/>
          <p:cNvSpPr/>
          <p:nvPr/>
        </p:nvSpPr>
        <p:spPr bwMode="auto">
          <a:xfrm>
            <a:off x="8250000" y="4970000"/>
            <a:ext cx="750000" cy="1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de-DE" sz="900" dirty="0">
                <a:solidFill>
                  <a:srgbClr val="5A8AB0"/>
                </a:solidFill>
                <a:latin typeface="Calibri"/>
                <a:ea typeface="Calibri"/>
                <a:cs typeface="Calibri"/>
              </a:rPr>
              <a:t>9 von 28</a:t>
            </a:r>
            <a:endParaRPr lang="de-DE" sz="900"/>
          </a:p>
        </p:txBody>
      </p:sp>
    </p:spTree>
    <p:extLst>
      <p:ext uri="{BB962C8B-B14F-4D97-AF65-F5344CB8AC3E}">
        <p14:creationId xmlns:p14="http://schemas.microsoft.com/office/powerpoint/2010/main" val="5776607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rgbClr val="F7F9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3FEF55-0101-54F0-7A53-D9E34209071F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4378887" name="Text 0">
            <a:extLst>
              <a:ext uri="{FF2B5EF4-FFF2-40B4-BE49-F238E27FC236}">
                <a16:creationId xmlns:a16="http://schemas.microsoft.com/office/drawing/2014/main" id="{122B7485-3A2D-B903-457B-83C03BD2F9F9}"/>
              </a:ext>
            </a:extLst>
          </p:cNvPr>
          <p:cNvSpPr/>
          <p:nvPr/>
        </p:nvSpPr>
        <p:spPr bwMode="auto">
          <a:xfrm>
            <a:off x="411480" y="201168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260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Agenda</a:t>
            </a:r>
            <a:endParaRPr lang="en-US" sz="2600"/>
          </a:p>
        </p:txBody>
      </p:sp>
      <p:sp>
        <p:nvSpPr>
          <p:cNvPr id="869437356" name="Shape 1">
            <a:extLst>
              <a:ext uri="{FF2B5EF4-FFF2-40B4-BE49-F238E27FC236}">
                <a16:creationId xmlns:a16="http://schemas.microsoft.com/office/drawing/2014/main" id="{E5DFDE04-830F-B711-7F73-CF69EB811387}"/>
              </a:ext>
            </a:extLst>
          </p:cNvPr>
          <p:cNvSpPr/>
          <p:nvPr/>
        </p:nvSpPr>
        <p:spPr bwMode="auto">
          <a:xfrm>
            <a:off x="411480" y="822960"/>
            <a:ext cx="8321039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94453572" name="Shape 3">
            <a:extLst>
              <a:ext uri="{FF2B5EF4-FFF2-40B4-BE49-F238E27FC236}">
                <a16:creationId xmlns:a16="http://schemas.microsoft.com/office/drawing/2014/main" id="{BBDFA748-EB6E-4BF4-CFF9-6A2B060D632D}"/>
              </a:ext>
            </a:extLst>
          </p:cNvPr>
          <p:cNvSpPr/>
          <p:nvPr/>
        </p:nvSpPr>
        <p:spPr bwMode="auto">
          <a:xfrm>
            <a:off x="411480" y="100584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91337661" name="Shape 2">
            <a:extLst>
              <a:ext uri="{FF2B5EF4-FFF2-40B4-BE49-F238E27FC236}">
                <a16:creationId xmlns:a16="http://schemas.microsoft.com/office/drawing/2014/main" id="{98B66E64-041B-5F30-1BEF-F85921861F02}"/>
              </a:ext>
            </a:extLst>
          </p:cNvPr>
          <p:cNvSpPr/>
          <p:nvPr/>
        </p:nvSpPr>
        <p:spPr bwMode="auto">
          <a:xfrm>
            <a:off x="411480" y="100584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33758461" name="Text 5">
            <a:extLst>
              <a:ext uri="{FF2B5EF4-FFF2-40B4-BE49-F238E27FC236}">
                <a16:creationId xmlns:a16="http://schemas.microsoft.com/office/drawing/2014/main" id="{B79EB9F6-E52E-7A82-F079-FE8D783C4FF8}"/>
              </a:ext>
            </a:extLst>
          </p:cNvPr>
          <p:cNvSpPr/>
          <p:nvPr/>
        </p:nvSpPr>
        <p:spPr bwMode="auto">
          <a:xfrm>
            <a:off x="411480" y="100584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01</a:t>
            </a:r>
            <a:endParaRPr lang="en-US" sz="1400"/>
          </a:p>
        </p:txBody>
      </p:sp>
      <p:sp>
        <p:nvSpPr>
          <p:cNvPr id="368860147" name="Text 6">
            <a:extLst>
              <a:ext uri="{FF2B5EF4-FFF2-40B4-BE49-F238E27FC236}">
                <a16:creationId xmlns:a16="http://schemas.microsoft.com/office/drawing/2014/main" id="{3AC12F85-0545-622B-14A1-A4B814055D32}"/>
              </a:ext>
            </a:extLst>
          </p:cNvPr>
          <p:cNvSpPr/>
          <p:nvPr/>
        </p:nvSpPr>
        <p:spPr bwMode="auto">
          <a:xfrm>
            <a:off x="1005840" y="10515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Ausgangssituation &amp; Problem</a:t>
            </a:r>
            <a:endParaRPr sz="130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448704985" name="Shape 8">
            <a:extLst>
              <a:ext uri="{FF2B5EF4-FFF2-40B4-BE49-F238E27FC236}">
                <a16:creationId xmlns:a16="http://schemas.microsoft.com/office/drawing/2014/main" id="{40F8064F-81EB-1280-4F5E-F9FD020C8C57}"/>
              </a:ext>
            </a:extLst>
          </p:cNvPr>
          <p:cNvSpPr/>
          <p:nvPr/>
        </p:nvSpPr>
        <p:spPr bwMode="auto">
          <a:xfrm>
            <a:off x="411480" y="196596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21823693" name="Shape 9">
            <a:extLst>
              <a:ext uri="{FF2B5EF4-FFF2-40B4-BE49-F238E27FC236}">
                <a16:creationId xmlns:a16="http://schemas.microsoft.com/office/drawing/2014/main" id="{B7D47077-1707-E020-3428-3B8314E18466}"/>
              </a:ext>
            </a:extLst>
          </p:cNvPr>
          <p:cNvSpPr/>
          <p:nvPr/>
        </p:nvSpPr>
        <p:spPr bwMode="auto">
          <a:xfrm>
            <a:off x="411480" y="196596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33113082" name="Text 10">
            <a:extLst>
              <a:ext uri="{FF2B5EF4-FFF2-40B4-BE49-F238E27FC236}">
                <a16:creationId xmlns:a16="http://schemas.microsoft.com/office/drawing/2014/main" id="{18E5928D-7DD5-3620-9E74-305B76F089A1}"/>
              </a:ext>
            </a:extLst>
          </p:cNvPr>
          <p:cNvSpPr/>
          <p:nvPr/>
        </p:nvSpPr>
        <p:spPr bwMode="auto">
          <a:xfrm>
            <a:off x="411480" y="196596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02</a:t>
            </a:r>
            <a:endParaRPr sz="1400">
              <a:solidFill>
                <a:schemeClr val="bg1"/>
              </a:solidFill>
            </a:endParaRPr>
          </a:p>
        </p:txBody>
      </p:sp>
      <p:sp>
        <p:nvSpPr>
          <p:cNvPr id="1045715279" name="Text 11">
            <a:extLst>
              <a:ext uri="{FF2B5EF4-FFF2-40B4-BE49-F238E27FC236}">
                <a16:creationId xmlns:a16="http://schemas.microsoft.com/office/drawing/2014/main" id="{56A199F6-D633-B182-A441-3BF70155EF25}"/>
              </a:ext>
            </a:extLst>
          </p:cNvPr>
          <p:cNvSpPr/>
          <p:nvPr/>
        </p:nvSpPr>
        <p:spPr bwMode="auto">
          <a:xfrm>
            <a:off x="1005840" y="20116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 dirty="0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Projektziel</a:t>
            </a:r>
            <a:endParaRPr sz="13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075426089" name="Shape 13">
            <a:extLst>
              <a:ext uri="{FF2B5EF4-FFF2-40B4-BE49-F238E27FC236}">
                <a16:creationId xmlns:a16="http://schemas.microsoft.com/office/drawing/2014/main" id="{BA4BD3E3-ADA4-D477-9D8B-18514D547760}"/>
              </a:ext>
            </a:extLst>
          </p:cNvPr>
          <p:cNvSpPr/>
          <p:nvPr/>
        </p:nvSpPr>
        <p:spPr bwMode="auto">
          <a:xfrm>
            <a:off x="411480" y="292608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7492451" name="Shape 14">
            <a:extLst>
              <a:ext uri="{FF2B5EF4-FFF2-40B4-BE49-F238E27FC236}">
                <a16:creationId xmlns:a16="http://schemas.microsoft.com/office/drawing/2014/main" id="{8FEB494C-884A-FABC-3F96-6F8B932B1516}"/>
              </a:ext>
            </a:extLst>
          </p:cNvPr>
          <p:cNvSpPr/>
          <p:nvPr/>
        </p:nvSpPr>
        <p:spPr bwMode="auto">
          <a:xfrm>
            <a:off x="411480" y="292608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144350226" name="Text 15">
            <a:extLst>
              <a:ext uri="{FF2B5EF4-FFF2-40B4-BE49-F238E27FC236}">
                <a16:creationId xmlns:a16="http://schemas.microsoft.com/office/drawing/2014/main" id="{F471F81F-900B-A3BA-59A9-430A84CC4F8C}"/>
              </a:ext>
            </a:extLst>
          </p:cNvPr>
          <p:cNvSpPr/>
          <p:nvPr/>
        </p:nvSpPr>
        <p:spPr bwMode="auto">
          <a:xfrm>
            <a:off x="411480" y="292608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03</a:t>
            </a:r>
            <a:endParaRPr lang="en-US" sz="1400"/>
          </a:p>
        </p:txBody>
      </p:sp>
      <p:sp>
        <p:nvSpPr>
          <p:cNvPr id="2126149793" name="Text 16">
            <a:extLst>
              <a:ext uri="{FF2B5EF4-FFF2-40B4-BE49-F238E27FC236}">
                <a16:creationId xmlns:a16="http://schemas.microsoft.com/office/drawing/2014/main" id="{5DBCCA98-5A98-8B43-1E36-5133F52E973F}"/>
              </a:ext>
            </a:extLst>
          </p:cNvPr>
          <p:cNvSpPr/>
          <p:nvPr/>
        </p:nvSpPr>
        <p:spPr bwMode="auto">
          <a:xfrm>
            <a:off x="1005840" y="29718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 dirty="0" err="1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Systemarchitektur</a:t>
            </a:r>
            <a:endParaRPr sz="13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830053037" name="Shape 18">
            <a:extLst>
              <a:ext uri="{FF2B5EF4-FFF2-40B4-BE49-F238E27FC236}">
                <a16:creationId xmlns:a16="http://schemas.microsoft.com/office/drawing/2014/main" id="{A1C925B9-BC6F-A075-639F-FFB6830CE044}"/>
              </a:ext>
            </a:extLst>
          </p:cNvPr>
          <p:cNvSpPr/>
          <p:nvPr/>
        </p:nvSpPr>
        <p:spPr bwMode="auto">
          <a:xfrm>
            <a:off x="411480" y="388620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94880504" name="Shape 19">
            <a:extLst>
              <a:ext uri="{FF2B5EF4-FFF2-40B4-BE49-F238E27FC236}">
                <a16:creationId xmlns:a16="http://schemas.microsoft.com/office/drawing/2014/main" id="{F4BB65C8-9445-8E56-CBCB-63E1BD7E9F50}"/>
              </a:ext>
            </a:extLst>
          </p:cNvPr>
          <p:cNvSpPr/>
          <p:nvPr/>
        </p:nvSpPr>
        <p:spPr bwMode="auto">
          <a:xfrm>
            <a:off x="411480" y="388620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74103900" name="Text 20">
            <a:extLst>
              <a:ext uri="{FF2B5EF4-FFF2-40B4-BE49-F238E27FC236}">
                <a16:creationId xmlns:a16="http://schemas.microsoft.com/office/drawing/2014/main" id="{C63D2309-305E-9996-7FDB-CF291D37138B}"/>
              </a:ext>
            </a:extLst>
          </p:cNvPr>
          <p:cNvSpPr/>
          <p:nvPr/>
        </p:nvSpPr>
        <p:spPr bwMode="auto">
          <a:xfrm>
            <a:off x="411480" y="388620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04</a:t>
            </a:r>
            <a:endParaRPr lang="en-US" sz="1400"/>
          </a:p>
        </p:txBody>
      </p:sp>
      <p:sp>
        <p:nvSpPr>
          <p:cNvPr id="322012116" name="Text 21">
            <a:extLst>
              <a:ext uri="{FF2B5EF4-FFF2-40B4-BE49-F238E27FC236}">
                <a16:creationId xmlns:a16="http://schemas.microsoft.com/office/drawing/2014/main" id="{BEE7171F-AFF6-7B47-CA44-C3FF9FE69B1C}"/>
              </a:ext>
            </a:extLst>
          </p:cNvPr>
          <p:cNvSpPr/>
          <p:nvPr/>
        </p:nvSpPr>
        <p:spPr bwMode="auto">
          <a:xfrm>
            <a:off x="1005840" y="39319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 dirty="0">
                <a:solidFill>
                  <a:schemeClr val="bg1">
                    <a:lumMod val="65000"/>
                  </a:schemeClr>
                </a:solidFill>
                <a:latin typeface="Calibri"/>
                <a:ea typeface="Calibri"/>
                <a:cs typeface="Calibri"/>
              </a:rPr>
              <a:t>Technologie-</a:t>
            </a:r>
            <a:r>
              <a:rPr lang="en-US" sz="1300" b="1" dirty="0" err="1">
                <a:solidFill>
                  <a:schemeClr val="bg1">
                    <a:lumMod val="65000"/>
                  </a:schemeClr>
                </a:solidFill>
                <a:latin typeface="Calibri"/>
                <a:ea typeface="Calibri"/>
                <a:cs typeface="Calibri"/>
              </a:rPr>
              <a:t>Entscheidung</a:t>
            </a:r>
            <a:endParaRPr sz="13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782292812" name="Shape 23">
            <a:extLst>
              <a:ext uri="{FF2B5EF4-FFF2-40B4-BE49-F238E27FC236}">
                <a16:creationId xmlns:a16="http://schemas.microsoft.com/office/drawing/2014/main" id="{701CF955-3404-F854-79E8-A9073601F7EB}"/>
              </a:ext>
            </a:extLst>
          </p:cNvPr>
          <p:cNvSpPr/>
          <p:nvPr/>
        </p:nvSpPr>
        <p:spPr bwMode="auto">
          <a:xfrm>
            <a:off x="4754880" y="100584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38495548" name="Shape 24">
            <a:extLst>
              <a:ext uri="{FF2B5EF4-FFF2-40B4-BE49-F238E27FC236}">
                <a16:creationId xmlns:a16="http://schemas.microsoft.com/office/drawing/2014/main" id="{60A546C8-69FA-40FC-52DD-C549518E9575}"/>
              </a:ext>
            </a:extLst>
          </p:cNvPr>
          <p:cNvSpPr/>
          <p:nvPr/>
        </p:nvSpPr>
        <p:spPr bwMode="auto">
          <a:xfrm>
            <a:off x="4754880" y="100584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97200296" name="Text 25">
            <a:extLst>
              <a:ext uri="{FF2B5EF4-FFF2-40B4-BE49-F238E27FC236}">
                <a16:creationId xmlns:a16="http://schemas.microsoft.com/office/drawing/2014/main" id="{B811FE56-968C-6F31-C03B-E6E35ED93BF4}"/>
              </a:ext>
            </a:extLst>
          </p:cNvPr>
          <p:cNvSpPr/>
          <p:nvPr/>
        </p:nvSpPr>
        <p:spPr bwMode="auto">
          <a:xfrm>
            <a:off x="4754880" y="100584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05</a:t>
            </a:r>
            <a:endParaRPr lang="en-US" sz="1400"/>
          </a:p>
        </p:txBody>
      </p:sp>
      <p:sp>
        <p:nvSpPr>
          <p:cNvPr id="2121776462" name="Text 26">
            <a:extLst>
              <a:ext uri="{FF2B5EF4-FFF2-40B4-BE49-F238E27FC236}">
                <a16:creationId xmlns:a16="http://schemas.microsoft.com/office/drawing/2014/main" id="{C5E1DE0B-9340-4FCE-62C5-77CE42858F2C}"/>
              </a:ext>
            </a:extLst>
          </p:cNvPr>
          <p:cNvSpPr/>
          <p:nvPr/>
        </p:nvSpPr>
        <p:spPr bwMode="auto">
          <a:xfrm>
            <a:off x="5349240" y="10515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Implementierung</a:t>
            </a:r>
            <a:endParaRPr sz="130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646939193" name="Shape 28">
            <a:extLst>
              <a:ext uri="{FF2B5EF4-FFF2-40B4-BE49-F238E27FC236}">
                <a16:creationId xmlns:a16="http://schemas.microsoft.com/office/drawing/2014/main" id="{124D878A-CCEA-AE5F-038D-66F90BA885D4}"/>
              </a:ext>
            </a:extLst>
          </p:cNvPr>
          <p:cNvSpPr/>
          <p:nvPr/>
        </p:nvSpPr>
        <p:spPr bwMode="auto">
          <a:xfrm>
            <a:off x="4754880" y="196596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53839944" name="Shape 29">
            <a:extLst>
              <a:ext uri="{FF2B5EF4-FFF2-40B4-BE49-F238E27FC236}">
                <a16:creationId xmlns:a16="http://schemas.microsoft.com/office/drawing/2014/main" id="{3C955213-DACA-348B-7221-EEC2697A4329}"/>
              </a:ext>
            </a:extLst>
          </p:cNvPr>
          <p:cNvSpPr/>
          <p:nvPr/>
        </p:nvSpPr>
        <p:spPr bwMode="auto">
          <a:xfrm>
            <a:off x="4754880" y="196596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60231556" name="Text 30">
            <a:extLst>
              <a:ext uri="{FF2B5EF4-FFF2-40B4-BE49-F238E27FC236}">
                <a16:creationId xmlns:a16="http://schemas.microsoft.com/office/drawing/2014/main" id="{E9474FF2-C121-2328-A710-F4BFE68AD2D4}"/>
              </a:ext>
            </a:extLst>
          </p:cNvPr>
          <p:cNvSpPr/>
          <p:nvPr/>
        </p:nvSpPr>
        <p:spPr bwMode="auto">
          <a:xfrm>
            <a:off x="4754880" y="196596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06</a:t>
            </a:r>
            <a:endParaRPr lang="en-US" sz="1400"/>
          </a:p>
        </p:txBody>
      </p:sp>
      <p:sp>
        <p:nvSpPr>
          <p:cNvPr id="1783669986" name="Text 31">
            <a:extLst>
              <a:ext uri="{FF2B5EF4-FFF2-40B4-BE49-F238E27FC236}">
                <a16:creationId xmlns:a16="http://schemas.microsoft.com/office/drawing/2014/main" id="{9785DB7D-24D2-72FF-DA89-053B4ECB1F01}"/>
              </a:ext>
            </a:extLst>
          </p:cNvPr>
          <p:cNvSpPr/>
          <p:nvPr/>
        </p:nvSpPr>
        <p:spPr bwMode="auto">
          <a:xfrm>
            <a:off x="5349240" y="20116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Tests &amp; Ergebnisse</a:t>
            </a:r>
            <a:endParaRPr sz="130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304377321" name="Shape 33">
            <a:extLst>
              <a:ext uri="{FF2B5EF4-FFF2-40B4-BE49-F238E27FC236}">
                <a16:creationId xmlns:a16="http://schemas.microsoft.com/office/drawing/2014/main" id="{F7D99BCC-351E-5393-FFE4-A20F2C153100}"/>
              </a:ext>
            </a:extLst>
          </p:cNvPr>
          <p:cNvSpPr/>
          <p:nvPr/>
        </p:nvSpPr>
        <p:spPr bwMode="auto">
          <a:xfrm>
            <a:off x="4754880" y="292608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68786287" name="Shape 34">
            <a:extLst>
              <a:ext uri="{FF2B5EF4-FFF2-40B4-BE49-F238E27FC236}">
                <a16:creationId xmlns:a16="http://schemas.microsoft.com/office/drawing/2014/main" id="{CA39E8ED-C8EC-B396-3EB3-28DEF40DE2FB}"/>
              </a:ext>
            </a:extLst>
          </p:cNvPr>
          <p:cNvSpPr/>
          <p:nvPr/>
        </p:nvSpPr>
        <p:spPr bwMode="auto">
          <a:xfrm>
            <a:off x="4754880" y="292608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78365891" name="Text 35">
            <a:extLst>
              <a:ext uri="{FF2B5EF4-FFF2-40B4-BE49-F238E27FC236}">
                <a16:creationId xmlns:a16="http://schemas.microsoft.com/office/drawing/2014/main" id="{DD1CFD62-6364-921D-27B9-43AEA1FF3FE4}"/>
              </a:ext>
            </a:extLst>
          </p:cNvPr>
          <p:cNvSpPr/>
          <p:nvPr/>
        </p:nvSpPr>
        <p:spPr bwMode="auto">
          <a:xfrm>
            <a:off x="4754880" y="292608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07</a:t>
            </a:r>
            <a:endParaRPr lang="en-US" sz="1400"/>
          </a:p>
        </p:txBody>
      </p:sp>
      <p:sp>
        <p:nvSpPr>
          <p:cNvPr id="560667217" name="Text 36">
            <a:extLst>
              <a:ext uri="{FF2B5EF4-FFF2-40B4-BE49-F238E27FC236}">
                <a16:creationId xmlns:a16="http://schemas.microsoft.com/office/drawing/2014/main" id="{51989034-1211-4A73-A52E-E9FA0DBF618C}"/>
              </a:ext>
            </a:extLst>
          </p:cNvPr>
          <p:cNvSpPr/>
          <p:nvPr/>
        </p:nvSpPr>
        <p:spPr bwMode="auto">
          <a:xfrm>
            <a:off x="5349240" y="29718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chemeClr val="bg2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Nutzwertanalyse &amp; Empfehlung</a:t>
            </a:r>
            <a:endParaRPr sz="130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522782640" name="Shape 38">
            <a:extLst>
              <a:ext uri="{FF2B5EF4-FFF2-40B4-BE49-F238E27FC236}">
                <a16:creationId xmlns:a16="http://schemas.microsoft.com/office/drawing/2014/main" id="{25D56FD4-3544-139B-EDCC-CD485B15F458}"/>
              </a:ext>
            </a:extLst>
          </p:cNvPr>
          <p:cNvSpPr/>
          <p:nvPr/>
        </p:nvSpPr>
        <p:spPr bwMode="auto">
          <a:xfrm>
            <a:off x="4754880" y="3886200"/>
            <a:ext cx="416051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54790769" name="Shape 39">
            <a:extLst>
              <a:ext uri="{FF2B5EF4-FFF2-40B4-BE49-F238E27FC236}">
                <a16:creationId xmlns:a16="http://schemas.microsoft.com/office/drawing/2014/main" id="{A1A692F2-E93D-628A-82E5-84D882A14569}"/>
              </a:ext>
            </a:extLst>
          </p:cNvPr>
          <p:cNvSpPr/>
          <p:nvPr/>
        </p:nvSpPr>
        <p:spPr bwMode="auto">
          <a:xfrm>
            <a:off x="4754880" y="3886200"/>
            <a:ext cx="50292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1946519" name="Text 40">
            <a:extLst>
              <a:ext uri="{FF2B5EF4-FFF2-40B4-BE49-F238E27FC236}">
                <a16:creationId xmlns:a16="http://schemas.microsoft.com/office/drawing/2014/main" id="{2C51C4BF-B234-5141-003C-A8E0892AB5F9}"/>
              </a:ext>
            </a:extLst>
          </p:cNvPr>
          <p:cNvSpPr/>
          <p:nvPr/>
        </p:nvSpPr>
        <p:spPr bwMode="auto">
          <a:xfrm>
            <a:off x="4754880" y="388620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08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374344216" name="Text 41">
            <a:extLst>
              <a:ext uri="{FF2B5EF4-FFF2-40B4-BE49-F238E27FC236}">
                <a16:creationId xmlns:a16="http://schemas.microsoft.com/office/drawing/2014/main" id="{C9F85284-412A-A4B5-F3C9-2D0768C61250}"/>
              </a:ext>
            </a:extLst>
          </p:cNvPr>
          <p:cNvSpPr/>
          <p:nvPr/>
        </p:nvSpPr>
        <p:spPr bwMode="auto">
          <a:xfrm>
            <a:off x="5349240" y="39319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 dirty="0" err="1">
                <a:latin typeface="Calibri"/>
                <a:ea typeface="Calibri"/>
                <a:cs typeface="Calibri"/>
              </a:rPr>
              <a:t>Fazit</a:t>
            </a:r>
            <a:r>
              <a:rPr lang="en-US" sz="1300" b="1" dirty="0">
                <a:latin typeface="Calibri"/>
                <a:ea typeface="Calibri"/>
                <a:cs typeface="Calibri"/>
              </a:rPr>
              <a:t xml:space="preserve"> &amp; </a:t>
            </a:r>
            <a:r>
              <a:rPr lang="en-US" sz="1300" b="1" dirty="0" err="1">
                <a:latin typeface="Calibri"/>
                <a:ea typeface="Calibri"/>
                <a:cs typeface="Calibri"/>
              </a:rPr>
              <a:t>Ausblick</a:t>
            </a:r>
            <a:endParaRPr sz="1300" dirty="0"/>
          </a:p>
        </p:txBody>
      </p:sp>
      <p:sp>
        <p:nvSpPr>
          <p:cNvPr id="3" name="Anzeiger">
            <a:extLst>
              <a:ext uri="{FF2B5EF4-FFF2-40B4-BE49-F238E27FC236}">
                <a16:creationId xmlns:a16="http://schemas.microsoft.com/office/drawing/2014/main" id="{EBE14F73-6BA3-A889-47EF-DFEB42A71582}"/>
              </a:ext>
            </a:extLst>
          </p:cNvPr>
          <p:cNvSpPr/>
          <p:nvPr/>
        </p:nvSpPr>
        <p:spPr bwMode="auto">
          <a:xfrm>
            <a:off x="4748644" y="3886200"/>
            <a:ext cx="4160519" cy="749808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00050" name="Seitenzahl"/>
          <p:cNvSpPr/>
          <p:nvPr/>
        </p:nvSpPr>
        <p:spPr bwMode="auto">
          <a:xfrm>
            <a:off x="8250000" y="4970000"/>
            <a:ext cx="750000" cy="1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de-DE" sz="900" dirty="0">
                <a:solidFill>
                  <a:srgbClr val="5A8AB0"/>
                </a:solidFill>
                <a:latin typeface="Calibri"/>
                <a:ea typeface="Calibri"/>
                <a:cs typeface="Calibri"/>
              </a:rPr>
              <a:t>10 von 28</a:t>
            </a:r>
            <a:endParaRPr lang="de-DE" sz="900"/>
          </a:p>
        </p:txBody>
      </p:sp>
    </p:spTree>
    <p:extLst>
      <p:ext uri="{BB962C8B-B14F-4D97-AF65-F5344CB8AC3E}">
        <p14:creationId xmlns:p14="http://schemas.microsoft.com/office/powerpoint/2010/main" val="25840085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 name="Slide 3"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" name="Rechteck 18">
            <a:extLst>
              <a:ext uri="{FF2B5EF4-FFF2-40B4-BE49-F238E27FC236}">
                <a16:creationId xmlns:a16="http://schemas.microsoft.com/office/drawing/2014/main" id="{7DCB129D-D2A9-A747-0B02-1C7E7835DB16}"/>
              </a:ext>
            </a:extLst>
          </p:cNvPr>
          <p:cNvSpPr/>
          <p:nvPr/>
        </p:nvSpPr>
        <p:spPr bwMode="auto">
          <a:xfrm>
            <a:off x="2971800" y="1219200"/>
            <a:ext cx="457200" cy="1706880"/>
          </a:xfrm>
          <a:prstGeom prst="rect">
            <a:avLst/>
          </a:prstGeom>
          <a:solidFill>
            <a:srgbClr val="2E74B5"/>
          </a:solidFill>
          <a:ln>
            <a:solidFill>
              <a:srgbClr val="2E74B5">
                <a:alpha val="96000"/>
              </a:srgbClr>
            </a:solidFill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50150301" name="!!something1"/>
          <p:cNvSpPr/>
          <p:nvPr/>
        </p:nvSpPr>
        <p:spPr bwMode="auto">
          <a:xfrm>
            <a:off x="0" y="0"/>
            <a:ext cx="228600" cy="5143500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>
                <a:alpha val="96000"/>
              </a:srgbClr>
            </a:solidFill>
            <a:prstDash val="solid"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722920587" name="Text 1"/>
          <p:cNvSpPr/>
          <p:nvPr/>
        </p:nvSpPr>
        <p:spPr bwMode="auto">
          <a:xfrm>
            <a:off x="50292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7200" b="1" dirty="0">
                <a:solidFill>
                  <a:srgbClr val="2E74B5"/>
                </a:solidFill>
                <a:effectLst>
                  <a:glow>
                    <a:schemeClr val="bg1">
                      <a:alpha val="0"/>
                    </a:schemeClr>
                  </a:glow>
                  <a:outerShdw blurRad="50800" dist="38100" dir="16200000" rotWithShape="0">
                    <a:schemeClr val="tx1">
                      <a:alpha val="40000"/>
                    </a:schemeClr>
                  </a:outerShdw>
                </a:effectLst>
                <a:latin typeface="Calibri"/>
                <a:ea typeface="Calibri"/>
                <a:cs typeface="Calibri"/>
              </a:rPr>
              <a:t>01</a:t>
            </a:r>
            <a:endParaRPr lang="en-US" sz="7200" dirty="0">
              <a:effectLst>
                <a:glow>
                  <a:schemeClr val="bg1">
                    <a:alpha val="0"/>
                  </a:schemeClr>
                </a:glow>
                <a:outerShdw blurRad="50800" dist="38100" dir="16200000" rotWithShape="0">
                  <a:schemeClr val="tx1">
                    <a:alpha val="40000"/>
                  </a:schemeClr>
                </a:outerShdw>
              </a:effectLst>
            </a:endParaRPr>
          </a:p>
        </p:txBody>
      </p:sp>
      <p:sp>
        <p:nvSpPr>
          <p:cNvPr id="1498627751" name="!!Text 0"/>
          <p:cNvSpPr/>
          <p:nvPr/>
        </p:nvSpPr>
        <p:spPr bwMode="auto">
          <a:xfrm>
            <a:off x="502920" y="26517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3200" b="1" dirty="0" err="1">
                <a:solidFill>
                  <a:srgbClr val="FFFFFF"/>
                </a:soli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  <a:latin typeface="Calibri"/>
                <a:ea typeface="Calibri"/>
                <a:cs typeface="Calibri"/>
              </a:rPr>
              <a:t>Ausgangssituation</a:t>
            </a:r>
            <a:r>
              <a:rPr lang="en-US" sz="3200" b="1" dirty="0">
                <a:solidFill>
                  <a:srgbClr val="FFFFFF"/>
                </a:soli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  <a:latin typeface="Calibri"/>
                <a:ea typeface="Calibri"/>
                <a:cs typeface="Calibri"/>
              </a:rPr>
              <a:t xml:space="preserve"> &amp; Problem</a:t>
            </a:r>
            <a:endParaRPr lang="en-US" sz="3200" dirty="0">
              <a:effectLst>
                <a:outerShdw blurRad="50800" dist="38100" dir="16200000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EBFDB871-1EA3-92A7-9737-BA6F499960D8}"/>
              </a:ext>
            </a:extLst>
          </p:cNvPr>
          <p:cNvSpPr/>
          <p:nvPr/>
        </p:nvSpPr>
        <p:spPr>
          <a:xfrm>
            <a:off x="1280160" y="3436620"/>
            <a:ext cx="4518660" cy="403860"/>
          </a:xfrm>
          <a:prstGeom prst="rect">
            <a:avLst/>
          </a:prstGeom>
          <a:solidFill>
            <a:srgbClr val="2E74B5"/>
          </a:solidFill>
          <a:ln>
            <a:solidFill>
              <a:srgbClr val="2E74B5">
                <a:alpha val="96000"/>
              </a:srgbClr>
            </a:solidFill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B35C1321-D242-EB30-914C-B6AF1353093F}"/>
              </a:ext>
            </a:extLst>
          </p:cNvPr>
          <p:cNvSpPr/>
          <p:nvPr/>
        </p:nvSpPr>
        <p:spPr>
          <a:xfrm>
            <a:off x="5798820" y="3436620"/>
            <a:ext cx="457200" cy="1706880"/>
          </a:xfrm>
          <a:prstGeom prst="rect">
            <a:avLst/>
          </a:prstGeom>
          <a:solidFill>
            <a:srgbClr val="2E74B5"/>
          </a:solidFill>
          <a:ln>
            <a:solidFill>
              <a:srgbClr val="2E74B5">
                <a:alpha val="96000"/>
              </a:srgbClr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EA40D9CD-784B-3EDA-D9CF-E488BAB2325E}"/>
              </a:ext>
            </a:extLst>
          </p:cNvPr>
          <p:cNvSpPr/>
          <p:nvPr/>
        </p:nvSpPr>
        <p:spPr bwMode="auto">
          <a:xfrm>
            <a:off x="1882140" y="1219200"/>
            <a:ext cx="457200" cy="1706880"/>
          </a:xfrm>
          <a:prstGeom prst="rect">
            <a:avLst/>
          </a:prstGeom>
          <a:solidFill>
            <a:srgbClr val="2E74B5"/>
          </a:solidFill>
          <a:ln>
            <a:solidFill>
              <a:srgbClr val="2E74B5">
                <a:alpha val="96000"/>
              </a:srgbClr>
            </a:solidFill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74B26AD2-9C65-7CCE-B180-B28121441A63}"/>
              </a:ext>
            </a:extLst>
          </p:cNvPr>
          <p:cNvSpPr/>
          <p:nvPr/>
        </p:nvSpPr>
        <p:spPr bwMode="auto">
          <a:xfrm>
            <a:off x="3444240" y="2522220"/>
            <a:ext cx="3924300" cy="403860"/>
          </a:xfrm>
          <a:prstGeom prst="rect">
            <a:avLst/>
          </a:prstGeom>
          <a:solidFill>
            <a:srgbClr val="2E74B5"/>
          </a:solidFill>
          <a:ln>
            <a:solidFill>
              <a:srgbClr val="2E74B5">
                <a:alpha val="96000"/>
              </a:srgbClr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3A7B104A-49AE-98BB-D15B-3B8942D9B0C7}"/>
              </a:ext>
            </a:extLst>
          </p:cNvPr>
          <p:cNvSpPr/>
          <p:nvPr/>
        </p:nvSpPr>
        <p:spPr bwMode="auto">
          <a:xfrm>
            <a:off x="4110990" y="7620"/>
            <a:ext cx="457200" cy="1706880"/>
          </a:xfrm>
          <a:prstGeom prst="rect">
            <a:avLst/>
          </a:prstGeom>
          <a:solidFill>
            <a:srgbClr val="2E74B5"/>
          </a:solidFill>
          <a:ln>
            <a:solidFill>
              <a:srgbClr val="2E74B5">
                <a:alpha val="96000"/>
              </a:srgb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8804918C-D18C-A6E3-FDF7-D0E9F0CD4063}"/>
              </a:ext>
            </a:extLst>
          </p:cNvPr>
          <p:cNvSpPr/>
          <p:nvPr/>
        </p:nvSpPr>
        <p:spPr bwMode="auto">
          <a:xfrm>
            <a:off x="4583430" y="4503420"/>
            <a:ext cx="457200" cy="640080"/>
          </a:xfrm>
          <a:prstGeom prst="rect">
            <a:avLst/>
          </a:prstGeom>
          <a:solidFill>
            <a:srgbClr val="2E74B5"/>
          </a:solidFill>
          <a:ln>
            <a:solidFill>
              <a:srgbClr val="2E74B5">
                <a:alpha val="96000"/>
              </a:srgbClr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BC227F41-D706-C77E-C848-70FD626261A8}"/>
              </a:ext>
            </a:extLst>
          </p:cNvPr>
          <p:cNvSpPr/>
          <p:nvPr/>
        </p:nvSpPr>
        <p:spPr bwMode="auto">
          <a:xfrm>
            <a:off x="7368540" y="594360"/>
            <a:ext cx="457200" cy="2331720"/>
          </a:xfrm>
          <a:prstGeom prst="rect">
            <a:avLst/>
          </a:prstGeom>
          <a:solidFill>
            <a:srgbClr val="2E74B5"/>
          </a:solidFill>
          <a:ln>
            <a:solidFill>
              <a:srgbClr val="2E74B5">
                <a:alpha val="96000"/>
              </a:srgb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E87DE87A-62E1-BFA0-9B2D-AD1A09F69A0D}"/>
              </a:ext>
            </a:extLst>
          </p:cNvPr>
          <p:cNvSpPr/>
          <p:nvPr/>
        </p:nvSpPr>
        <p:spPr bwMode="auto">
          <a:xfrm>
            <a:off x="228600" y="815340"/>
            <a:ext cx="2108835" cy="403860"/>
          </a:xfrm>
          <a:prstGeom prst="rect">
            <a:avLst/>
          </a:prstGeom>
          <a:solidFill>
            <a:srgbClr val="2E74B5"/>
          </a:solidFill>
          <a:ln>
            <a:solidFill>
              <a:srgbClr val="2E74B5">
                <a:alpha val="96000"/>
              </a:srgbClr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DAE73320-8824-921B-3C1A-77E71AC30B81}"/>
              </a:ext>
            </a:extLst>
          </p:cNvPr>
          <p:cNvSpPr/>
          <p:nvPr/>
        </p:nvSpPr>
        <p:spPr bwMode="auto">
          <a:xfrm>
            <a:off x="2339341" y="4503420"/>
            <a:ext cx="2228850" cy="403860"/>
          </a:xfrm>
          <a:prstGeom prst="rect">
            <a:avLst/>
          </a:prstGeom>
          <a:solidFill>
            <a:srgbClr val="2E74B5"/>
          </a:solidFill>
          <a:ln>
            <a:solidFill>
              <a:srgbClr val="2E74B5">
                <a:alpha val="96000"/>
              </a:srgbClr>
            </a:solidFill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B26A35CA-9C26-512A-85F5-833A8DBC73F6}"/>
              </a:ext>
            </a:extLst>
          </p:cNvPr>
          <p:cNvSpPr/>
          <p:nvPr/>
        </p:nvSpPr>
        <p:spPr bwMode="auto">
          <a:xfrm>
            <a:off x="1876425" y="4503420"/>
            <a:ext cx="457200" cy="640080"/>
          </a:xfrm>
          <a:prstGeom prst="rect">
            <a:avLst/>
          </a:prstGeom>
          <a:solidFill>
            <a:srgbClr val="2E74B5"/>
          </a:solidFill>
          <a:ln>
            <a:solidFill>
              <a:srgbClr val="2E74B5">
                <a:alpha val="96000"/>
              </a:srgbClr>
            </a:solidFill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98627745" name="Rechteck 1498627744">
            <a:extLst>
              <a:ext uri="{FF2B5EF4-FFF2-40B4-BE49-F238E27FC236}">
                <a16:creationId xmlns:a16="http://schemas.microsoft.com/office/drawing/2014/main" id="{720AEED2-8658-FF2A-A3E8-A8A19E61C26B}"/>
              </a:ext>
            </a:extLst>
          </p:cNvPr>
          <p:cNvSpPr/>
          <p:nvPr/>
        </p:nvSpPr>
        <p:spPr bwMode="auto">
          <a:xfrm>
            <a:off x="813435" y="3436620"/>
            <a:ext cx="457200" cy="1706880"/>
          </a:xfrm>
          <a:prstGeom prst="rect">
            <a:avLst/>
          </a:prstGeom>
          <a:solidFill>
            <a:srgbClr val="2E74B5"/>
          </a:solidFill>
          <a:ln>
            <a:solidFill>
              <a:srgbClr val="2E74B5">
                <a:alpha val="96000"/>
              </a:srgbClr>
            </a:solidFill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98627747" name="Rechteck 1498627746">
            <a:extLst>
              <a:ext uri="{FF2B5EF4-FFF2-40B4-BE49-F238E27FC236}">
                <a16:creationId xmlns:a16="http://schemas.microsoft.com/office/drawing/2014/main" id="{EB387899-869F-7B61-2A80-A36FFB776196}"/>
              </a:ext>
            </a:extLst>
          </p:cNvPr>
          <p:cNvSpPr/>
          <p:nvPr/>
        </p:nvSpPr>
        <p:spPr bwMode="auto">
          <a:xfrm>
            <a:off x="5177790" y="594360"/>
            <a:ext cx="457200" cy="1600200"/>
          </a:xfrm>
          <a:prstGeom prst="rect">
            <a:avLst/>
          </a:prstGeom>
          <a:solidFill>
            <a:srgbClr val="2E74B5"/>
          </a:solidFill>
          <a:ln>
            <a:solidFill>
              <a:srgbClr val="2E74B5">
                <a:alpha val="96000"/>
              </a:srgbClr>
            </a:solidFill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98627749" name="Rechteck 1498627748">
            <a:extLst>
              <a:ext uri="{FF2B5EF4-FFF2-40B4-BE49-F238E27FC236}">
                <a16:creationId xmlns:a16="http://schemas.microsoft.com/office/drawing/2014/main" id="{CECCB60A-4281-6742-224B-8CB64AD5FB94}"/>
              </a:ext>
            </a:extLst>
          </p:cNvPr>
          <p:cNvSpPr/>
          <p:nvPr/>
        </p:nvSpPr>
        <p:spPr bwMode="auto">
          <a:xfrm>
            <a:off x="5177790" y="194310"/>
            <a:ext cx="3966210" cy="403860"/>
          </a:xfrm>
          <a:prstGeom prst="rect">
            <a:avLst/>
          </a:prstGeom>
          <a:solidFill>
            <a:srgbClr val="2E74B5"/>
          </a:solidFill>
          <a:ln>
            <a:solidFill>
              <a:srgbClr val="2E74B5">
                <a:alpha val="96000"/>
              </a:srgbClr>
            </a:solidFill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98627752" name="Rechteck 1498627751">
            <a:extLst>
              <a:ext uri="{FF2B5EF4-FFF2-40B4-BE49-F238E27FC236}">
                <a16:creationId xmlns:a16="http://schemas.microsoft.com/office/drawing/2014/main" id="{0FFB9E5A-6F5C-5DF6-AE17-B68A796B6FB1}"/>
              </a:ext>
            </a:extLst>
          </p:cNvPr>
          <p:cNvSpPr/>
          <p:nvPr/>
        </p:nvSpPr>
        <p:spPr bwMode="auto">
          <a:xfrm>
            <a:off x="6235065" y="1177290"/>
            <a:ext cx="457200" cy="640080"/>
          </a:xfrm>
          <a:prstGeom prst="rect">
            <a:avLst/>
          </a:prstGeom>
          <a:solidFill>
            <a:srgbClr val="2E74B5"/>
          </a:solidFill>
          <a:ln>
            <a:solidFill>
              <a:srgbClr val="2E74B5">
                <a:alpha val="96000"/>
              </a:srgbClr>
            </a:solidFill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98627754" name="Rechteck 1498627753">
            <a:extLst>
              <a:ext uri="{FF2B5EF4-FFF2-40B4-BE49-F238E27FC236}">
                <a16:creationId xmlns:a16="http://schemas.microsoft.com/office/drawing/2014/main" id="{3DC1A168-0190-F768-3620-205DDAFD967D}"/>
              </a:ext>
            </a:extLst>
          </p:cNvPr>
          <p:cNvSpPr/>
          <p:nvPr/>
        </p:nvSpPr>
        <p:spPr bwMode="auto">
          <a:xfrm>
            <a:off x="8763000" y="1177290"/>
            <a:ext cx="369570" cy="1748790"/>
          </a:xfrm>
          <a:prstGeom prst="rect">
            <a:avLst/>
          </a:prstGeom>
          <a:solidFill>
            <a:srgbClr val="2E74B5"/>
          </a:solidFill>
          <a:ln>
            <a:solidFill>
              <a:srgbClr val="2E74B5">
                <a:alpha val="96000"/>
              </a:srgbClr>
            </a:solidFill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98627756" name="Rechteck 1498627755">
            <a:extLst>
              <a:ext uri="{FF2B5EF4-FFF2-40B4-BE49-F238E27FC236}">
                <a16:creationId xmlns:a16="http://schemas.microsoft.com/office/drawing/2014/main" id="{8FEC471F-9C36-2E75-A3AF-138C0E8D5AA1}"/>
              </a:ext>
            </a:extLst>
          </p:cNvPr>
          <p:cNvSpPr/>
          <p:nvPr/>
        </p:nvSpPr>
        <p:spPr bwMode="auto">
          <a:xfrm>
            <a:off x="2987040" y="7620"/>
            <a:ext cx="457200" cy="640080"/>
          </a:xfrm>
          <a:prstGeom prst="rect">
            <a:avLst/>
          </a:prstGeom>
          <a:solidFill>
            <a:srgbClr val="2E74B5"/>
          </a:solidFill>
          <a:ln>
            <a:solidFill>
              <a:srgbClr val="2E74B5">
                <a:alpha val="96000"/>
              </a:srgb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98627758" name="Rechteck 1498627757">
            <a:extLst>
              <a:ext uri="{FF2B5EF4-FFF2-40B4-BE49-F238E27FC236}">
                <a16:creationId xmlns:a16="http://schemas.microsoft.com/office/drawing/2014/main" id="{1669C589-34BD-5244-E5A1-D6231CC0EC7B}"/>
              </a:ext>
            </a:extLst>
          </p:cNvPr>
          <p:cNvSpPr/>
          <p:nvPr/>
        </p:nvSpPr>
        <p:spPr bwMode="auto">
          <a:xfrm>
            <a:off x="813435" y="0"/>
            <a:ext cx="1626870" cy="194310"/>
          </a:xfrm>
          <a:prstGeom prst="rect">
            <a:avLst/>
          </a:prstGeom>
          <a:solidFill>
            <a:srgbClr val="2E74B5"/>
          </a:solidFill>
          <a:ln>
            <a:solidFill>
              <a:srgbClr val="2E74B5">
                <a:alpha val="96000"/>
              </a:srgb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98627760" name="Rechteck 1498627759">
            <a:extLst>
              <a:ext uri="{FF2B5EF4-FFF2-40B4-BE49-F238E27FC236}">
                <a16:creationId xmlns:a16="http://schemas.microsoft.com/office/drawing/2014/main" id="{07C2FE0E-1C92-D523-A3C4-5A4E041D9872}"/>
              </a:ext>
            </a:extLst>
          </p:cNvPr>
          <p:cNvSpPr/>
          <p:nvPr/>
        </p:nvSpPr>
        <p:spPr bwMode="auto">
          <a:xfrm>
            <a:off x="8096250" y="4198620"/>
            <a:ext cx="457200" cy="640080"/>
          </a:xfrm>
          <a:prstGeom prst="rect">
            <a:avLst/>
          </a:prstGeom>
          <a:solidFill>
            <a:srgbClr val="2E74B5"/>
          </a:solidFill>
          <a:ln>
            <a:solidFill>
              <a:srgbClr val="2E74B5">
                <a:alpha val="96000"/>
              </a:srgbClr>
            </a:solidFill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63D9951B-D2D1-6BB1-727F-DAF9BC63D8C5}"/>
              </a:ext>
            </a:extLst>
          </p:cNvPr>
          <p:cNvSpPr/>
          <p:nvPr/>
        </p:nvSpPr>
        <p:spPr bwMode="auto">
          <a:xfrm>
            <a:off x="6911340" y="3436620"/>
            <a:ext cx="457200" cy="1706880"/>
          </a:xfrm>
          <a:prstGeom prst="rect">
            <a:avLst/>
          </a:prstGeom>
          <a:solidFill>
            <a:srgbClr val="2E74B5"/>
          </a:solidFill>
          <a:ln>
            <a:solidFill>
              <a:srgbClr val="2E74B5">
                <a:alpha val="96000"/>
              </a:srgbClr>
            </a:solidFill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660C9A5F-495F-3D47-E2A1-188CF7722938}"/>
              </a:ext>
            </a:extLst>
          </p:cNvPr>
          <p:cNvSpPr/>
          <p:nvPr/>
        </p:nvSpPr>
        <p:spPr bwMode="auto">
          <a:xfrm>
            <a:off x="7368540" y="3436620"/>
            <a:ext cx="1775460" cy="403860"/>
          </a:xfrm>
          <a:prstGeom prst="rect">
            <a:avLst/>
          </a:prstGeom>
          <a:solidFill>
            <a:srgbClr val="2E74B5"/>
          </a:solidFill>
          <a:ln>
            <a:solidFill>
              <a:srgbClr val="2E74B5">
                <a:alpha val="96000"/>
              </a:srgbClr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900001" name="Zeitstrahl Linie"/>
          <p:cNvCxnSpPr/>
          <p:nvPr/>
        </p:nvCxnSpPr>
        <p:spPr>
          <a:xfrm>
            <a:off x="502920" y="4688580"/>
            <a:ext cx="8138160" cy="0"/>
          </a:xfrm>
          <a:prstGeom prst="line">
            <a:avLst/>
          </a:prstGeom>
          <a:ln w="9525">
            <a:solidFill>
              <a:srgbClr val="FFFFFF">
                <a:alpha val="3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0002" name="Zeitstrahl Punkt 1"/>
          <p:cNvSpPr/>
          <p:nvPr/>
        </p:nvSpPr>
        <p:spPr bwMode="auto">
          <a:xfrm>
            <a:off x="434340" y="4620000"/>
            <a:ext cx="137160" cy="1371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00003" name="Zeitstrahl Punkt 2"/>
          <p:cNvSpPr/>
          <p:nvPr/>
        </p:nvSpPr>
        <p:spPr bwMode="auto">
          <a:xfrm>
            <a:off x="1619794" y="4642860"/>
            <a:ext cx="91440" cy="91440"/>
          </a:xfrm>
          <a:prstGeom prst="ellipse">
            <a:avLst/>
          </a:prstGeom>
          <a:solidFill>
            <a:srgbClr val="FFFFFF">
              <a:alpha val="25000"/>
            </a:srgbClr>
          </a:solidFill>
          <a:ln w="9525">
            <a:solidFill>
              <a:srgbClr val="FFFFFF">
                <a:alpha val="45000"/>
              </a:srgbClr>
            </a:solidFill>
          </a:ln>
        </p:spPr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00004" name="Zeitstrahl Punkt 3"/>
          <p:cNvSpPr/>
          <p:nvPr/>
        </p:nvSpPr>
        <p:spPr bwMode="auto">
          <a:xfrm>
            <a:off x="2782389" y="4642860"/>
            <a:ext cx="91440" cy="91440"/>
          </a:xfrm>
          <a:prstGeom prst="ellipse">
            <a:avLst/>
          </a:prstGeom>
          <a:solidFill>
            <a:srgbClr val="FFFFFF">
              <a:alpha val="25000"/>
            </a:srgbClr>
          </a:solidFill>
          <a:ln w="9525">
            <a:solidFill>
              <a:srgbClr val="FFFFFF">
                <a:alpha val="45000"/>
              </a:srgbClr>
            </a:solidFill>
          </a:ln>
        </p:spPr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00005" name="Zeitstrahl Punkt 4"/>
          <p:cNvSpPr/>
          <p:nvPr/>
        </p:nvSpPr>
        <p:spPr bwMode="auto">
          <a:xfrm>
            <a:off x="3944983" y="4642860"/>
            <a:ext cx="91440" cy="91440"/>
          </a:xfrm>
          <a:prstGeom prst="ellipse">
            <a:avLst/>
          </a:prstGeom>
          <a:solidFill>
            <a:srgbClr val="FFFFFF">
              <a:alpha val="25000"/>
            </a:srgbClr>
          </a:solidFill>
          <a:ln w="9525">
            <a:solidFill>
              <a:srgbClr val="FFFFFF">
                <a:alpha val="45000"/>
              </a:srgbClr>
            </a:solidFill>
          </a:ln>
        </p:spPr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00006" name="Zeitstrahl Punkt 5"/>
          <p:cNvSpPr/>
          <p:nvPr/>
        </p:nvSpPr>
        <p:spPr bwMode="auto">
          <a:xfrm>
            <a:off x="5107577" y="4642860"/>
            <a:ext cx="91440" cy="91440"/>
          </a:xfrm>
          <a:prstGeom prst="ellipse">
            <a:avLst/>
          </a:prstGeom>
          <a:solidFill>
            <a:srgbClr val="FFFFFF">
              <a:alpha val="25000"/>
            </a:srgbClr>
          </a:solidFill>
          <a:ln w="9525">
            <a:solidFill>
              <a:srgbClr val="FFFFFF">
                <a:alpha val="45000"/>
              </a:srgbClr>
            </a:solidFill>
          </a:ln>
        </p:spPr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00007" name="Zeitstrahl Punkt 6"/>
          <p:cNvSpPr/>
          <p:nvPr/>
        </p:nvSpPr>
        <p:spPr bwMode="auto">
          <a:xfrm>
            <a:off x="6270171" y="4642860"/>
            <a:ext cx="91440" cy="91440"/>
          </a:xfrm>
          <a:prstGeom prst="ellipse">
            <a:avLst/>
          </a:prstGeom>
          <a:solidFill>
            <a:srgbClr val="FFFFFF">
              <a:alpha val="25000"/>
            </a:srgbClr>
          </a:solidFill>
          <a:ln w="9525">
            <a:solidFill>
              <a:srgbClr val="FFFFFF">
                <a:alpha val="45000"/>
              </a:srgbClr>
            </a:solidFill>
          </a:ln>
        </p:spPr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00008" name="Zeitstrahl Punkt 7"/>
          <p:cNvSpPr/>
          <p:nvPr/>
        </p:nvSpPr>
        <p:spPr bwMode="auto">
          <a:xfrm>
            <a:off x="7432766" y="4642860"/>
            <a:ext cx="91440" cy="91440"/>
          </a:xfrm>
          <a:prstGeom prst="ellipse">
            <a:avLst/>
          </a:prstGeom>
          <a:solidFill>
            <a:srgbClr val="FFFFFF">
              <a:alpha val="25000"/>
            </a:srgbClr>
          </a:solidFill>
          <a:ln w="9525">
            <a:solidFill>
              <a:srgbClr val="FFFFFF">
                <a:alpha val="45000"/>
              </a:srgbClr>
            </a:solidFill>
          </a:ln>
        </p:spPr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00009" name="Zeitstrahl Punkt 8"/>
          <p:cNvSpPr/>
          <p:nvPr/>
        </p:nvSpPr>
        <p:spPr bwMode="auto">
          <a:xfrm>
            <a:off x="8595360" y="4642860"/>
            <a:ext cx="91440" cy="91440"/>
          </a:xfrm>
          <a:prstGeom prst="ellipse">
            <a:avLst/>
          </a:prstGeom>
          <a:solidFill>
            <a:srgbClr val="FFFFFF">
              <a:alpha val="25000"/>
            </a:srgbClr>
          </a:solidFill>
          <a:ln w="9525">
            <a:solidFill>
              <a:srgbClr val="FFFFFF">
                <a:alpha val="45000"/>
              </a:srgbClr>
            </a:solidFill>
          </a:ln>
        </p:spPr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00050" name="Seitenzahl"/>
          <p:cNvSpPr/>
          <p:nvPr/>
        </p:nvSpPr>
        <p:spPr bwMode="auto">
          <a:xfrm>
            <a:off x="8250000" y="4970000"/>
            <a:ext cx="750000" cy="1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de-DE" sz="900" dirty="0">
                <a:solidFill>
                  <a:srgbClr val="FFFFFF">
                    <a:alpha val="55000"/>
                  </a:srgbClr>
                </a:solidFill>
                <a:latin typeface="Calibri"/>
                <a:ea typeface="Calibri"/>
                <a:cs typeface="Calibri"/>
              </a:rPr>
              <a:t>11 von 28</a:t>
            </a:r>
            <a:endParaRPr lang="de-DE" sz="9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1888308" name="!!Text 0"/>
          <p:cNvSpPr/>
          <p:nvPr/>
        </p:nvSpPr>
        <p:spPr bwMode="auto">
          <a:xfrm>
            <a:off x="411480" y="201168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2600" b="1" dirty="0" err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Ausgangssituation</a:t>
            </a:r>
            <a:r>
              <a:rPr lang="en-US" sz="2600" b="1" dirty="0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 xml:space="preserve"> </a:t>
            </a:r>
            <a:r>
              <a:rPr lang="en-US" sz="2600" b="1" dirty="0" err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bei</a:t>
            </a:r>
            <a:r>
              <a:rPr lang="en-US" sz="2600" b="1" dirty="0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 xml:space="preserve"> </a:t>
            </a:r>
            <a:r>
              <a:rPr lang="en-US" sz="2600" b="1" dirty="0" err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Bissantz</a:t>
            </a:r>
            <a:r>
              <a:rPr lang="en-US" sz="2600" b="1" dirty="0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 xml:space="preserve"> &amp; Company</a:t>
            </a:r>
            <a:endParaRPr lang="en-US" sz="2600" dirty="0"/>
          </a:p>
        </p:txBody>
      </p:sp>
      <p:sp>
        <p:nvSpPr>
          <p:cNvPr id="738687418" name="Shape 1"/>
          <p:cNvSpPr/>
          <p:nvPr/>
        </p:nvSpPr>
        <p:spPr bwMode="auto">
          <a:xfrm>
            <a:off x="411480" y="822960"/>
            <a:ext cx="8321039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66305465" name="Text 3"/>
          <p:cNvSpPr/>
          <p:nvPr/>
        </p:nvSpPr>
        <p:spPr bwMode="auto">
          <a:xfrm>
            <a:off x="411480" y="9601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Bissantz &amp; Company GmbH</a:t>
            </a:r>
            <a:endParaRPr lang="en-US" sz="1500"/>
          </a:p>
        </p:txBody>
      </p:sp>
      <p:sp>
        <p:nvSpPr>
          <p:cNvPr id="1188911920" name="Text 4"/>
          <p:cNvSpPr/>
          <p:nvPr/>
        </p:nvSpPr>
        <p:spPr bwMode="auto">
          <a:xfrm>
            <a:off x="411480" y="1371600"/>
            <a:ext cx="3931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  <a:defRPr/>
            </a:pPr>
            <a:r>
              <a:rPr lang="en-US" sz="1300" b="1">
                <a:solidFill>
                  <a:srgbClr val="2E74B5"/>
                </a:solidFill>
                <a:latin typeface="Calibri"/>
                <a:ea typeface="Calibri"/>
                <a:cs typeface="Calibri"/>
              </a:rPr>
              <a:t xml:space="preserve">▪ </a:t>
            </a:r>
            <a:r>
              <a:rPr lang="en-US" sz="13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BI-Software DeltaMaster</a:t>
            </a:r>
            <a:br>
              <a:rPr lang="en-US" sz="1300">
                <a:solidFill>
                  <a:srgbClr val="1E293B"/>
                </a:solidFill>
                <a:latin typeface="Calibri"/>
                <a:ea typeface="Calibri"/>
                <a:cs typeface="Calibri"/>
              </a:rPr>
            </a:br>
            <a:r>
              <a:rPr lang="en-US" sz="1300" b="1">
                <a:solidFill>
                  <a:srgbClr val="2E74B5"/>
                </a:solidFill>
                <a:latin typeface="Calibri"/>
                <a:ea typeface="Calibri"/>
                <a:cs typeface="Calibri"/>
              </a:rPr>
              <a:t xml:space="preserve">▪ </a:t>
            </a:r>
            <a:r>
              <a:rPr lang="en-US" sz="13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Standorte: Nürnberg, Hamburg, Schweiz</a:t>
            </a:r>
            <a:br>
              <a:rPr lang="en-US" sz="1300">
                <a:solidFill>
                  <a:srgbClr val="1E293B"/>
                </a:solidFill>
                <a:latin typeface="Calibri"/>
                <a:ea typeface="Calibri"/>
                <a:cs typeface="Calibri"/>
              </a:rPr>
            </a:br>
            <a:r>
              <a:rPr lang="en-US" sz="1300" b="1">
                <a:solidFill>
                  <a:srgbClr val="2E74B5"/>
                </a:solidFill>
                <a:latin typeface="Calibri"/>
                <a:ea typeface="Calibri"/>
                <a:cs typeface="Calibri"/>
              </a:rPr>
              <a:t xml:space="preserve">▪ </a:t>
            </a:r>
            <a:r>
              <a:rPr lang="en-US" sz="13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~100 Mitarbeitende</a:t>
            </a:r>
            <a:br>
              <a:rPr lang="en-US" sz="1300">
                <a:solidFill>
                  <a:srgbClr val="1E293B"/>
                </a:solidFill>
                <a:latin typeface="Calibri"/>
                <a:ea typeface="Calibri"/>
                <a:cs typeface="Calibri"/>
              </a:rPr>
            </a:br>
            <a:r>
              <a:rPr lang="en-US" sz="1300" b="1">
                <a:solidFill>
                  <a:srgbClr val="2E74B5"/>
                </a:solidFill>
                <a:latin typeface="Calibri"/>
                <a:ea typeface="Calibri"/>
                <a:cs typeface="Calibri"/>
              </a:rPr>
              <a:t xml:space="preserve">▪ </a:t>
            </a:r>
            <a:r>
              <a:rPr lang="en-US" sz="13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Kunden: Bosch, Porsche, Leica, Würth</a:t>
            </a:r>
            <a:endParaRPr lang="en-US" sz="1300"/>
          </a:p>
        </p:txBody>
      </p:sp>
      <p:sp>
        <p:nvSpPr>
          <p:cNvPr id="1850133411" name="Text 5"/>
          <p:cNvSpPr/>
          <p:nvPr/>
        </p:nvSpPr>
        <p:spPr bwMode="auto">
          <a:xfrm>
            <a:off x="411480" y="28346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Probleme mit PRTG (kostenlos)</a:t>
            </a:r>
            <a:endParaRPr lang="en-US" sz="1500"/>
          </a:p>
        </p:txBody>
      </p:sp>
      <p:sp>
        <p:nvSpPr>
          <p:cNvPr id="1599779526" name="Shape 6"/>
          <p:cNvSpPr/>
          <p:nvPr/>
        </p:nvSpPr>
        <p:spPr bwMode="auto">
          <a:xfrm>
            <a:off x="411480" y="3291840"/>
            <a:ext cx="3931920" cy="457200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1496053002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48640" y="3355848"/>
            <a:ext cx="292608" cy="292608"/>
          </a:xfrm>
          <a:prstGeom prst="rect">
            <a:avLst/>
          </a:prstGeom>
        </p:spPr>
      </p:pic>
      <p:sp>
        <p:nvSpPr>
          <p:cNvPr id="2052574400" name="Text 7"/>
          <p:cNvSpPr/>
          <p:nvPr/>
        </p:nvSpPr>
        <p:spPr bwMode="auto">
          <a:xfrm>
            <a:off x="960120" y="33375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D97706"/>
                </a:solidFill>
                <a:latin typeface="Calibri"/>
                <a:ea typeface="Calibri"/>
                <a:cs typeface="Calibri"/>
              </a:rPr>
              <a:t>100 Sensor-Limit</a:t>
            </a:r>
            <a:endParaRPr lang="en-US" sz="1200"/>
          </a:p>
        </p:txBody>
      </p:sp>
      <p:sp>
        <p:nvSpPr>
          <p:cNvPr id="1846717344" name="Text 8"/>
          <p:cNvSpPr/>
          <p:nvPr/>
        </p:nvSpPr>
        <p:spPr bwMode="auto">
          <a:xfrm>
            <a:off x="2286000" y="33375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Grenze wird mit wachsender Infrastruktur absehbar erreicht</a:t>
            </a:r>
            <a:endParaRPr lang="en-US" sz="1100"/>
          </a:p>
        </p:txBody>
      </p:sp>
      <p:sp>
        <p:nvSpPr>
          <p:cNvPr id="276940611" name="Shape 9"/>
          <p:cNvSpPr/>
          <p:nvPr/>
        </p:nvSpPr>
        <p:spPr bwMode="auto">
          <a:xfrm>
            <a:off x="411480" y="3840480"/>
            <a:ext cx="3931920" cy="457200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193802121" name="Image 1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48640" y="3904488"/>
            <a:ext cx="292608" cy="292608"/>
          </a:xfrm>
          <a:prstGeom prst="rect">
            <a:avLst/>
          </a:prstGeom>
        </p:spPr>
      </p:pic>
      <p:sp>
        <p:nvSpPr>
          <p:cNvPr id="1516464048" name="Text 10"/>
          <p:cNvSpPr/>
          <p:nvPr/>
        </p:nvSpPr>
        <p:spPr bwMode="auto">
          <a:xfrm>
            <a:off x="960120" y="38862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D97706"/>
                </a:solidFill>
                <a:latin typeface="Calibri"/>
                <a:ea typeface="Calibri"/>
                <a:cs typeface="Calibri"/>
              </a:rPr>
              <a:t>Unflexible Dashboards</a:t>
            </a:r>
            <a:endParaRPr lang="en-US" sz="1200"/>
          </a:p>
        </p:txBody>
      </p:sp>
      <p:sp>
        <p:nvSpPr>
          <p:cNvPr id="2073709880" name="Text 11"/>
          <p:cNvSpPr/>
          <p:nvPr/>
        </p:nvSpPr>
        <p:spPr bwMode="auto">
          <a:xfrm>
            <a:off x="2286000" y="38862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Alle Geräte in einer langen Liste – kein individuelles Layout</a:t>
            </a:r>
            <a:endParaRPr lang="en-US" sz="1100"/>
          </a:p>
        </p:txBody>
      </p:sp>
      <p:sp>
        <p:nvSpPr>
          <p:cNvPr id="1115381195" name="Shape 12"/>
          <p:cNvSpPr/>
          <p:nvPr/>
        </p:nvSpPr>
        <p:spPr bwMode="auto">
          <a:xfrm>
            <a:off x="411480" y="4389120"/>
            <a:ext cx="3931920" cy="457200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1690282771" name="Image 2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48640" y="4453128"/>
            <a:ext cx="292608" cy="292608"/>
          </a:xfrm>
          <a:prstGeom prst="rect">
            <a:avLst/>
          </a:prstGeom>
        </p:spPr>
      </p:pic>
      <p:sp>
        <p:nvSpPr>
          <p:cNvPr id="1000692971" name="Text 13"/>
          <p:cNvSpPr/>
          <p:nvPr/>
        </p:nvSpPr>
        <p:spPr bwMode="auto">
          <a:xfrm>
            <a:off x="960120" y="44348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D97706"/>
                </a:solidFill>
                <a:latin typeface="Calibri"/>
                <a:ea typeface="Calibri"/>
                <a:cs typeface="Calibri"/>
              </a:rPr>
              <a:t>Lizenzkosten</a:t>
            </a:r>
            <a:endParaRPr lang="en-US" sz="1200"/>
          </a:p>
        </p:txBody>
      </p:sp>
      <p:sp>
        <p:nvSpPr>
          <p:cNvPr id="1919364312" name="Text 14"/>
          <p:cNvSpPr/>
          <p:nvPr/>
        </p:nvSpPr>
        <p:spPr bwMode="auto">
          <a:xfrm>
            <a:off x="2286000" y="44348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Erweiterung auf mehr Sensoren: mehrere Tausend € / Jahr</a:t>
            </a:r>
            <a:endParaRPr lang="en-US" sz="1100"/>
          </a:p>
        </p:txBody>
      </p:sp>
      <p:sp>
        <p:nvSpPr>
          <p:cNvPr id="1584684426" name="Shape 15"/>
          <p:cNvSpPr/>
          <p:nvPr/>
        </p:nvSpPr>
        <p:spPr bwMode="auto">
          <a:xfrm>
            <a:off x="4754880" y="914400"/>
            <a:ext cx="1920240" cy="11887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25466324" name="Text 16"/>
          <p:cNvSpPr/>
          <p:nvPr/>
        </p:nvSpPr>
        <p:spPr bwMode="auto">
          <a:xfrm>
            <a:off x="4754880" y="1051560"/>
            <a:ext cx="192024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  <a:defRPr/>
            </a:pPr>
            <a:r>
              <a:rPr lang="en-US" sz="3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100</a:t>
            </a:r>
            <a:endParaRPr lang="en-US" sz="3600"/>
          </a:p>
        </p:txBody>
      </p:sp>
      <p:sp>
        <p:nvSpPr>
          <p:cNvPr id="857464497" name="Text 17"/>
          <p:cNvSpPr/>
          <p:nvPr/>
        </p:nvSpPr>
        <p:spPr bwMode="auto">
          <a:xfrm>
            <a:off x="4754880" y="1651406"/>
            <a:ext cx="192024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Sensor-Limit (kostenlos)</a:t>
            </a:r>
            <a:endParaRPr lang="en-US" sz="1200"/>
          </a:p>
        </p:txBody>
      </p:sp>
      <p:sp>
        <p:nvSpPr>
          <p:cNvPr id="907514919" name="Shape 18"/>
          <p:cNvSpPr/>
          <p:nvPr/>
        </p:nvSpPr>
        <p:spPr bwMode="auto">
          <a:xfrm>
            <a:off x="6812280" y="914400"/>
            <a:ext cx="1920240" cy="11887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72368189" name="Text 19"/>
          <p:cNvSpPr/>
          <p:nvPr/>
        </p:nvSpPr>
        <p:spPr bwMode="auto">
          <a:xfrm>
            <a:off x="6812280" y="1051560"/>
            <a:ext cx="192024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  <a:defRPr/>
            </a:pPr>
            <a:r>
              <a:rPr lang="en-US" sz="3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5+</a:t>
            </a:r>
            <a:endParaRPr lang="en-US" sz="3600"/>
          </a:p>
        </p:txBody>
      </p:sp>
      <p:sp>
        <p:nvSpPr>
          <p:cNvPr id="977488763" name="Text 20"/>
          <p:cNvSpPr/>
          <p:nvPr/>
        </p:nvSpPr>
        <p:spPr bwMode="auto">
          <a:xfrm>
            <a:off x="6812280" y="1651406"/>
            <a:ext cx="192024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Systeme zu überwachen</a:t>
            </a:r>
            <a:endParaRPr lang="en-US" sz="1200"/>
          </a:p>
        </p:txBody>
      </p:sp>
      <p:sp>
        <p:nvSpPr>
          <p:cNvPr id="560082008" name="Shape 21"/>
          <p:cNvSpPr/>
          <p:nvPr/>
        </p:nvSpPr>
        <p:spPr bwMode="auto">
          <a:xfrm>
            <a:off x="4754880" y="2240280"/>
            <a:ext cx="3977640" cy="1188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96639340" name="Text 22"/>
          <p:cNvSpPr/>
          <p:nvPr/>
        </p:nvSpPr>
        <p:spPr bwMode="auto">
          <a:xfrm>
            <a:off x="4754880" y="2377440"/>
            <a:ext cx="397764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  <a:defRPr/>
            </a:pPr>
            <a:r>
              <a:rPr lang="en-US" sz="3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mehrere T€</a:t>
            </a:r>
            <a:endParaRPr lang="en-US" sz="3600"/>
          </a:p>
        </p:txBody>
      </p:sp>
      <p:sp>
        <p:nvSpPr>
          <p:cNvPr id="184173501" name="Text 23"/>
          <p:cNvSpPr/>
          <p:nvPr/>
        </p:nvSpPr>
        <p:spPr bwMode="auto">
          <a:xfrm>
            <a:off x="4754880" y="2977286"/>
            <a:ext cx="397764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Lizenzkosten p.a. für unbegrenzte Sensoren</a:t>
            </a:r>
            <a:endParaRPr lang="en-US" sz="1200"/>
          </a:p>
        </p:txBody>
      </p:sp>
      <p:sp>
        <p:nvSpPr>
          <p:cNvPr id="955833805" name="Text 24"/>
          <p:cNvSpPr/>
          <p:nvPr/>
        </p:nvSpPr>
        <p:spPr bwMode="auto">
          <a:xfrm>
            <a:off x="4663440" y="3611880"/>
            <a:ext cx="4069080" cy="548640"/>
          </a:xfrm>
          <a:prstGeom prst="rect">
            <a:avLst/>
          </a:prstGeom>
          <a:solidFill>
            <a:srgbClr val="D6E4F0"/>
          </a:solidFill>
          <a:ln/>
        </p:spPr>
        <p:txBody>
          <a:bodyPr wrap="square" lIns="101600" tIns="152400" rIns="152400" bIns="10160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→  Ziel: Kostenfreie, skalierbare Alternative evaluieren</a:t>
            </a:r>
            <a:endParaRPr lang="en-US" sz="1400"/>
          </a:p>
        </p:txBody>
      </p:sp>
      <p:sp>
        <p:nvSpPr>
          <p:cNvPr id="900050" name="Seitenzahl"/>
          <p:cNvSpPr/>
          <p:nvPr/>
        </p:nvSpPr>
        <p:spPr bwMode="auto">
          <a:xfrm>
            <a:off x="8250000" y="4970000"/>
            <a:ext cx="750000" cy="1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de-DE" sz="900" dirty="0">
                <a:solidFill>
                  <a:srgbClr val="5A8AB0"/>
                </a:solidFill>
                <a:latin typeface="Calibri"/>
                <a:ea typeface="Calibri"/>
                <a:cs typeface="Calibri"/>
              </a:rPr>
              <a:t>12 von 28</a:t>
            </a:r>
            <a:endParaRPr lang="de-DE" sz="9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rgbClr val="1F4E7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97A71C-7D3D-D316-55FC-68BE7CBB2AB3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2102927" name="Shape 0">
            <a:extLst>
              <a:ext uri="{FF2B5EF4-FFF2-40B4-BE49-F238E27FC236}">
                <a16:creationId xmlns:a16="http://schemas.microsoft.com/office/drawing/2014/main" id="{8940BB90-EE6F-CFB0-E276-F61C9CAB041F}"/>
              </a:ext>
            </a:extLst>
          </p:cNvPr>
          <p:cNvSpPr/>
          <p:nvPr/>
        </p:nvSpPr>
        <p:spPr bwMode="auto">
          <a:xfrm>
            <a:off x="0" y="0"/>
            <a:ext cx="228600" cy="5143500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99976351" name="Text 1">
            <a:extLst>
              <a:ext uri="{FF2B5EF4-FFF2-40B4-BE49-F238E27FC236}">
                <a16:creationId xmlns:a16="http://schemas.microsoft.com/office/drawing/2014/main" id="{24D9CBA4-B8E9-DDF8-5A6A-A7C793BFBCDA}"/>
              </a:ext>
            </a:extLst>
          </p:cNvPr>
          <p:cNvSpPr/>
          <p:nvPr/>
        </p:nvSpPr>
        <p:spPr bwMode="auto">
          <a:xfrm>
            <a:off x="50292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7200" b="1" dirty="0">
                <a:solidFill>
                  <a:srgbClr val="2E74B5"/>
                </a:soli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  <a:latin typeface="Calibri"/>
                <a:ea typeface="Calibri"/>
                <a:cs typeface="Calibri"/>
              </a:rPr>
              <a:t>02</a:t>
            </a:r>
            <a:endParaRPr lang="en-US" sz="7200" dirty="0">
              <a:effectLst>
                <a:outerShdw blurRad="50800" dist="38100" dir="16200000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2" name="Ellipse 1">
            <a:extLst>
              <a:ext uri="{FF2B5EF4-FFF2-40B4-BE49-F238E27FC236}">
                <a16:creationId xmlns:a16="http://schemas.microsoft.com/office/drawing/2014/main" id="{E31C868B-481E-5778-1165-D77492C06430}"/>
              </a:ext>
            </a:extLst>
          </p:cNvPr>
          <p:cNvSpPr/>
          <p:nvPr/>
        </p:nvSpPr>
        <p:spPr>
          <a:xfrm>
            <a:off x="6271260" y="773430"/>
            <a:ext cx="2369820" cy="3608070"/>
          </a:xfrm>
          <a:prstGeom prst="ellipse">
            <a:avLst/>
          </a:prstGeom>
          <a:solidFill>
            <a:schemeClr val="bg1"/>
          </a:solidFill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6B9E0176-D286-3177-D89C-4F4FD6AA2040}"/>
              </a:ext>
            </a:extLst>
          </p:cNvPr>
          <p:cNvSpPr/>
          <p:nvPr/>
        </p:nvSpPr>
        <p:spPr bwMode="auto">
          <a:xfrm>
            <a:off x="6537960" y="1122045"/>
            <a:ext cx="1729740" cy="289941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0427994B-3169-865E-A748-667CF749531F}"/>
              </a:ext>
            </a:extLst>
          </p:cNvPr>
          <p:cNvSpPr/>
          <p:nvPr/>
        </p:nvSpPr>
        <p:spPr bwMode="auto">
          <a:xfrm>
            <a:off x="6789420" y="1509713"/>
            <a:ext cx="1165860" cy="205644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BEADC0C9-C428-5B3E-C9B4-F9643242D1CF}"/>
              </a:ext>
            </a:extLst>
          </p:cNvPr>
          <p:cNvSpPr/>
          <p:nvPr/>
        </p:nvSpPr>
        <p:spPr bwMode="auto">
          <a:xfrm>
            <a:off x="7048500" y="1939766"/>
            <a:ext cx="632460" cy="1263967"/>
          </a:xfrm>
          <a:prstGeom prst="ellipse">
            <a:avLst/>
          </a:prstGeom>
          <a:solidFill>
            <a:srgbClr val="EE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31B71199-E98A-DE17-FCA8-2A03BDEF5233}"/>
              </a:ext>
            </a:extLst>
          </p:cNvPr>
          <p:cNvSpPr/>
          <p:nvPr/>
        </p:nvSpPr>
        <p:spPr bwMode="auto">
          <a:xfrm>
            <a:off x="7239000" y="2325290"/>
            <a:ext cx="251460" cy="514827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" name="Pfeil: nach rechts 18">
            <a:extLst>
              <a:ext uri="{FF2B5EF4-FFF2-40B4-BE49-F238E27FC236}">
                <a16:creationId xmlns:a16="http://schemas.microsoft.com/office/drawing/2014/main" id="{9093C5C9-AD23-B010-1C5C-F25B97D92170}"/>
              </a:ext>
            </a:extLst>
          </p:cNvPr>
          <p:cNvSpPr/>
          <p:nvPr/>
        </p:nvSpPr>
        <p:spPr bwMode="auto">
          <a:xfrm rot="18580740">
            <a:off x="6258343" y="2874454"/>
            <a:ext cx="1329998" cy="449580"/>
          </a:xfrm>
          <a:prstGeom prst="rightArrow">
            <a:avLst>
              <a:gd name="adj1" fmla="val 17113"/>
              <a:gd name="adj2" fmla="val 24224"/>
            </a:avLst>
          </a:prstGeom>
          <a:solidFill>
            <a:schemeClr val="bg1">
              <a:lumMod val="75000"/>
              <a:alpha val="50000"/>
            </a:schemeClr>
          </a:solidFill>
          <a:ln>
            <a:solidFill>
              <a:srgbClr val="A6A6A6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grpSp>
        <p:nvGrpSpPr>
          <p:cNvPr id="20" name="Gruppieren 19">
            <a:extLst>
              <a:ext uri="{FF2B5EF4-FFF2-40B4-BE49-F238E27FC236}">
                <a16:creationId xmlns:a16="http://schemas.microsoft.com/office/drawing/2014/main" id="{9C46E1FD-7670-141B-E3D5-509E9EDCE147}"/>
              </a:ext>
            </a:extLst>
          </p:cNvPr>
          <p:cNvGrpSpPr/>
          <p:nvPr/>
        </p:nvGrpSpPr>
        <p:grpSpPr>
          <a:xfrm>
            <a:off x="3916680" y="1868090"/>
            <a:ext cx="3448050" cy="949405"/>
            <a:chOff x="3916680" y="1868090"/>
            <a:chExt cx="3448050" cy="949405"/>
          </a:xfrm>
        </p:grpSpPr>
        <p:sp>
          <p:nvSpPr>
            <p:cNvPr id="56929695" name="Text 2">
              <a:extLst>
                <a:ext uri="{FF2B5EF4-FFF2-40B4-BE49-F238E27FC236}">
                  <a16:creationId xmlns:a16="http://schemas.microsoft.com/office/drawing/2014/main" id="{DC6D0DDF-EED4-BAA3-7544-9D81156E34BA}"/>
                </a:ext>
              </a:extLst>
            </p:cNvPr>
            <p:cNvSpPr/>
            <p:nvPr/>
          </p:nvSpPr>
          <p:spPr bwMode="auto">
            <a:xfrm>
              <a:off x="3916680" y="1868090"/>
              <a:ext cx="2164080" cy="9144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  <a:defRPr/>
              </a:pPr>
              <a:r>
                <a:rPr lang="en-US" sz="3200" b="1" dirty="0">
                  <a:solidFill>
                    <a:srgbClr val="FFFFFF"/>
                  </a:solidFill>
                  <a:effectLst>
                    <a:outerShdw blurRad="50800" dist="38100" dir="16200000" rotWithShape="0">
                      <a:prstClr val="black">
                        <a:alpha val="40000"/>
                      </a:prstClr>
                    </a:outerShdw>
                  </a:effectLst>
                  <a:latin typeface="Calibri"/>
                  <a:ea typeface="Calibri"/>
                  <a:cs typeface="Calibri"/>
                </a:rPr>
                <a:t>Projektziel</a:t>
              </a:r>
              <a:endParaRPr lang="en-US" sz="3200" dirty="0"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endParaRPr>
            </a:p>
          </p:txBody>
        </p:sp>
        <p:sp>
          <p:nvSpPr>
            <p:cNvPr id="15" name="Pfeil: nach rechts 14">
              <a:extLst>
                <a:ext uri="{FF2B5EF4-FFF2-40B4-BE49-F238E27FC236}">
                  <a16:creationId xmlns:a16="http://schemas.microsoft.com/office/drawing/2014/main" id="{7F96A45F-B104-92BA-2504-8FC95F48F0EC}"/>
                </a:ext>
              </a:extLst>
            </p:cNvPr>
            <p:cNvSpPr/>
            <p:nvPr/>
          </p:nvSpPr>
          <p:spPr>
            <a:xfrm>
              <a:off x="3966210" y="2367915"/>
              <a:ext cx="3398520" cy="449580"/>
            </a:xfrm>
            <a:prstGeom prst="rightArrow">
              <a:avLst>
                <a:gd name="adj1" fmla="val 17113"/>
                <a:gd name="adj2" fmla="val 24224"/>
              </a:avLst>
            </a:prstGeom>
            <a:solidFill>
              <a:srgbClr val="2E74B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</p:grpSp>
      <p:cxnSp>
        <p:nvCxnSpPr>
          <p:cNvPr id="900001" name="Zeitstrahl Linie"/>
          <p:cNvCxnSpPr/>
          <p:nvPr/>
        </p:nvCxnSpPr>
        <p:spPr>
          <a:xfrm>
            <a:off x="502920" y="4688580"/>
            <a:ext cx="8138160" cy="0"/>
          </a:xfrm>
          <a:prstGeom prst="line">
            <a:avLst/>
          </a:prstGeom>
          <a:ln w="9525">
            <a:solidFill>
              <a:srgbClr val="FFFFFF">
                <a:alpha val="3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0002" name="Zeitstrahl Punkt 1"/>
          <p:cNvSpPr/>
          <p:nvPr/>
        </p:nvSpPr>
        <p:spPr bwMode="auto">
          <a:xfrm>
            <a:off x="457200" y="4642860"/>
            <a:ext cx="91440" cy="91440"/>
          </a:xfrm>
          <a:prstGeom prst="ellipse">
            <a:avLst/>
          </a:prstGeom>
          <a:solidFill>
            <a:srgbClr val="FFFFFF">
              <a:alpha val="25000"/>
            </a:srgbClr>
          </a:solidFill>
          <a:ln w="9525">
            <a:solidFill>
              <a:srgbClr val="FFFFFF">
                <a:alpha val="45000"/>
              </a:srgbClr>
            </a:solidFill>
          </a:ln>
        </p:spPr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00003" name="Zeitstrahl Punkt 2"/>
          <p:cNvSpPr/>
          <p:nvPr/>
        </p:nvSpPr>
        <p:spPr bwMode="auto">
          <a:xfrm>
            <a:off x="1596934" y="4620000"/>
            <a:ext cx="137160" cy="1371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00004" name="Zeitstrahl Punkt 3"/>
          <p:cNvSpPr/>
          <p:nvPr/>
        </p:nvSpPr>
        <p:spPr bwMode="auto">
          <a:xfrm>
            <a:off x="2782389" y="4642860"/>
            <a:ext cx="91440" cy="91440"/>
          </a:xfrm>
          <a:prstGeom prst="ellipse">
            <a:avLst/>
          </a:prstGeom>
          <a:solidFill>
            <a:srgbClr val="FFFFFF">
              <a:alpha val="25000"/>
            </a:srgbClr>
          </a:solidFill>
          <a:ln w="9525">
            <a:solidFill>
              <a:srgbClr val="FFFFFF">
                <a:alpha val="45000"/>
              </a:srgbClr>
            </a:solidFill>
          </a:ln>
        </p:spPr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00005" name="Zeitstrahl Punkt 4"/>
          <p:cNvSpPr/>
          <p:nvPr/>
        </p:nvSpPr>
        <p:spPr bwMode="auto">
          <a:xfrm>
            <a:off x="3944983" y="4642860"/>
            <a:ext cx="91440" cy="91440"/>
          </a:xfrm>
          <a:prstGeom prst="ellipse">
            <a:avLst/>
          </a:prstGeom>
          <a:solidFill>
            <a:srgbClr val="FFFFFF">
              <a:alpha val="25000"/>
            </a:srgbClr>
          </a:solidFill>
          <a:ln w="9525">
            <a:solidFill>
              <a:srgbClr val="FFFFFF">
                <a:alpha val="45000"/>
              </a:srgbClr>
            </a:solidFill>
          </a:ln>
        </p:spPr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00006" name="Zeitstrahl Punkt 5"/>
          <p:cNvSpPr/>
          <p:nvPr/>
        </p:nvSpPr>
        <p:spPr bwMode="auto">
          <a:xfrm>
            <a:off x="5107577" y="4642860"/>
            <a:ext cx="91440" cy="91440"/>
          </a:xfrm>
          <a:prstGeom prst="ellipse">
            <a:avLst/>
          </a:prstGeom>
          <a:solidFill>
            <a:srgbClr val="FFFFFF">
              <a:alpha val="25000"/>
            </a:srgbClr>
          </a:solidFill>
          <a:ln w="9525">
            <a:solidFill>
              <a:srgbClr val="FFFFFF">
                <a:alpha val="45000"/>
              </a:srgbClr>
            </a:solidFill>
          </a:ln>
        </p:spPr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00007" name="Zeitstrahl Punkt 6"/>
          <p:cNvSpPr/>
          <p:nvPr/>
        </p:nvSpPr>
        <p:spPr bwMode="auto">
          <a:xfrm>
            <a:off x="6270171" y="4642860"/>
            <a:ext cx="91440" cy="91440"/>
          </a:xfrm>
          <a:prstGeom prst="ellipse">
            <a:avLst/>
          </a:prstGeom>
          <a:solidFill>
            <a:srgbClr val="FFFFFF">
              <a:alpha val="25000"/>
            </a:srgbClr>
          </a:solidFill>
          <a:ln w="9525">
            <a:solidFill>
              <a:srgbClr val="FFFFFF">
                <a:alpha val="45000"/>
              </a:srgbClr>
            </a:solidFill>
          </a:ln>
        </p:spPr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00008" name="Zeitstrahl Punkt 7"/>
          <p:cNvSpPr/>
          <p:nvPr/>
        </p:nvSpPr>
        <p:spPr bwMode="auto">
          <a:xfrm>
            <a:off x="7432766" y="4642860"/>
            <a:ext cx="91440" cy="91440"/>
          </a:xfrm>
          <a:prstGeom prst="ellipse">
            <a:avLst/>
          </a:prstGeom>
          <a:solidFill>
            <a:srgbClr val="FFFFFF">
              <a:alpha val="25000"/>
            </a:srgbClr>
          </a:solidFill>
          <a:ln w="9525">
            <a:solidFill>
              <a:srgbClr val="FFFFFF">
                <a:alpha val="45000"/>
              </a:srgbClr>
            </a:solidFill>
          </a:ln>
        </p:spPr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00009" name="Zeitstrahl Punkt 8"/>
          <p:cNvSpPr/>
          <p:nvPr/>
        </p:nvSpPr>
        <p:spPr bwMode="auto">
          <a:xfrm>
            <a:off x="8595360" y="4642860"/>
            <a:ext cx="91440" cy="91440"/>
          </a:xfrm>
          <a:prstGeom prst="ellipse">
            <a:avLst/>
          </a:prstGeom>
          <a:solidFill>
            <a:srgbClr val="FFFFFF">
              <a:alpha val="25000"/>
            </a:srgbClr>
          </a:solidFill>
          <a:ln w="9525">
            <a:solidFill>
              <a:srgbClr val="FFFFFF">
                <a:alpha val="45000"/>
              </a:srgbClr>
            </a:solidFill>
          </a:ln>
        </p:spPr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00050" name="Seitenzahl"/>
          <p:cNvSpPr/>
          <p:nvPr/>
        </p:nvSpPr>
        <p:spPr bwMode="auto">
          <a:xfrm>
            <a:off x="8250000" y="4970000"/>
            <a:ext cx="750000" cy="1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de-DE" sz="900" dirty="0">
                <a:solidFill>
                  <a:srgbClr val="FFFFFF">
                    <a:alpha val="55000"/>
                  </a:srgbClr>
                </a:solidFill>
                <a:latin typeface="Calibri"/>
                <a:ea typeface="Calibri"/>
                <a:cs typeface="Calibri"/>
              </a:rPr>
              <a:t>13 von 28</a:t>
            </a:r>
            <a:endParaRPr lang="de-DE" sz="900"/>
          </a:p>
        </p:txBody>
      </p:sp>
    </p:spTree>
    <p:extLst>
      <p:ext uri="{BB962C8B-B14F-4D97-AF65-F5344CB8AC3E}">
        <p14:creationId xmlns:p14="http://schemas.microsoft.com/office/powerpoint/2010/main" val="17674190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 name="Slide 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8716581" name="Text 0"/>
          <p:cNvSpPr/>
          <p:nvPr/>
        </p:nvSpPr>
        <p:spPr bwMode="auto">
          <a:xfrm>
            <a:off x="411480" y="201168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2600" b="1" dirty="0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Projektziel</a:t>
            </a:r>
            <a:endParaRPr lang="en-US" sz="2600" dirty="0"/>
          </a:p>
        </p:txBody>
      </p:sp>
      <p:sp>
        <p:nvSpPr>
          <p:cNvPr id="1229888583" name="Shape 1"/>
          <p:cNvSpPr/>
          <p:nvPr/>
        </p:nvSpPr>
        <p:spPr bwMode="auto">
          <a:xfrm>
            <a:off x="411480" y="822960"/>
            <a:ext cx="8321039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56826145" name="Shape 3"/>
          <p:cNvSpPr/>
          <p:nvPr/>
        </p:nvSpPr>
        <p:spPr bwMode="auto">
          <a:xfrm>
            <a:off x="411480" y="960120"/>
            <a:ext cx="39776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832693626" name="Shape 4"/>
          <p:cNvSpPr/>
          <p:nvPr/>
        </p:nvSpPr>
        <p:spPr bwMode="auto">
          <a:xfrm>
            <a:off x="548640" y="1143000"/>
            <a:ext cx="640080" cy="64008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1099676992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612648" y="1207008"/>
            <a:ext cx="502920" cy="502920"/>
          </a:xfrm>
          <a:prstGeom prst="rect">
            <a:avLst/>
          </a:prstGeom>
        </p:spPr>
      </p:pic>
      <p:sp>
        <p:nvSpPr>
          <p:cNvPr id="1418867774" name="Text 5"/>
          <p:cNvSpPr/>
          <p:nvPr/>
        </p:nvSpPr>
        <p:spPr bwMode="auto">
          <a:xfrm>
            <a:off x="1325880" y="1124712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Virtuelle Testumgebung aufbauen</a:t>
            </a:r>
            <a:endParaRPr lang="en-US" sz="1300"/>
          </a:p>
        </p:txBody>
      </p:sp>
      <p:sp>
        <p:nvSpPr>
          <p:cNvPr id="965645027" name="Text 6"/>
          <p:cNvSpPr/>
          <p:nvPr/>
        </p:nvSpPr>
        <p:spPr bwMode="auto">
          <a:xfrm>
            <a:off x="1325880" y="155448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de-DE" sz="12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4</a:t>
            </a:r>
            <a:r>
              <a:rPr lang="en-US" sz="12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 xml:space="preserve"> VMs + Host-Rechner als überwachte Systeme</a:t>
            </a:r>
            <a:endParaRPr lang="en-US" sz="1200"/>
          </a:p>
        </p:txBody>
      </p:sp>
      <p:sp>
        <p:nvSpPr>
          <p:cNvPr id="70640016" name="Shape 7"/>
          <p:cNvSpPr/>
          <p:nvPr/>
        </p:nvSpPr>
        <p:spPr bwMode="auto">
          <a:xfrm>
            <a:off x="411480" y="960120"/>
            <a:ext cx="64008" cy="1554480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69696432" name="Shape 8"/>
          <p:cNvSpPr/>
          <p:nvPr/>
        </p:nvSpPr>
        <p:spPr bwMode="auto">
          <a:xfrm>
            <a:off x="4800600" y="960120"/>
            <a:ext cx="39776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475466906" name="Shape 9"/>
          <p:cNvSpPr/>
          <p:nvPr/>
        </p:nvSpPr>
        <p:spPr bwMode="auto">
          <a:xfrm>
            <a:off x="4937760" y="1143000"/>
            <a:ext cx="640080" cy="64008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2065325213" name="Image 1" descr="preencoded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5001768" y="1207008"/>
            <a:ext cx="502920" cy="502920"/>
          </a:xfrm>
          <a:prstGeom prst="rect">
            <a:avLst/>
          </a:prstGeom>
        </p:spPr>
      </p:pic>
      <p:sp>
        <p:nvSpPr>
          <p:cNvPr id="445741387" name="Text 10"/>
          <p:cNvSpPr/>
          <p:nvPr/>
        </p:nvSpPr>
        <p:spPr bwMode="auto">
          <a:xfrm>
            <a:off x="5715000" y="1124712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Prometheus &amp; Grafana implementieren</a:t>
            </a:r>
            <a:endParaRPr lang="en-US" sz="1300"/>
          </a:p>
        </p:txBody>
      </p:sp>
      <p:sp>
        <p:nvSpPr>
          <p:cNvPr id="720098675" name="Text 11"/>
          <p:cNvSpPr/>
          <p:nvPr/>
        </p:nvSpPr>
        <p:spPr bwMode="auto">
          <a:xfrm>
            <a:off x="5715000" y="155448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Metriken erfassen, speichern und visualisieren</a:t>
            </a:r>
            <a:endParaRPr lang="en-US" sz="1200"/>
          </a:p>
        </p:txBody>
      </p:sp>
      <p:sp>
        <p:nvSpPr>
          <p:cNvPr id="147486795" name="Shape 12"/>
          <p:cNvSpPr/>
          <p:nvPr/>
        </p:nvSpPr>
        <p:spPr bwMode="auto">
          <a:xfrm>
            <a:off x="4800600" y="960120"/>
            <a:ext cx="64008" cy="1554480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34199099" name="Shape 13"/>
          <p:cNvSpPr/>
          <p:nvPr/>
        </p:nvSpPr>
        <p:spPr bwMode="auto">
          <a:xfrm>
            <a:off x="411480" y="2697480"/>
            <a:ext cx="39776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684180428" name="Shape 14"/>
          <p:cNvSpPr/>
          <p:nvPr/>
        </p:nvSpPr>
        <p:spPr bwMode="auto">
          <a:xfrm>
            <a:off x="548640" y="2880360"/>
            <a:ext cx="640080" cy="64008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1279485001" name="Image 2" descr="preencoded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612648" y="2944368"/>
            <a:ext cx="502920" cy="502920"/>
          </a:xfrm>
          <a:prstGeom prst="rect">
            <a:avLst/>
          </a:prstGeom>
        </p:spPr>
      </p:pic>
      <p:sp>
        <p:nvSpPr>
          <p:cNvPr id="622404447" name="Text 15"/>
          <p:cNvSpPr/>
          <p:nvPr/>
        </p:nvSpPr>
        <p:spPr bwMode="auto">
          <a:xfrm>
            <a:off x="1325880" y="2862072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Automatisches Alerting einrichten</a:t>
            </a:r>
            <a:endParaRPr lang="en-US" sz="1300"/>
          </a:p>
        </p:txBody>
      </p:sp>
      <p:sp>
        <p:nvSpPr>
          <p:cNvPr id="554566687" name="Text 16"/>
          <p:cNvSpPr/>
          <p:nvPr/>
        </p:nvSpPr>
        <p:spPr bwMode="auto">
          <a:xfrm>
            <a:off x="1325880" y="329184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E-Mail-Benachrichtigung bei Systemausfall</a:t>
            </a:r>
            <a:endParaRPr lang="en-US" sz="1200"/>
          </a:p>
        </p:txBody>
      </p:sp>
      <p:sp>
        <p:nvSpPr>
          <p:cNvPr id="1801604178" name="Shape 17"/>
          <p:cNvSpPr/>
          <p:nvPr/>
        </p:nvSpPr>
        <p:spPr bwMode="auto">
          <a:xfrm>
            <a:off x="411480" y="2697480"/>
            <a:ext cx="64008" cy="1554480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67964679" name="Shape 18"/>
          <p:cNvSpPr/>
          <p:nvPr/>
        </p:nvSpPr>
        <p:spPr bwMode="auto">
          <a:xfrm>
            <a:off x="4800600" y="2697480"/>
            <a:ext cx="39776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682691640" name="Shape 19"/>
          <p:cNvSpPr/>
          <p:nvPr/>
        </p:nvSpPr>
        <p:spPr bwMode="auto">
          <a:xfrm>
            <a:off x="4937760" y="2880360"/>
            <a:ext cx="640080" cy="64008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1927719833" name="Image 3" descr="preencoded.png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5001768" y="2944368"/>
            <a:ext cx="502920" cy="502920"/>
          </a:xfrm>
          <a:prstGeom prst="rect">
            <a:avLst/>
          </a:prstGeom>
        </p:spPr>
      </p:pic>
      <p:sp>
        <p:nvSpPr>
          <p:cNvPr id="2020927917" name="Text 20"/>
          <p:cNvSpPr/>
          <p:nvPr/>
        </p:nvSpPr>
        <p:spPr bwMode="auto">
          <a:xfrm>
            <a:off x="5715000" y="2862072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PRTG vs. Prometheus/Grafana evaluieren</a:t>
            </a:r>
            <a:endParaRPr lang="en-US" sz="1300"/>
          </a:p>
        </p:txBody>
      </p:sp>
      <p:sp>
        <p:nvSpPr>
          <p:cNvPr id="1304411092" name="Text 21"/>
          <p:cNvSpPr/>
          <p:nvPr/>
        </p:nvSpPr>
        <p:spPr bwMode="auto">
          <a:xfrm>
            <a:off x="5715000" y="329184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Nutzwertanalyse als Entscheidungsgrundlage</a:t>
            </a:r>
            <a:endParaRPr lang="en-US" sz="1200"/>
          </a:p>
        </p:txBody>
      </p:sp>
      <p:sp>
        <p:nvSpPr>
          <p:cNvPr id="1085620951" name="Shape 22"/>
          <p:cNvSpPr/>
          <p:nvPr/>
        </p:nvSpPr>
        <p:spPr bwMode="auto">
          <a:xfrm>
            <a:off x="4800600" y="2697480"/>
            <a:ext cx="64008" cy="1554480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00050" name="Seitenzahl"/>
          <p:cNvSpPr/>
          <p:nvPr/>
        </p:nvSpPr>
        <p:spPr bwMode="auto">
          <a:xfrm>
            <a:off x="8250000" y="4970000"/>
            <a:ext cx="750000" cy="1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de-DE" sz="900" dirty="0">
                <a:solidFill>
                  <a:srgbClr val="5A8AB0"/>
                </a:solidFill>
                <a:latin typeface="Calibri"/>
                <a:ea typeface="Calibri"/>
                <a:cs typeface="Calibri"/>
              </a:rPr>
              <a:t>14 von 28</a:t>
            </a:r>
            <a:endParaRPr lang="de-DE" sz="9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 name="Slide 7"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0035734" name="!!Shape 22"/>
          <p:cNvSpPr/>
          <p:nvPr/>
        </p:nvSpPr>
        <p:spPr bwMode="auto">
          <a:xfrm>
            <a:off x="0" y="0"/>
            <a:ext cx="228600" cy="5143500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97226579" name="Text 1"/>
          <p:cNvSpPr/>
          <p:nvPr/>
        </p:nvSpPr>
        <p:spPr bwMode="auto">
          <a:xfrm>
            <a:off x="50292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7200" b="1" dirty="0">
                <a:solidFill>
                  <a:srgbClr val="2E74B5"/>
                </a:soli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  <a:latin typeface="Calibri"/>
                <a:ea typeface="Calibri"/>
                <a:cs typeface="Calibri"/>
              </a:rPr>
              <a:t>03</a:t>
            </a:r>
            <a:endParaRPr lang="en-US" sz="7200" dirty="0">
              <a:effectLst>
                <a:outerShdw blurRad="50800" dist="38100" dir="16200000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1971545170" name="!!Text 2"/>
          <p:cNvSpPr/>
          <p:nvPr/>
        </p:nvSpPr>
        <p:spPr bwMode="auto">
          <a:xfrm>
            <a:off x="502920" y="26517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32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Systemarchitektur</a:t>
            </a:r>
            <a:endParaRPr lang="en-US" sz="3200" dirty="0"/>
          </a:p>
        </p:txBody>
      </p:sp>
      <p:cxnSp>
        <p:nvCxnSpPr>
          <p:cNvPr id="900001" name="Zeitstrahl Linie"/>
          <p:cNvCxnSpPr/>
          <p:nvPr/>
        </p:nvCxnSpPr>
        <p:spPr>
          <a:xfrm>
            <a:off x="502920" y="4688580"/>
            <a:ext cx="8138160" cy="0"/>
          </a:xfrm>
          <a:prstGeom prst="line">
            <a:avLst/>
          </a:prstGeom>
          <a:ln w="9525">
            <a:solidFill>
              <a:srgbClr val="FFFFFF">
                <a:alpha val="3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0002" name="Zeitstrahl Punkt 1"/>
          <p:cNvSpPr/>
          <p:nvPr/>
        </p:nvSpPr>
        <p:spPr bwMode="auto">
          <a:xfrm>
            <a:off x="457200" y="4642860"/>
            <a:ext cx="91440" cy="91440"/>
          </a:xfrm>
          <a:prstGeom prst="ellipse">
            <a:avLst/>
          </a:prstGeom>
          <a:solidFill>
            <a:srgbClr val="FFFFFF">
              <a:alpha val="25000"/>
            </a:srgbClr>
          </a:solidFill>
          <a:ln w="9525">
            <a:solidFill>
              <a:srgbClr val="FFFFFF">
                <a:alpha val="45000"/>
              </a:srgbClr>
            </a:solidFill>
          </a:ln>
        </p:spPr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00003" name="Zeitstrahl Punkt 2"/>
          <p:cNvSpPr/>
          <p:nvPr/>
        </p:nvSpPr>
        <p:spPr bwMode="auto">
          <a:xfrm>
            <a:off x="1619794" y="4642860"/>
            <a:ext cx="91440" cy="91440"/>
          </a:xfrm>
          <a:prstGeom prst="ellipse">
            <a:avLst/>
          </a:prstGeom>
          <a:solidFill>
            <a:srgbClr val="FFFFFF">
              <a:alpha val="25000"/>
            </a:srgbClr>
          </a:solidFill>
          <a:ln w="9525">
            <a:solidFill>
              <a:srgbClr val="FFFFFF">
                <a:alpha val="45000"/>
              </a:srgbClr>
            </a:solidFill>
          </a:ln>
        </p:spPr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00004" name="Zeitstrahl Punkt 3"/>
          <p:cNvSpPr/>
          <p:nvPr/>
        </p:nvSpPr>
        <p:spPr bwMode="auto">
          <a:xfrm>
            <a:off x="2759529" y="4620000"/>
            <a:ext cx="137160" cy="1371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00005" name="Zeitstrahl Punkt 4"/>
          <p:cNvSpPr/>
          <p:nvPr/>
        </p:nvSpPr>
        <p:spPr bwMode="auto">
          <a:xfrm>
            <a:off x="3944983" y="4642860"/>
            <a:ext cx="91440" cy="91440"/>
          </a:xfrm>
          <a:prstGeom prst="ellipse">
            <a:avLst/>
          </a:prstGeom>
          <a:solidFill>
            <a:srgbClr val="FFFFFF">
              <a:alpha val="25000"/>
            </a:srgbClr>
          </a:solidFill>
          <a:ln w="9525">
            <a:solidFill>
              <a:srgbClr val="FFFFFF">
                <a:alpha val="45000"/>
              </a:srgbClr>
            </a:solidFill>
          </a:ln>
        </p:spPr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00006" name="Zeitstrahl Punkt 5"/>
          <p:cNvSpPr/>
          <p:nvPr/>
        </p:nvSpPr>
        <p:spPr bwMode="auto">
          <a:xfrm>
            <a:off x="5107577" y="4642860"/>
            <a:ext cx="91440" cy="91440"/>
          </a:xfrm>
          <a:prstGeom prst="ellipse">
            <a:avLst/>
          </a:prstGeom>
          <a:solidFill>
            <a:srgbClr val="FFFFFF">
              <a:alpha val="25000"/>
            </a:srgbClr>
          </a:solidFill>
          <a:ln w="9525">
            <a:solidFill>
              <a:srgbClr val="FFFFFF">
                <a:alpha val="45000"/>
              </a:srgbClr>
            </a:solidFill>
          </a:ln>
        </p:spPr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00007" name="Zeitstrahl Punkt 6"/>
          <p:cNvSpPr/>
          <p:nvPr/>
        </p:nvSpPr>
        <p:spPr bwMode="auto">
          <a:xfrm>
            <a:off x="6270171" y="4642860"/>
            <a:ext cx="91440" cy="91440"/>
          </a:xfrm>
          <a:prstGeom prst="ellipse">
            <a:avLst/>
          </a:prstGeom>
          <a:solidFill>
            <a:srgbClr val="FFFFFF">
              <a:alpha val="25000"/>
            </a:srgbClr>
          </a:solidFill>
          <a:ln w="9525">
            <a:solidFill>
              <a:srgbClr val="FFFFFF">
                <a:alpha val="45000"/>
              </a:srgbClr>
            </a:solidFill>
          </a:ln>
        </p:spPr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00008" name="Zeitstrahl Punkt 7"/>
          <p:cNvSpPr/>
          <p:nvPr/>
        </p:nvSpPr>
        <p:spPr bwMode="auto">
          <a:xfrm>
            <a:off x="7432766" y="4642860"/>
            <a:ext cx="91440" cy="91440"/>
          </a:xfrm>
          <a:prstGeom prst="ellipse">
            <a:avLst/>
          </a:prstGeom>
          <a:solidFill>
            <a:srgbClr val="FFFFFF">
              <a:alpha val="25000"/>
            </a:srgbClr>
          </a:solidFill>
          <a:ln w="9525">
            <a:solidFill>
              <a:srgbClr val="FFFFFF">
                <a:alpha val="45000"/>
              </a:srgbClr>
            </a:solidFill>
          </a:ln>
        </p:spPr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00009" name="Zeitstrahl Punkt 8"/>
          <p:cNvSpPr/>
          <p:nvPr/>
        </p:nvSpPr>
        <p:spPr bwMode="auto">
          <a:xfrm>
            <a:off x="8595360" y="4642860"/>
            <a:ext cx="91440" cy="91440"/>
          </a:xfrm>
          <a:prstGeom prst="ellipse">
            <a:avLst/>
          </a:prstGeom>
          <a:solidFill>
            <a:srgbClr val="FFFFFF">
              <a:alpha val="25000"/>
            </a:srgbClr>
          </a:solidFill>
          <a:ln w="9525">
            <a:solidFill>
              <a:srgbClr val="FFFFFF">
                <a:alpha val="45000"/>
              </a:srgbClr>
            </a:solidFill>
          </a:ln>
        </p:spPr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00050" name="Seitenzahl"/>
          <p:cNvSpPr/>
          <p:nvPr/>
        </p:nvSpPr>
        <p:spPr bwMode="auto">
          <a:xfrm>
            <a:off x="8250000" y="4970000"/>
            <a:ext cx="750000" cy="1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de-DE" sz="900" dirty="0">
                <a:solidFill>
                  <a:srgbClr val="FFFFFF">
                    <a:alpha val="55000"/>
                  </a:srgbClr>
                </a:solidFill>
                <a:latin typeface="Calibri"/>
                <a:ea typeface="Calibri"/>
                <a:cs typeface="Calibri"/>
              </a:rPr>
              <a:t>15 von 28</a:t>
            </a:r>
            <a:endParaRPr lang="de-DE" sz="9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 name="Slide 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0729828" name="!!Text 2"/>
          <p:cNvSpPr/>
          <p:nvPr/>
        </p:nvSpPr>
        <p:spPr bwMode="auto">
          <a:xfrm>
            <a:off x="411480" y="201168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2600" b="1" dirty="0" err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Systemarchitektur</a:t>
            </a:r>
            <a:r>
              <a:rPr lang="en-US" sz="2600" b="1" dirty="0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 xml:space="preserve"> der </a:t>
            </a:r>
            <a:r>
              <a:rPr lang="en-US" sz="2600" b="1" dirty="0" err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Testumgebung</a:t>
            </a:r>
            <a:endParaRPr lang="en-US" sz="2600" dirty="0"/>
          </a:p>
        </p:txBody>
      </p:sp>
      <p:sp>
        <p:nvSpPr>
          <p:cNvPr id="120702417" name="Shape 1"/>
          <p:cNvSpPr/>
          <p:nvPr/>
        </p:nvSpPr>
        <p:spPr bwMode="auto">
          <a:xfrm>
            <a:off x="411480" y="822960"/>
            <a:ext cx="8321039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4951705" name="Text 3"/>
          <p:cNvSpPr/>
          <p:nvPr/>
        </p:nvSpPr>
        <p:spPr bwMode="auto">
          <a:xfrm>
            <a:off x="411480" y="96012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Überwachte Systeme</a:t>
            </a:r>
            <a:endParaRPr lang="en-US" sz="1400"/>
          </a:p>
        </p:txBody>
      </p:sp>
      <p:sp>
        <p:nvSpPr>
          <p:cNvPr id="451211784" name="Shape 4"/>
          <p:cNvSpPr/>
          <p:nvPr/>
        </p:nvSpPr>
        <p:spPr bwMode="auto">
          <a:xfrm>
            <a:off x="411480" y="1371600"/>
            <a:ext cx="3657600" cy="594360"/>
          </a:xfrm>
          <a:prstGeom prst="rect">
            <a:avLst/>
          </a:prstGeom>
          <a:solidFill>
            <a:srgbClr val="EBF5FB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95654336" name="Shape 5"/>
          <p:cNvSpPr/>
          <p:nvPr/>
        </p:nvSpPr>
        <p:spPr bwMode="auto">
          <a:xfrm>
            <a:off x="411480" y="1371600"/>
            <a:ext cx="64008" cy="594360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36984198" name="Text 6"/>
          <p:cNvSpPr/>
          <p:nvPr/>
        </p:nvSpPr>
        <p:spPr bwMode="auto">
          <a:xfrm>
            <a:off x="594360" y="141732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Windows 11 VM</a:t>
            </a:r>
            <a:endParaRPr lang="en-US" sz="1200"/>
          </a:p>
        </p:txBody>
      </p:sp>
      <p:sp>
        <p:nvSpPr>
          <p:cNvPr id="1043680759" name="Text 7"/>
          <p:cNvSpPr/>
          <p:nvPr/>
        </p:nvSpPr>
        <p:spPr bwMode="auto">
          <a:xfrm>
            <a:off x="594360" y="167335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Client  |  Windows Exporter :9182</a:t>
            </a:r>
            <a:endParaRPr lang="en-US" sz="1000"/>
          </a:p>
        </p:txBody>
      </p:sp>
      <p:sp>
        <p:nvSpPr>
          <p:cNvPr id="2049797370" name="Shape 8"/>
          <p:cNvSpPr/>
          <p:nvPr/>
        </p:nvSpPr>
        <p:spPr bwMode="auto">
          <a:xfrm>
            <a:off x="411480" y="2057400"/>
            <a:ext cx="3657600" cy="594360"/>
          </a:xfrm>
          <a:prstGeom prst="rect">
            <a:avLst/>
          </a:prstGeom>
          <a:solidFill>
            <a:srgbClr val="EBF5FB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551245476" name="Shape 9"/>
          <p:cNvSpPr/>
          <p:nvPr/>
        </p:nvSpPr>
        <p:spPr bwMode="auto">
          <a:xfrm>
            <a:off x="411480" y="2057400"/>
            <a:ext cx="64008" cy="594360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951658635" name="Text 10"/>
          <p:cNvSpPr/>
          <p:nvPr/>
        </p:nvSpPr>
        <p:spPr bwMode="auto">
          <a:xfrm>
            <a:off x="594360" y="210312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Windows Server 2022</a:t>
            </a:r>
            <a:endParaRPr lang="en-US" sz="1200"/>
          </a:p>
        </p:txBody>
      </p:sp>
      <p:sp>
        <p:nvSpPr>
          <p:cNvPr id="1294134032" name="Text 11"/>
          <p:cNvSpPr/>
          <p:nvPr/>
        </p:nvSpPr>
        <p:spPr bwMode="auto">
          <a:xfrm>
            <a:off x="594360" y="235915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FTP-Server  |  Windows Exporter :9182</a:t>
            </a:r>
            <a:endParaRPr lang="en-US" sz="1000"/>
          </a:p>
        </p:txBody>
      </p:sp>
      <p:sp>
        <p:nvSpPr>
          <p:cNvPr id="633632301" name="Shape 12"/>
          <p:cNvSpPr/>
          <p:nvPr/>
        </p:nvSpPr>
        <p:spPr bwMode="auto">
          <a:xfrm>
            <a:off x="411480" y="2743200"/>
            <a:ext cx="3657600" cy="594360"/>
          </a:xfrm>
          <a:prstGeom prst="rect">
            <a:avLst/>
          </a:prstGeom>
          <a:solidFill>
            <a:srgbClr val="EBF5FB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63769474" name="Shape 13"/>
          <p:cNvSpPr/>
          <p:nvPr/>
        </p:nvSpPr>
        <p:spPr bwMode="auto">
          <a:xfrm>
            <a:off x="411480" y="2743200"/>
            <a:ext cx="64008" cy="594360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532979499" name="Text 14"/>
          <p:cNvSpPr/>
          <p:nvPr/>
        </p:nvSpPr>
        <p:spPr bwMode="auto">
          <a:xfrm>
            <a:off x="594360" y="278892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Ubuntu VM</a:t>
            </a:r>
            <a:endParaRPr lang="en-US" sz="1200"/>
          </a:p>
        </p:txBody>
      </p:sp>
      <p:sp>
        <p:nvSpPr>
          <p:cNvPr id="1403436414" name="Text 15"/>
          <p:cNvSpPr/>
          <p:nvPr/>
        </p:nvSpPr>
        <p:spPr bwMode="auto">
          <a:xfrm>
            <a:off x="594360" y="304495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Webserver  |  Node Exporter :9100</a:t>
            </a:r>
            <a:endParaRPr lang="en-US" sz="1000"/>
          </a:p>
        </p:txBody>
      </p:sp>
      <p:sp>
        <p:nvSpPr>
          <p:cNvPr id="6833234" name="Shape 16"/>
          <p:cNvSpPr/>
          <p:nvPr/>
        </p:nvSpPr>
        <p:spPr bwMode="auto">
          <a:xfrm>
            <a:off x="411480" y="3429000"/>
            <a:ext cx="3657600" cy="594360"/>
          </a:xfrm>
          <a:prstGeom prst="rect">
            <a:avLst/>
          </a:prstGeom>
          <a:solidFill>
            <a:srgbClr val="EBF5FB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28796994" name="Shape 17"/>
          <p:cNvSpPr/>
          <p:nvPr/>
        </p:nvSpPr>
        <p:spPr bwMode="auto">
          <a:xfrm>
            <a:off x="411480" y="3429000"/>
            <a:ext cx="64008" cy="594360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39637071" name="Text 18"/>
          <p:cNvSpPr/>
          <p:nvPr/>
        </p:nvSpPr>
        <p:spPr bwMode="auto">
          <a:xfrm>
            <a:off x="594360" y="347472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Host-Rechner</a:t>
            </a:r>
            <a:endParaRPr lang="en-US" sz="1200"/>
          </a:p>
        </p:txBody>
      </p:sp>
      <p:sp>
        <p:nvSpPr>
          <p:cNvPr id="868937588" name="Text 19"/>
          <p:cNvSpPr/>
          <p:nvPr/>
        </p:nvSpPr>
        <p:spPr bwMode="auto">
          <a:xfrm>
            <a:off x="594360" y="373075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Physisches System  |  Windows Exporter :9182</a:t>
            </a:r>
            <a:endParaRPr lang="en-US" sz="1000"/>
          </a:p>
        </p:txBody>
      </p:sp>
      <p:sp>
        <p:nvSpPr>
          <p:cNvPr id="2095741835" name="Shape 20"/>
          <p:cNvSpPr/>
          <p:nvPr/>
        </p:nvSpPr>
        <p:spPr bwMode="auto">
          <a:xfrm>
            <a:off x="4160519" y="2286000"/>
            <a:ext cx="731520" cy="54864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0758456" name="Text 21"/>
          <p:cNvSpPr/>
          <p:nvPr/>
        </p:nvSpPr>
        <p:spPr bwMode="auto">
          <a:xfrm>
            <a:off x="4133088" y="2359152"/>
            <a:ext cx="804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scrape</a:t>
            </a:r>
            <a:endParaRPr lang="en-US" sz="900"/>
          </a:p>
          <a:p>
            <a:pPr marL="0" indent="0" algn="ctr">
              <a:buNone/>
              <a:defRPr/>
            </a:pPr>
            <a:r>
              <a:rPr lang="en-US"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15s</a:t>
            </a:r>
            <a:endParaRPr lang="en-US" sz="900"/>
          </a:p>
        </p:txBody>
      </p:sp>
      <p:sp>
        <p:nvSpPr>
          <p:cNvPr id="1874272337" name="!!Shape 22"/>
          <p:cNvSpPr/>
          <p:nvPr/>
        </p:nvSpPr>
        <p:spPr bwMode="auto">
          <a:xfrm>
            <a:off x="4983480" y="960120"/>
            <a:ext cx="3749040" cy="196596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01521895" name="Text 23"/>
          <p:cNvSpPr/>
          <p:nvPr/>
        </p:nvSpPr>
        <p:spPr bwMode="auto">
          <a:xfrm>
            <a:off x="5074920" y="10058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Monitoring-Server  (Ubuntu VM)</a:t>
            </a:r>
            <a:endParaRPr lang="en-US" sz="1300"/>
          </a:p>
        </p:txBody>
      </p:sp>
      <p:sp>
        <p:nvSpPr>
          <p:cNvPr id="939657310" name="Shape 24"/>
          <p:cNvSpPr/>
          <p:nvPr/>
        </p:nvSpPr>
        <p:spPr bwMode="auto">
          <a:xfrm>
            <a:off x="5166360" y="1481328"/>
            <a:ext cx="3383280" cy="384048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48483411" name="Text 25"/>
          <p:cNvSpPr/>
          <p:nvPr/>
        </p:nvSpPr>
        <p:spPr bwMode="auto">
          <a:xfrm>
            <a:off x="5230368" y="1517904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Prometheus</a:t>
            </a:r>
            <a:endParaRPr lang="en-US" sz="1100"/>
          </a:p>
        </p:txBody>
      </p:sp>
      <p:sp>
        <p:nvSpPr>
          <p:cNvPr id="1450073767" name="Text 26"/>
          <p:cNvSpPr/>
          <p:nvPr/>
        </p:nvSpPr>
        <p:spPr bwMode="auto">
          <a:xfrm>
            <a:off x="6446520" y="15361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D6E4F0"/>
                </a:solidFill>
                <a:latin typeface="Calibri"/>
                <a:ea typeface="Calibri"/>
                <a:cs typeface="Calibri"/>
              </a:rPr>
              <a:t>Metriken-Scraping &amp; Speicherung</a:t>
            </a:r>
            <a:endParaRPr lang="en-US" sz="1000"/>
          </a:p>
        </p:txBody>
      </p:sp>
      <p:sp>
        <p:nvSpPr>
          <p:cNvPr id="1285369335" name="Shape 27"/>
          <p:cNvSpPr/>
          <p:nvPr/>
        </p:nvSpPr>
        <p:spPr bwMode="auto">
          <a:xfrm>
            <a:off x="5166360" y="1938528"/>
            <a:ext cx="3383280" cy="384048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2756977" name="Text 28"/>
          <p:cNvSpPr/>
          <p:nvPr/>
        </p:nvSpPr>
        <p:spPr bwMode="auto">
          <a:xfrm>
            <a:off x="5230368" y="1975104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Grafana</a:t>
            </a:r>
            <a:endParaRPr lang="en-US" sz="1100"/>
          </a:p>
        </p:txBody>
      </p:sp>
      <p:sp>
        <p:nvSpPr>
          <p:cNvPr id="1054116948" name="Text 29"/>
          <p:cNvSpPr/>
          <p:nvPr/>
        </p:nvSpPr>
        <p:spPr bwMode="auto">
          <a:xfrm>
            <a:off x="6446520" y="19933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D6E4F0"/>
                </a:solidFill>
                <a:latin typeface="Calibri"/>
                <a:ea typeface="Calibri"/>
                <a:cs typeface="Calibri"/>
              </a:rPr>
              <a:t>Dashboards  (Port 3000)</a:t>
            </a:r>
            <a:endParaRPr lang="en-US" sz="1000"/>
          </a:p>
        </p:txBody>
      </p:sp>
      <p:sp>
        <p:nvSpPr>
          <p:cNvPr id="1692561844" name="Shape 30"/>
          <p:cNvSpPr/>
          <p:nvPr/>
        </p:nvSpPr>
        <p:spPr bwMode="auto">
          <a:xfrm>
            <a:off x="5166360" y="2395728"/>
            <a:ext cx="3383280" cy="384048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23944076" name="Text 31"/>
          <p:cNvSpPr/>
          <p:nvPr/>
        </p:nvSpPr>
        <p:spPr bwMode="auto">
          <a:xfrm>
            <a:off x="5230368" y="2432303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Alertmanager</a:t>
            </a:r>
            <a:endParaRPr lang="en-US" sz="1100"/>
          </a:p>
        </p:txBody>
      </p:sp>
      <p:sp>
        <p:nvSpPr>
          <p:cNvPr id="2052723797" name="Text 32"/>
          <p:cNvSpPr/>
          <p:nvPr/>
        </p:nvSpPr>
        <p:spPr bwMode="auto">
          <a:xfrm>
            <a:off x="6446520" y="24505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D6E4F0"/>
                </a:solidFill>
                <a:latin typeface="Calibri"/>
                <a:ea typeface="Calibri"/>
                <a:cs typeface="Calibri"/>
              </a:rPr>
              <a:t>Alert-Routing &amp; E-Mail</a:t>
            </a:r>
            <a:endParaRPr lang="en-US" sz="1000"/>
          </a:p>
        </p:txBody>
      </p:sp>
      <p:sp>
        <p:nvSpPr>
          <p:cNvPr id="179983062" name="Shape 33"/>
          <p:cNvSpPr/>
          <p:nvPr/>
        </p:nvSpPr>
        <p:spPr bwMode="auto">
          <a:xfrm>
            <a:off x="4983480" y="3017519"/>
            <a:ext cx="3749040" cy="502920"/>
          </a:xfrm>
          <a:prstGeom prst="rect">
            <a:avLst/>
          </a:prstGeom>
          <a:solidFill>
            <a:srgbClr val="EBF5FB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80577583" name="Text 34"/>
          <p:cNvSpPr/>
          <p:nvPr/>
        </p:nvSpPr>
        <p:spPr bwMode="auto">
          <a:xfrm>
            <a:off x="5120640" y="307238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Blackbox Exporter: HTTP &amp; ICMP Probes (Erreichbarkeit)</a:t>
            </a:r>
            <a:endParaRPr lang="en-US" sz="1100"/>
          </a:p>
        </p:txBody>
      </p:sp>
      <p:sp>
        <p:nvSpPr>
          <p:cNvPr id="2113879572" name="Shape 35"/>
          <p:cNvSpPr/>
          <p:nvPr/>
        </p:nvSpPr>
        <p:spPr bwMode="auto">
          <a:xfrm>
            <a:off x="411480" y="4219215"/>
            <a:ext cx="8321039" cy="68580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97240031" name="Text 36"/>
          <p:cNvSpPr/>
          <p:nvPr/>
        </p:nvSpPr>
        <p:spPr bwMode="auto">
          <a:xfrm>
            <a:off x="594360" y="4301511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D97706"/>
                </a:solidFill>
                <a:latin typeface="Calibri"/>
                <a:ea typeface="Calibri"/>
                <a:cs typeface="Calibri"/>
              </a:rPr>
              <a:t>⚡  Alertmanager → E-Mail-Benachrichtigung bei Ausfall oder kritischen Schwellenwerten  |  Scrape-Intervall: 15 Sekunden</a:t>
            </a:r>
            <a:endParaRPr lang="en-US" sz="1200"/>
          </a:p>
        </p:txBody>
      </p:sp>
      <p:sp>
        <p:nvSpPr>
          <p:cNvPr id="900050" name="Seitenzahl"/>
          <p:cNvSpPr/>
          <p:nvPr/>
        </p:nvSpPr>
        <p:spPr bwMode="auto">
          <a:xfrm>
            <a:off x="8250000" y="4970000"/>
            <a:ext cx="750000" cy="1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de-DE" sz="900" dirty="0">
                <a:solidFill>
                  <a:srgbClr val="5A8AB0"/>
                </a:solidFill>
                <a:latin typeface="Calibri"/>
                <a:ea typeface="Calibri"/>
                <a:cs typeface="Calibri"/>
              </a:rPr>
              <a:t>16 von 28</a:t>
            </a:r>
            <a:endParaRPr lang="de-DE" sz="9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 name="Slide 9"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4877283" name="Shape 0"/>
          <p:cNvSpPr/>
          <p:nvPr/>
        </p:nvSpPr>
        <p:spPr bwMode="auto">
          <a:xfrm>
            <a:off x="0" y="0"/>
            <a:ext cx="228600" cy="5143500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63134187" name="Text 1"/>
          <p:cNvSpPr/>
          <p:nvPr/>
        </p:nvSpPr>
        <p:spPr bwMode="auto">
          <a:xfrm>
            <a:off x="50292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7200" b="1" dirty="0">
                <a:solidFill>
                  <a:srgbClr val="2E74B5"/>
                </a:soli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  <a:latin typeface="Calibri"/>
                <a:ea typeface="Calibri"/>
                <a:cs typeface="Calibri"/>
              </a:rPr>
              <a:t>04</a:t>
            </a:r>
            <a:endParaRPr lang="en-US" sz="7200" dirty="0">
              <a:effectLst>
                <a:outerShdw blurRad="50800" dist="38100" dir="16200000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1529109771" name="!!Text 2"/>
          <p:cNvSpPr/>
          <p:nvPr/>
        </p:nvSpPr>
        <p:spPr bwMode="auto">
          <a:xfrm>
            <a:off x="502920" y="26517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3200" b="1" dirty="0">
                <a:solidFill>
                  <a:srgbClr val="FFFFFF"/>
                </a:soli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  <a:latin typeface="Calibri"/>
                <a:ea typeface="Calibri"/>
                <a:cs typeface="Calibri"/>
              </a:rPr>
              <a:t>Technologie-</a:t>
            </a:r>
            <a:r>
              <a:rPr lang="en-US" sz="3200" b="1" dirty="0" err="1">
                <a:solidFill>
                  <a:srgbClr val="FFFFFF"/>
                </a:soli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  <a:latin typeface="Calibri"/>
                <a:ea typeface="Calibri"/>
                <a:cs typeface="Calibri"/>
              </a:rPr>
              <a:t>Entscheidung</a:t>
            </a:r>
            <a:endParaRPr lang="en-US" sz="3200" dirty="0">
              <a:effectLst>
                <a:outerShdw blurRad="50800" dist="38100" dir="16200000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2" name="Pfeil: nach oben 1">
            <a:extLst>
              <a:ext uri="{FF2B5EF4-FFF2-40B4-BE49-F238E27FC236}">
                <a16:creationId xmlns:a16="http://schemas.microsoft.com/office/drawing/2014/main" id="{44F7C935-14D3-E4E7-7E3B-1914EE9836B1}"/>
              </a:ext>
            </a:extLst>
          </p:cNvPr>
          <p:cNvSpPr/>
          <p:nvPr/>
        </p:nvSpPr>
        <p:spPr>
          <a:xfrm>
            <a:off x="6697499" y="5448258"/>
            <a:ext cx="921488" cy="3131643"/>
          </a:xfrm>
          <a:prstGeom prst="upArrow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Pfeil: nach links 2">
            <a:extLst>
              <a:ext uri="{FF2B5EF4-FFF2-40B4-BE49-F238E27FC236}">
                <a16:creationId xmlns:a16="http://schemas.microsoft.com/office/drawing/2014/main" id="{DFA2D4B0-2FD8-A244-4A04-653002CBE0F8}"/>
              </a:ext>
            </a:extLst>
          </p:cNvPr>
          <p:cNvSpPr/>
          <p:nvPr/>
        </p:nvSpPr>
        <p:spPr>
          <a:xfrm>
            <a:off x="9625174" y="1928037"/>
            <a:ext cx="2069450" cy="826150"/>
          </a:xfrm>
          <a:prstGeom prst="leftArrow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Pfeil: nach rechts 3">
            <a:extLst>
              <a:ext uri="{FF2B5EF4-FFF2-40B4-BE49-F238E27FC236}">
                <a16:creationId xmlns:a16="http://schemas.microsoft.com/office/drawing/2014/main" id="{A060DA68-136F-6AFA-4FCD-684A4CDA9C83}"/>
              </a:ext>
            </a:extLst>
          </p:cNvPr>
          <p:cNvSpPr/>
          <p:nvPr/>
        </p:nvSpPr>
        <p:spPr>
          <a:xfrm>
            <a:off x="-2401895" y="1928037"/>
            <a:ext cx="2211927" cy="826150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900001" name="Zeitstrahl Linie"/>
          <p:cNvCxnSpPr/>
          <p:nvPr/>
        </p:nvCxnSpPr>
        <p:spPr>
          <a:xfrm>
            <a:off x="502920" y="4688580"/>
            <a:ext cx="8138160" cy="0"/>
          </a:xfrm>
          <a:prstGeom prst="line">
            <a:avLst/>
          </a:prstGeom>
          <a:ln w="9525">
            <a:solidFill>
              <a:srgbClr val="FFFFFF">
                <a:alpha val="3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0002" name="Zeitstrahl Punkt 1"/>
          <p:cNvSpPr/>
          <p:nvPr/>
        </p:nvSpPr>
        <p:spPr bwMode="auto">
          <a:xfrm>
            <a:off x="457200" y="4642860"/>
            <a:ext cx="91440" cy="91440"/>
          </a:xfrm>
          <a:prstGeom prst="ellipse">
            <a:avLst/>
          </a:prstGeom>
          <a:solidFill>
            <a:srgbClr val="FFFFFF">
              <a:alpha val="25000"/>
            </a:srgbClr>
          </a:solidFill>
          <a:ln w="9525">
            <a:solidFill>
              <a:srgbClr val="FFFFFF">
                <a:alpha val="45000"/>
              </a:srgbClr>
            </a:solidFill>
          </a:ln>
        </p:spPr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00003" name="Zeitstrahl Punkt 2"/>
          <p:cNvSpPr/>
          <p:nvPr/>
        </p:nvSpPr>
        <p:spPr bwMode="auto">
          <a:xfrm>
            <a:off x="1619794" y="4642860"/>
            <a:ext cx="91440" cy="91440"/>
          </a:xfrm>
          <a:prstGeom prst="ellipse">
            <a:avLst/>
          </a:prstGeom>
          <a:solidFill>
            <a:srgbClr val="FFFFFF">
              <a:alpha val="25000"/>
            </a:srgbClr>
          </a:solidFill>
          <a:ln w="9525">
            <a:solidFill>
              <a:srgbClr val="FFFFFF">
                <a:alpha val="45000"/>
              </a:srgbClr>
            </a:solidFill>
          </a:ln>
        </p:spPr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00004" name="Zeitstrahl Punkt 3"/>
          <p:cNvSpPr/>
          <p:nvPr/>
        </p:nvSpPr>
        <p:spPr bwMode="auto">
          <a:xfrm>
            <a:off x="2782389" y="4642860"/>
            <a:ext cx="91440" cy="91440"/>
          </a:xfrm>
          <a:prstGeom prst="ellipse">
            <a:avLst/>
          </a:prstGeom>
          <a:solidFill>
            <a:srgbClr val="FFFFFF">
              <a:alpha val="25000"/>
            </a:srgbClr>
          </a:solidFill>
          <a:ln w="9525">
            <a:solidFill>
              <a:srgbClr val="FFFFFF">
                <a:alpha val="45000"/>
              </a:srgbClr>
            </a:solidFill>
          </a:ln>
        </p:spPr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00005" name="Zeitstrahl Punkt 4"/>
          <p:cNvSpPr/>
          <p:nvPr/>
        </p:nvSpPr>
        <p:spPr bwMode="auto">
          <a:xfrm>
            <a:off x="3922123" y="4620000"/>
            <a:ext cx="137160" cy="1371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00006" name="Zeitstrahl Punkt 5"/>
          <p:cNvSpPr/>
          <p:nvPr/>
        </p:nvSpPr>
        <p:spPr bwMode="auto">
          <a:xfrm>
            <a:off x="5107577" y="4642860"/>
            <a:ext cx="91440" cy="91440"/>
          </a:xfrm>
          <a:prstGeom prst="ellipse">
            <a:avLst/>
          </a:prstGeom>
          <a:solidFill>
            <a:srgbClr val="FFFFFF">
              <a:alpha val="25000"/>
            </a:srgbClr>
          </a:solidFill>
          <a:ln w="9525">
            <a:solidFill>
              <a:srgbClr val="FFFFFF">
                <a:alpha val="45000"/>
              </a:srgbClr>
            </a:solidFill>
          </a:ln>
        </p:spPr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00007" name="Zeitstrahl Punkt 6"/>
          <p:cNvSpPr/>
          <p:nvPr/>
        </p:nvSpPr>
        <p:spPr bwMode="auto">
          <a:xfrm>
            <a:off x="6270171" y="4642860"/>
            <a:ext cx="91440" cy="91440"/>
          </a:xfrm>
          <a:prstGeom prst="ellipse">
            <a:avLst/>
          </a:prstGeom>
          <a:solidFill>
            <a:srgbClr val="FFFFFF">
              <a:alpha val="25000"/>
            </a:srgbClr>
          </a:solidFill>
          <a:ln w="9525">
            <a:solidFill>
              <a:srgbClr val="FFFFFF">
                <a:alpha val="45000"/>
              </a:srgbClr>
            </a:solidFill>
          </a:ln>
        </p:spPr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00008" name="Zeitstrahl Punkt 7"/>
          <p:cNvSpPr/>
          <p:nvPr/>
        </p:nvSpPr>
        <p:spPr bwMode="auto">
          <a:xfrm>
            <a:off x="7432766" y="4642860"/>
            <a:ext cx="91440" cy="91440"/>
          </a:xfrm>
          <a:prstGeom prst="ellipse">
            <a:avLst/>
          </a:prstGeom>
          <a:solidFill>
            <a:srgbClr val="FFFFFF">
              <a:alpha val="25000"/>
            </a:srgbClr>
          </a:solidFill>
          <a:ln w="9525">
            <a:solidFill>
              <a:srgbClr val="FFFFFF">
                <a:alpha val="45000"/>
              </a:srgbClr>
            </a:solidFill>
          </a:ln>
        </p:spPr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00009" name="Zeitstrahl Punkt 8"/>
          <p:cNvSpPr/>
          <p:nvPr/>
        </p:nvSpPr>
        <p:spPr bwMode="auto">
          <a:xfrm>
            <a:off x="8595360" y="4642860"/>
            <a:ext cx="91440" cy="91440"/>
          </a:xfrm>
          <a:prstGeom prst="ellipse">
            <a:avLst/>
          </a:prstGeom>
          <a:solidFill>
            <a:srgbClr val="FFFFFF">
              <a:alpha val="25000"/>
            </a:srgbClr>
          </a:solidFill>
          <a:ln w="9525">
            <a:solidFill>
              <a:srgbClr val="FFFFFF">
                <a:alpha val="45000"/>
              </a:srgbClr>
            </a:solidFill>
          </a:ln>
        </p:spPr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00050" name="Seitenzahl"/>
          <p:cNvSpPr/>
          <p:nvPr/>
        </p:nvSpPr>
        <p:spPr bwMode="auto">
          <a:xfrm>
            <a:off x="8250000" y="4970000"/>
            <a:ext cx="750000" cy="1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de-DE" sz="900" dirty="0">
                <a:solidFill>
                  <a:srgbClr val="FFFFFF">
                    <a:alpha val="55000"/>
                  </a:srgbClr>
                </a:solidFill>
                <a:latin typeface="Calibri"/>
                <a:ea typeface="Calibri"/>
                <a:cs typeface="Calibri"/>
              </a:rPr>
              <a:t>17 von 28</a:t>
            </a:r>
            <a:endParaRPr lang="de-DE" sz="9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 name="Slide 10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5726975" name="!!Text 2"/>
          <p:cNvSpPr/>
          <p:nvPr/>
        </p:nvSpPr>
        <p:spPr bwMode="auto">
          <a:xfrm>
            <a:off x="411480" y="201168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2600" b="1" dirty="0" err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Eingesetzte</a:t>
            </a:r>
            <a:r>
              <a:rPr lang="en-US" sz="2600" b="1" dirty="0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 xml:space="preserve"> </a:t>
            </a:r>
            <a:r>
              <a:rPr lang="en-US" sz="2600" b="1" dirty="0" err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Technologien</a:t>
            </a:r>
            <a:endParaRPr lang="en-US" sz="2600" dirty="0"/>
          </a:p>
        </p:txBody>
      </p:sp>
      <p:sp>
        <p:nvSpPr>
          <p:cNvPr id="1689081996" name="Shape 1"/>
          <p:cNvSpPr/>
          <p:nvPr/>
        </p:nvSpPr>
        <p:spPr bwMode="auto">
          <a:xfrm>
            <a:off x="411480" y="822960"/>
            <a:ext cx="8321039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911333891" name="Shape 3"/>
          <p:cNvSpPr/>
          <p:nvPr/>
        </p:nvSpPr>
        <p:spPr bwMode="auto">
          <a:xfrm>
            <a:off x="411480" y="960120"/>
            <a:ext cx="2743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483972915" name="Shape 4"/>
          <p:cNvSpPr/>
          <p:nvPr/>
        </p:nvSpPr>
        <p:spPr bwMode="auto">
          <a:xfrm>
            <a:off x="411480" y="960120"/>
            <a:ext cx="2743200" cy="38404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90132375" name="Text 5"/>
          <p:cNvSpPr/>
          <p:nvPr/>
        </p:nvSpPr>
        <p:spPr bwMode="auto">
          <a:xfrm>
            <a:off x="521208" y="99669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Prometheus</a:t>
            </a:r>
            <a:endParaRPr lang="en-US" sz="1300"/>
          </a:p>
        </p:txBody>
      </p:sp>
      <p:sp>
        <p:nvSpPr>
          <p:cNvPr id="926915875" name="Text 6"/>
          <p:cNvSpPr/>
          <p:nvPr/>
        </p:nvSpPr>
        <p:spPr bwMode="auto">
          <a:xfrm>
            <a:off x="502920" y="14173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Monitoring-Backend</a:t>
            </a:r>
            <a:endParaRPr lang="en-US" sz="1100"/>
          </a:p>
        </p:txBody>
      </p:sp>
      <p:sp>
        <p:nvSpPr>
          <p:cNvPr id="1539219040" name="Text 7"/>
          <p:cNvSpPr/>
          <p:nvPr/>
        </p:nvSpPr>
        <p:spPr bwMode="auto">
          <a:xfrm>
            <a:off x="502920" y="1709928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  <a:defRPr/>
            </a:pP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Pull-basiertes Scraping, Time-Series-DB, PromQL, Alert-Regeln</a:t>
            </a:r>
            <a:endParaRPr lang="en-US" sz="1100"/>
          </a:p>
        </p:txBody>
      </p:sp>
      <p:sp>
        <p:nvSpPr>
          <p:cNvPr id="1453580646" name="Shape 8"/>
          <p:cNvSpPr/>
          <p:nvPr/>
        </p:nvSpPr>
        <p:spPr bwMode="auto">
          <a:xfrm>
            <a:off x="3337560" y="960120"/>
            <a:ext cx="2743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19329823" name="Shape 9"/>
          <p:cNvSpPr>
            <a:spLocks/>
          </p:cNvSpPr>
          <p:nvPr/>
        </p:nvSpPr>
        <p:spPr bwMode="auto">
          <a:xfrm>
            <a:off x="3337560" y="960120"/>
            <a:ext cx="2743200" cy="384048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31970219" name="Text 10"/>
          <p:cNvSpPr/>
          <p:nvPr/>
        </p:nvSpPr>
        <p:spPr bwMode="auto">
          <a:xfrm>
            <a:off x="3447288" y="99669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Grafana</a:t>
            </a:r>
            <a:endParaRPr lang="en-US" sz="1300"/>
          </a:p>
        </p:txBody>
      </p:sp>
      <p:sp>
        <p:nvSpPr>
          <p:cNvPr id="1900962049" name="Text 11"/>
          <p:cNvSpPr/>
          <p:nvPr/>
        </p:nvSpPr>
        <p:spPr bwMode="auto">
          <a:xfrm>
            <a:off x="3429000" y="14173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2E74B5"/>
                </a:solidFill>
                <a:latin typeface="Calibri"/>
                <a:ea typeface="Calibri"/>
                <a:cs typeface="Calibri"/>
              </a:rPr>
              <a:t>Visualisierung</a:t>
            </a:r>
            <a:endParaRPr lang="en-US" sz="1100"/>
          </a:p>
        </p:txBody>
      </p:sp>
      <p:sp>
        <p:nvSpPr>
          <p:cNvPr id="1860984587" name="Text 12"/>
          <p:cNvSpPr/>
          <p:nvPr/>
        </p:nvSpPr>
        <p:spPr bwMode="auto">
          <a:xfrm>
            <a:off x="3429000" y="1709928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  <a:defRPr/>
            </a:pP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Individuelle Dashboards, Datenquellen-Integration, Web-UI Port 3000</a:t>
            </a:r>
            <a:endParaRPr lang="en-US" sz="1100"/>
          </a:p>
        </p:txBody>
      </p:sp>
      <p:sp>
        <p:nvSpPr>
          <p:cNvPr id="103895243" name="Shape 13"/>
          <p:cNvSpPr/>
          <p:nvPr/>
        </p:nvSpPr>
        <p:spPr bwMode="auto">
          <a:xfrm>
            <a:off x="6263640" y="960120"/>
            <a:ext cx="2743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51650789" name="Shape 14"/>
          <p:cNvSpPr/>
          <p:nvPr/>
        </p:nvSpPr>
        <p:spPr bwMode="auto">
          <a:xfrm>
            <a:off x="6263640" y="960120"/>
            <a:ext cx="274320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57845952" name="Text 15"/>
          <p:cNvSpPr/>
          <p:nvPr/>
        </p:nvSpPr>
        <p:spPr bwMode="auto">
          <a:xfrm>
            <a:off x="6373368" y="99669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Alertmanager</a:t>
            </a:r>
            <a:endParaRPr lang="en-US" sz="1300"/>
          </a:p>
        </p:txBody>
      </p:sp>
      <p:sp>
        <p:nvSpPr>
          <p:cNvPr id="702345956" name="Text 16"/>
          <p:cNvSpPr/>
          <p:nvPr/>
        </p:nvSpPr>
        <p:spPr bwMode="auto">
          <a:xfrm>
            <a:off x="6355080" y="14173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0D9488"/>
                </a:solidFill>
                <a:latin typeface="Calibri"/>
                <a:ea typeface="Calibri"/>
                <a:cs typeface="Calibri"/>
              </a:rPr>
              <a:t>Alerting</a:t>
            </a:r>
            <a:endParaRPr lang="en-US" sz="1100"/>
          </a:p>
        </p:txBody>
      </p:sp>
      <p:sp>
        <p:nvSpPr>
          <p:cNvPr id="334033921" name="Text 17"/>
          <p:cNvSpPr/>
          <p:nvPr/>
        </p:nvSpPr>
        <p:spPr bwMode="auto">
          <a:xfrm>
            <a:off x="6355080" y="1709928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  <a:defRPr/>
            </a:pP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E-Mail-Routing, Gruppierung, Stilles Alarmmanagement</a:t>
            </a:r>
            <a:endParaRPr lang="en-US" sz="1100"/>
          </a:p>
        </p:txBody>
      </p:sp>
      <p:sp>
        <p:nvSpPr>
          <p:cNvPr id="616157370" name="Shape 18"/>
          <p:cNvSpPr/>
          <p:nvPr/>
        </p:nvSpPr>
        <p:spPr bwMode="auto">
          <a:xfrm>
            <a:off x="411480" y="2788920"/>
            <a:ext cx="2743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06291239" name="Shape 19"/>
          <p:cNvSpPr/>
          <p:nvPr/>
        </p:nvSpPr>
        <p:spPr bwMode="auto">
          <a:xfrm>
            <a:off x="411480" y="2788920"/>
            <a:ext cx="2743200" cy="38404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46282817" name="Text 20"/>
          <p:cNvSpPr/>
          <p:nvPr/>
        </p:nvSpPr>
        <p:spPr bwMode="auto">
          <a:xfrm>
            <a:off x="521208" y="282549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Node Exporter</a:t>
            </a:r>
            <a:endParaRPr lang="en-US" sz="1300"/>
          </a:p>
        </p:txBody>
      </p:sp>
      <p:sp>
        <p:nvSpPr>
          <p:cNvPr id="248977945" name="Text 21"/>
          <p:cNvSpPr/>
          <p:nvPr/>
        </p:nvSpPr>
        <p:spPr bwMode="auto">
          <a:xfrm>
            <a:off x="502920" y="32461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6D28D9"/>
                </a:solidFill>
                <a:latin typeface="Calibri"/>
                <a:ea typeface="Calibri"/>
                <a:cs typeface="Calibri"/>
              </a:rPr>
              <a:t>Linux-Metriken</a:t>
            </a:r>
            <a:endParaRPr lang="en-US" sz="1100"/>
          </a:p>
        </p:txBody>
      </p:sp>
      <p:sp>
        <p:nvSpPr>
          <p:cNvPr id="1953079363" name="Text 22"/>
          <p:cNvSpPr/>
          <p:nvPr/>
        </p:nvSpPr>
        <p:spPr bwMode="auto">
          <a:xfrm>
            <a:off x="502920" y="3538728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  <a:defRPr/>
            </a:pP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CPU, RAM, Disk, Netzwerk – Port 9100</a:t>
            </a:r>
            <a:endParaRPr lang="en-US" sz="1100"/>
          </a:p>
        </p:txBody>
      </p:sp>
      <p:sp>
        <p:nvSpPr>
          <p:cNvPr id="353330540" name="Shape 23"/>
          <p:cNvSpPr/>
          <p:nvPr/>
        </p:nvSpPr>
        <p:spPr bwMode="auto">
          <a:xfrm>
            <a:off x="3337560" y="2788920"/>
            <a:ext cx="2743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358871465" name="Shape 24"/>
          <p:cNvSpPr/>
          <p:nvPr/>
        </p:nvSpPr>
        <p:spPr bwMode="auto">
          <a:xfrm>
            <a:off x="3337560" y="2788920"/>
            <a:ext cx="2743200" cy="38404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4192479" name="Text 25"/>
          <p:cNvSpPr/>
          <p:nvPr/>
        </p:nvSpPr>
        <p:spPr bwMode="auto">
          <a:xfrm>
            <a:off x="3447288" y="282549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Windows Exporter</a:t>
            </a:r>
            <a:endParaRPr lang="en-US" sz="1300"/>
          </a:p>
        </p:txBody>
      </p:sp>
      <p:sp>
        <p:nvSpPr>
          <p:cNvPr id="1801627816" name="Text 26"/>
          <p:cNvSpPr/>
          <p:nvPr/>
        </p:nvSpPr>
        <p:spPr bwMode="auto">
          <a:xfrm>
            <a:off x="3429000" y="32461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0369A1"/>
                </a:solidFill>
                <a:latin typeface="Calibri"/>
                <a:ea typeface="Calibri"/>
                <a:cs typeface="Calibri"/>
              </a:rPr>
              <a:t>Windows-Metriken</a:t>
            </a:r>
            <a:endParaRPr lang="en-US" sz="1100"/>
          </a:p>
        </p:txBody>
      </p:sp>
      <p:sp>
        <p:nvSpPr>
          <p:cNvPr id="893791350" name="Text 27"/>
          <p:cNvSpPr/>
          <p:nvPr/>
        </p:nvSpPr>
        <p:spPr bwMode="auto">
          <a:xfrm>
            <a:off x="3429000" y="3538728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  <a:defRPr/>
            </a:pP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CPU, RAM, Disk, Netzwerk – Port 9182</a:t>
            </a:r>
            <a:endParaRPr lang="en-US" sz="1100"/>
          </a:p>
        </p:txBody>
      </p:sp>
      <p:sp>
        <p:nvSpPr>
          <p:cNvPr id="1896857497" name="Shape 28"/>
          <p:cNvSpPr/>
          <p:nvPr/>
        </p:nvSpPr>
        <p:spPr bwMode="auto">
          <a:xfrm>
            <a:off x="6263640" y="2788920"/>
            <a:ext cx="2743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557030237" name="Shape 29"/>
          <p:cNvSpPr/>
          <p:nvPr/>
        </p:nvSpPr>
        <p:spPr bwMode="auto">
          <a:xfrm>
            <a:off x="6263640" y="2788920"/>
            <a:ext cx="2743200" cy="38404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37866074" name="Text 30"/>
          <p:cNvSpPr/>
          <p:nvPr/>
        </p:nvSpPr>
        <p:spPr bwMode="auto">
          <a:xfrm>
            <a:off x="6373368" y="282549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Blackbox Exporter</a:t>
            </a:r>
            <a:endParaRPr lang="en-US" sz="1300"/>
          </a:p>
        </p:txBody>
      </p:sp>
      <p:sp>
        <p:nvSpPr>
          <p:cNvPr id="918166972" name="Text 31"/>
          <p:cNvSpPr/>
          <p:nvPr/>
        </p:nvSpPr>
        <p:spPr bwMode="auto">
          <a:xfrm>
            <a:off x="6355080" y="32461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0F766E"/>
                </a:solidFill>
                <a:latin typeface="Calibri"/>
                <a:ea typeface="Calibri"/>
                <a:cs typeface="Calibri"/>
              </a:rPr>
              <a:t>Erreichbarkeit</a:t>
            </a:r>
            <a:endParaRPr lang="en-US" sz="1100"/>
          </a:p>
        </p:txBody>
      </p:sp>
      <p:sp>
        <p:nvSpPr>
          <p:cNvPr id="273427752" name="Text 32"/>
          <p:cNvSpPr/>
          <p:nvPr/>
        </p:nvSpPr>
        <p:spPr bwMode="auto">
          <a:xfrm>
            <a:off x="6355080" y="3538728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  <a:defRPr/>
            </a:pP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HTTP / ICMP Probes – Dienst- und Ping-Monitoring</a:t>
            </a:r>
            <a:endParaRPr lang="en-US" sz="1100"/>
          </a:p>
        </p:txBody>
      </p:sp>
      <p:sp>
        <p:nvSpPr>
          <p:cNvPr id="900050" name="Seitenzahl"/>
          <p:cNvSpPr/>
          <p:nvPr/>
        </p:nvSpPr>
        <p:spPr bwMode="auto">
          <a:xfrm>
            <a:off x="8250000" y="4970000"/>
            <a:ext cx="750000" cy="1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de-DE" sz="900" dirty="0">
                <a:solidFill>
                  <a:srgbClr val="5A8AB0"/>
                </a:solidFill>
                <a:latin typeface="Calibri"/>
                <a:ea typeface="Calibri"/>
                <a:cs typeface="Calibri"/>
              </a:rPr>
              <a:t>18 von 28</a:t>
            </a:r>
            <a:endParaRPr lang="de-DE" sz="9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 name="Slide 11"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9990477" name="!!Shape 4"/>
          <p:cNvSpPr/>
          <p:nvPr/>
        </p:nvSpPr>
        <p:spPr bwMode="auto">
          <a:xfrm>
            <a:off x="0" y="0"/>
            <a:ext cx="228600" cy="5143500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23229412" name="Text 1"/>
          <p:cNvSpPr/>
          <p:nvPr/>
        </p:nvSpPr>
        <p:spPr bwMode="auto">
          <a:xfrm>
            <a:off x="50292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7200" b="1" dirty="0">
                <a:solidFill>
                  <a:srgbClr val="2E74B5"/>
                </a:soli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  <a:latin typeface="Calibri"/>
                <a:ea typeface="Calibri"/>
                <a:cs typeface="Calibri"/>
              </a:rPr>
              <a:t>05</a:t>
            </a:r>
            <a:endParaRPr lang="en-US" sz="7200" dirty="0">
              <a:effectLst>
                <a:outerShdw blurRad="50800" dist="38100" dir="16200000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1773688468" name="!!Text 2"/>
          <p:cNvSpPr/>
          <p:nvPr/>
        </p:nvSpPr>
        <p:spPr bwMode="auto">
          <a:xfrm>
            <a:off x="502920" y="26517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32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Implementierung</a:t>
            </a:r>
            <a:endParaRPr lang="en-US" sz="3200" dirty="0"/>
          </a:p>
        </p:txBody>
      </p:sp>
      <p:cxnSp>
        <p:nvCxnSpPr>
          <p:cNvPr id="900001" name="Zeitstrahl Linie"/>
          <p:cNvCxnSpPr/>
          <p:nvPr/>
        </p:nvCxnSpPr>
        <p:spPr>
          <a:xfrm>
            <a:off x="502920" y="4688580"/>
            <a:ext cx="8138160" cy="0"/>
          </a:xfrm>
          <a:prstGeom prst="line">
            <a:avLst/>
          </a:prstGeom>
          <a:ln w="9525">
            <a:solidFill>
              <a:srgbClr val="FFFFFF">
                <a:alpha val="3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0002" name="Zeitstrahl Punkt 1"/>
          <p:cNvSpPr/>
          <p:nvPr/>
        </p:nvSpPr>
        <p:spPr bwMode="auto">
          <a:xfrm>
            <a:off x="457200" y="4642860"/>
            <a:ext cx="91440" cy="91440"/>
          </a:xfrm>
          <a:prstGeom prst="ellipse">
            <a:avLst/>
          </a:prstGeom>
          <a:solidFill>
            <a:srgbClr val="FFFFFF">
              <a:alpha val="25000"/>
            </a:srgbClr>
          </a:solidFill>
          <a:ln w="9525">
            <a:solidFill>
              <a:srgbClr val="FFFFFF">
                <a:alpha val="45000"/>
              </a:srgbClr>
            </a:solidFill>
          </a:ln>
        </p:spPr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00003" name="Zeitstrahl Punkt 2"/>
          <p:cNvSpPr/>
          <p:nvPr/>
        </p:nvSpPr>
        <p:spPr bwMode="auto">
          <a:xfrm>
            <a:off x="1619794" y="4642860"/>
            <a:ext cx="91440" cy="91440"/>
          </a:xfrm>
          <a:prstGeom prst="ellipse">
            <a:avLst/>
          </a:prstGeom>
          <a:solidFill>
            <a:srgbClr val="FFFFFF">
              <a:alpha val="25000"/>
            </a:srgbClr>
          </a:solidFill>
          <a:ln w="9525">
            <a:solidFill>
              <a:srgbClr val="FFFFFF">
                <a:alpha val="45000"/>
              </a:srgbClr>
            </a:solidFill>
          </a:ln>
        </p:spPr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00004" name="Zeitstrahl Punkt 3"/>
          <p:cNvSpPr/>
          <p:nvPr/>
        </p:nvSpPr>
        <p:spPr bwMode="auto">
          <a:xfrm>
            <a:off x="2782389" y="4642860"/>
            <a:ext cx="91440" cy="91440"/>
          </a:xfrm>
          <a:prstGeom prst="ellipse">
            <a:avLst/>
          </a:prstGeom>
          <a:solidFill>
            <a:srgbClr val="FFFFFF">
              <a:alpha val="25000"/>
            </a:srgbClr>
          </a:solidFill>
          <a:ln w="9525">
            <a:solidFill>
              <a:srgbClr val="FFFFFF">
                <a:alpha val="45000"/>
              </a:srgbClr>
            </a:solidFill>
          </a:ln>
        </p:spPr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00005" name="Zeitstrahl Punkt 4"/>
          <p:cNvSpPr/>
          <p:nvPr/>
        </p:nvSpPr>
        <p:spPr bwMode="auto">
          <a:xfrm>
            <a:off x="3944983" y="4642860"/>
            <a:ext cx="91440" cy="91440"/>
          </a:xfrm>
          <a:prstGeom prst="ellipse">
            <a:avLst/>
          </a:prstGeom>
          <a:solidFill>
            <a:srgbClr val="FFFFFF">
              <a:alpha val="25000"/>
            </a:srgbClr>
          </a:solidFill>
          <a:ln w="9525">
            <a:solidFill>
              <a:srgbClr val="FFFFFF">
                <a:alpha val="45000"/>
              </a:srgbClr>
            </a:solidFill>
          </a:ln>
        </p:spPr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00006" name="Zeitstrahl Punkt 5"/>
          <p:cNvSpPr/>
          <p:nvPr/>
        </p:nvSpPr>
        <p:spPr bwMode="auto">
          <a:xfrm>
            <a:off x="5084717" y="4620000"/>
            <a:ext cx="137160" cy="1371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00007" name="Zeitstrahl Punkt 6"/>
          <p:cNvSpPr/>
          <p:nvPr/>
        </p:nvSpPr>
        <p:spPr bwMode="auto">
          <a:xfrm>
            <a:off x="6270171" y="4642860"/>
            <a:ext cx="91440" cy="91440"/>
          </a:xfrm>
          <a:prstGeom prst="ellipse">
            <a:avLst/>
          </a:prstGeom>
          <a:solidFill>
            <a:srgbClr val="FFFFFF">
              <a:alpha val="25000"/>
            </a:srgbClr>
          </a:solidFill>
          <a:ln w="9525">
            <a:solidFill>
              <a:srgbClr val="FFFFFF">
                <a:alpha val="45000"/>
              </a:srgbClr>
            </a:solidFill>
          </a:ln>
        </p:spPr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00008" name="Zeitstrahl Punkt 7"/>
          <p:cNvSpPr/>
          <p:nvPr/>
        </p:nvSpPr>
        <p:spPr bwMode="auto">
          <a:xfrm>
            <a:off x="7432766" y="4642860"/>
            <a:ext cx="91440" cy="91440"/>
          </a:xfrm>
          <a:prstGeom prst="ellipse">
            <a:avLst/>
          </a:prstGeom>
          <a:solidFill>
            <a:srgbClr val="FFFFFF">
              <a:alpha val="25000"/>
            </a:srgbClr>
          </a:solidFill>
          <a:ln w="9525">
            <a:solidFill>
              <a:srgbClr val="FFFFFF">
                <a:alpha val="45000"/>
              </a:srgbClr>
            </a:solidFill>
          </a:ln>
        </p:spPr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00009" name="Zeitstrahl Punkt 8"/>
          <p:cNvSpPr/>
          <p:nvPr/>
        </p:nvSpPr>
        <p:spPr bwMode="auto">
          <a:xfrm>
            <a:off x="8595360" y="4642860"/>
            <a:ext cx="91440" cy="91440"/>
          </a:xfrm>
          <a:prstGeom prst="ellipse">
            <a:avLst/>
          </a:prstGeom>
          <a:solidFill>
            <a:srgbClr val="FFFFFF">
              <a:alpha val="25000"/>
            </a:srgbClr>
          </a:solidFill>
          <a:ln w="9525">
            <a:solidFill>
              <a:srgbClr val="FFFFFF">
                <a:alpha val="45000"/>
              </a:srgbClr>
            </a:solidFill>
          </a:ln>
        </p:spPr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00050" name="Seitenzahl"/>
          <p:cNvSpPr/>
          <p:nvPr/>
        </p:nvSpPr>
        <p:spPr bwMode="auto">
          <a:xfrm>
            <a:off x="8250000" y="4970000"/>
            <a:ext cx="750000" cy="1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de-DE" sz="900" dirty="0">
                <a:solidFill>
                  <a:srgbClr val="FFFFFF">
                    <a:alpha val="55000"/>
                  </a:srgbClr>
                </a:solidFill>
                <a:latin typeface="Calibri"/>
                <a:ea typeface="Calibri"/>
                <a:cs typeface="Calibri"/>
              </a:rPr>
              <a:t>19 von 28</a:t>
            </a:r>
            <a:endParaRPr lang="de-DE" sz="9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rgbClr val="F7F9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3837D0B-BF73-FAB9-2270-19823F714098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6239908" name="!!Text 2">
            <a:extLst>
              <a:ext uri="{FF2B5EF4-FFF2-40B4-BE49-F238E27FC236}">
                <a16:creationId xmlns:a16="http://schemas.microsoft.com/office/drawing/2014/main" id="{DE7D0AAC-497D-05B0-2758-5E6B702E8AE3}"/>
              </a:ext>
            </a:extLst>
          </p:cNvPr>
          <p:cNvSpPr/>
          <p:nvPr/>
        </p:nvSpPr>
        <p:spPr bwMode="auto">
          <a:xfrm>
            <a:off x="411480" y="166656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2600" b="1" dirty="0" err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Implementierung</a:t>
            </a:r>
            <a:r>
              <a:rPr lang="en-US" sz="2600" b="1" dirty="0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 xml:space="preserve"> – Schritt für Schritt</a:t>
            </a:r>
            <a:endParaRPr lang="en-US" sz="2600" dirty="0"/>
          </a:p>
        </p:txBody>
      </p:sp>
      <p:sp>
        <p:nvSpPr>
          <p:cNvPr id="141096794" name="Shape 1">
            <a:extLst>
              <a:ext uri="{FF2B5EF4-FFF2-40B4-BE49-F238E27FC236}">
                <a16:creationId xmlns:a16="http://schemas.microsoft.com/office/drawing/2014/main" id="{248C8025-F300-0FBA-0C7D-B10A063F0B3B}"/>
              </a:ext>
            </a:extLst>
          </p:cNvPr>
          <p:cNvSpPr/>
          <p:nvPr/>
        </p:nvSpPr>
        <p:spPr bwMode="auto">
          <a:xfrm>
            <a:off x="411480" y="788448"/>
            <a:ext cx="8321039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86940380" name="Shape 3">
            <a:extLst>
              <a:ext uri="{FF2B5EF4-FFF2-40B4-BE49-F238E27FC236}">
                <a16:creationId xmlns:a16="http://schemas.microsoft.com/office/drawing/2014/main" id="{8A079B05-65DA-2858-0525-942F22B5EC4D}"/>
              </a:ext>
            </a:extLst>
          </p:cNvPr>
          <p:cNvSpPr/>
          <p:nvPr/>
        </p:nvSpPr>
        <p:spPr bwMode="auto">
          <a:xfrm>
            <a:off x="411480" y="1173891"/>
            <a:ext cx="8321039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66350422" name="!!Shape 4">
            <a:extLst>
              <a:ext uri="{FF2B5EF4-FFF2-40B4-BE49-F238E27FC236}">
                <a16:creationId xmlns:a16="http://schemas.microsoft.com/office/drawing/2014/main" id="{5E7B07F7-347A-3DD2-7F3C-0FEE8CAFA4A7}"/>
              </a:ext>
            </a:extLst>
          </p:cNvPr>
          <p:cNvSpPr/>
          <p:nvPr/>
        </p:nvSpPr>
        <p:spPr bwMode="auto">
          <a:xfrm>
            <a:off x="411480" y="1173891"/>
            <a:ext cx="502920" cy="62179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13583295" name="Text 5">
            <a:extLst>
              <a:ext uri="{FF2B5EF4-FFF2-40B4-BE49-F238E27FC236}">
                <a16:creationId xmlns:a16="http://schemas.microsoft.com/office/drawing/2014/main" id="{52AA6991-E73D-B34A-1F11-D6B6ABCF8B2D}"/>
              </a:ext>
            </a:extLst>
          </p:cNvPr>
          <p:cNvSpPr/>
          <p:nvPr/>
        </p:nvSpPr>
        <p:spPr bwMode="auto">
          <a:xfrm>
            <a:off x="411480" y="1173891"/>
            <a:ext cx="502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lang="en-US" sz="1800"/>
          </a:p>
        </p:txBody>
      </p:sp>
      <p:sp>
        <p:nvSpPr>
          <p:cNvPr id="2143755094" name="Text 6">
            <a:extLst>
              <a:ext uri="{FF2B5EF4-FFF2-40B4-BE49-F238E27FC236}">
                <a16:creationId xmlns:a16="http://schemas.microsoft.com/office/drawing/2014/main" id="{000B3A74-A8DB-FA0E-6F82-0612BE1FADCB}"/>
              </a:ext>
            </a:extLst>
          </p:cNvPr>
          <p:cNvSpPr/>
          <p:nvPr/>
        </p:nvSpPr>
        <p:spPr bwMode="auto">
          <a:xfrm>
            <a:off x="1005840" y="1228755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VMs erstellen &amp; OS installieren</a:t>
            </a:r>
            <a:endParaRPr lang="en-US" sz="1200"/>
          </a:p>
        </p:txBody>
      </p:sp>
      <p:sp>
        <p:nvSpPr>
          <p:cNvPr id="1241077090" name="Text 7">
            <a:extLst>
              <a:ext uri="{FF2B5EF4-FFF2-40B4-BE49-F238E27FC236}">
                <a16:creationId xmlns:a16="http://schemas.microsoft.com/office/drawing/2014/main" id="{0C9D4076-01B1-BC7F-5327-42C422247B43}"/>
              </a:ext>
            </a:extLst>
          </p:cNvPr>
          <p:cNvSpPr/>
          <p:nvPr/>
        </p:nvSpPr>
        <p:spPr bwMode="auto">
          <a:xfrm>
            <a:off x="1005840" y="1503075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Ubuntu 22.04 (×2), Windows Server 2022, Windows 11 – alle im selben virtuellen Netz</a:t>
            </a:r>
            <a:endParaRPr lang="en-US" sz="1100"/>
          </a:p>
        </p:txBody>
      </p:sp>
      <p:sp>
        <p:nvSpPr>
          <p:cNvPr id="1065925424" name="Shape 8">
            <a:extLst>
              <a:ext uri="{FF2B5EF4-FFF2-40B4-BE49-F238E27FC236}">
                <a16:creationId xmlns:a16="http://schemas.microsoft.com/office/drawing/2014/main" id="{2E698C8B-8E34-4FF1-F832-C89AE2A2DABD}"/>
              </a:ext>
            </a:extLst>
          </p:cNvPr>
          <p:cNvSpPr/>
          <p:nvPr/>
        </p:nvSpPr>
        <p:spPr bwMode="auto">
          <a:xfrm>
            <a:off x="411480" y="2238352"/>
            <a:ext cx="8321039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93661706" name="Shape 9">
            <a:extLst>
              <a:ext uri="{FF2B5EF4-FFF2-40B4-BE49-F238E27FC236}">
                <a16:creationId xmlns:a16="http://schemas.microsoft.com/office/drawing/2014/main" id="{0A8E640C-B357-E113-0066-167F874E1BE1}"/>
              </a:ext>
            </a:extLst>
          </p:cNvPr>
          <p:cNvSpPr/>
          <p:nvPr/>
        </p:nvSpPr>
        <p:spPr bwMode="auto">
          <a:xfrm>
            <a:off x="411480" y="2238352"/>
            <a:ext cx="502920" cy="621792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17347758" name="Text 10">
            <a:extLst>
              <a:ext uri="{FF2B5EF4-FFF2-40B4-BE49-F238E27FC236}">
                <a16:creationId xmlns:a16="http://schemas.microsoft.com/office/drawing/2014/main" id="{95FE19DE-3584-CB6E-CBA9-9C35289899EB}"/>
              </a:ext>
            </a:extLst>
          </p:cNvPr>
          <p:cNvSpPr/>
          <p:nvPr/>
        </p:nvSpPr>
        <p:spPr bwMode="auto">
          <a:xfrm>
            <a:off x="411480" y="2238352"/>
            <a:ext cx="502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lang="en-US" sz="1800"/>
          </a:p>
        </p:txBody>
      </p:sp>
      <p:sp>
        <p:nvSpPr>
          <p:cNvPr id="992388136" name="Text 11">
            <a:extLst>
              <a:ext uri="{FF2B5EF4-FFF2-40B4-BE49-F238E27FC236}">
                <a16:creationId xmlns:a16="http://schemas.microsoft.com/office/drawing/2014/main" id="{0FE6D95E-850E-3C27-20BC-4C5A3330659B}"/>
              </a:ext>
            </a:extLst>
          </p:cNvPr>
          <p:cNvSpPr/>
          <p:nvPr/>
        </p:nvSpPr>
        <p:spPr bwMode="auto">
          <a:xfrm>
            <a:off x="1005840" y="229321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Dienste installieren</a:t>
            </a:r>
            <a:endParaRPr lang="en-US" sz="1200"/>
          </a:p>
        </p:txBody>
      </p:sp>
      <p:sp>
        <p:nvSpPr>
          <p:cNvPr id="691101513" name="Text 12">
            <a:extLst>
              <a:ext uri="{FF2B5EF4-FFF2-40B4-BE49-F238E27FC236}">
                <a16:creationId xmlns:a16="http://schemas.microsoft.com/office/drawing/2014/main" id="{C328D4D8-483D-751F-8891-B33E728C7E28}"/>
              </a:ext>
            </a:extLst>
          </p:cNvPr>
          <p:cNvSpPr/>
          <p:nvPr/>
        </p:nvSpPr>
        <p:spPr bwMode="auto">
          <a:xfrm>
            <a:off x="1005840" y="2567536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FTP-Server (</a:t>
            </a:r>
            <a:r>
              <a:rPr lang="de-DE" sz="11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IIS</a:t>
            </a: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) auf Windows Server 2022 · Apache Webserver auf Ubuntu</a:t>
            </a:r>
            <a:endParaRPr lang="en-US" sz="1100"/>
          </a:p>
        </p:txBody>
      </p:sp>
      <p:sp>
        <p:nvSpPr>
          <p:cNvPr id="1538804328" name="Shape 13">
            <a:extLst>
              <a:ext uri="{FF2B5EF4-FFF2-40B4-BE49-F238E27FC236}">
                <a16:creationId xmlns:a16="http://schemas.microsoft.com/office/drawing/2014/main" id="{E585A877-D5E9-ACC8-8CB5-EC8E094C4E3C}"/>
              </a:ext>
            </a:extLst>
          </p:cNvPr>
          <p:cNvSpPr/>
          <p:nvPr/>
        </p:nvSpPr>
        <p:spPr bwMode="auto">
          <a:xfrm>
            <a:off x="411480" y="3381536"/>
            <a:ext cx="8321039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74622113" name="Shape 14">
            <a:extLst>
              <a:ext uri="{FF2B5EF4-FFF2-40B4-BE49-F238E27FC236}">
                <a16:creationId xmlns:a16="http://schemas.microsoft.com/office/drawing/2014/main" id="{37CF45D3-C21C-55D4-A790-7852036C4028}"/>
              </a:ext>
            </a:extLst>
          </p:cNvPr>
          <p:cNvSpPr/>
          <p:nvPr/>
        </p:nvSpPr>
        <p:spPr bwMode="auto">
          <a:xfrm>
            <a:off x="411480" y="3381536"/>
            <a:ext cx="502920" cy="621792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508209758" name="Text 15">
            <a:extLst>
              <a:ext uri="{FF2B5EF4-FFF2-40B4-BE49-F238E27FC236}">
                <a16:creationId xmlns:a16="http://schemas.microsoft.com/office/drawing/2014/main" id="{3F05D46D-1534-166A-8A0F-39CF9691923D}"/>
              </a:ext>
            </a:extLst>
          </p:cNvPr>
          <p:cNvSpPr/>
          <p:nvPr/>
        </p:nvSpPr>
        <p:spPr bwMode="auto">
          <a:xfrm>
            <a:off x="411480" y="3381536"/>
            <a:ext cx="502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lang="en-US" sz="1800"/>
          </a:p>
        </p:txBody>
      </p:sp>
      <p:sp>
        <p:nvSpPr>
          <p:cNvPr id="562656948" name="Text 16">
            <a:extLst>
              <a:ext uri="{FF2B5EF4-FFF2-40B4-BE49-F238E27FC236}">
                <a16:creationId xmlns:a16="http://schemas.microsoft.com/office/drawing/2014/main" id="{B5860D74-2F7F-2A25-5543-09B786982042}"/>
              </a:ext>
            </a:extLst>
          </p:cNvPr>
          <p:cNvSpPr/>
          <p:nvPr/>
        </p:nvSpPr>
        <p:spPr bwMode="auto">
          <a:xfrm>
            <a:off x="1005840" y="3436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Exporters auf allen Systemen</a:t>
            </a:r>
            <a:endParaRPr lang="en-US" sz="1200"/>
          </a:p>
        </p:txBody>
      </p:sp>
      <p:sp>
        <p:nvSpPr>
          <p:cNvPr id="1764880135" name="Text 17">
            <a:extLst>
              <a:ext uri="{FF2B5EF4-FFF2-40B4-BE49-F238E27FC236}">
                <a16:creationId xmlns:a16="http://schemas.microsoft.com/office/drawing/2014/main" id="{C013AFB9-D8AF-526A-8046-456DA72602B5}"/>
              </a:ext>
            </a:extLst>
          </p:cNvPr>
          <p:cNvSpPr/>
          <p:nvPr/>
        </p:nvSpPr>
        <p:spPr bwMode="auto">
          <a:xfrm>
            <a:off x="1005840" y="3710720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Node Exporter (Linux), Windows Exporter (Windows), Blackbox Exporter (Monitoring-VM)</a:t>
            </a:r>
            <a:endParaRPr lang="en-US" sz="1100"/>
          </a:p>
        </p:txBody>
      </p:sp>
      <p:sp>
        <p:nvSpPr>
          <p:cNvPr id="900050" name="Seitenzahl"/>
          <p:cNvSpPr/>
          <p:nvPr/>
        </p:nvSpPr>
        <p:spPr bwMode="auto">
          <a:xfrm>
            <a:off x="8250000" y="4970000"/>
            <a:ext cx="750000" cy="1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de-DE" sz="900" dirty="0">
                <a:solidFill>
                  <a:srgbClr val="5A8AB0"/>
                </a:solidFill>
                <a:latin typeface="Calibri"/>
                <a:ea typeface="Calibri"/>
                <a:cs typeface="Calibri"/>
              </a:rPr>
              <a:t>20 von 28</a:t>
            </a:r>
            <a:endParaRPr lang="de-DE" sz="900"/>
          </a:p>
        </p:txBody>
      </p:sp>
    </p:spTree>
    <p:extLst>
      <p:ext uri="{BB962C8B-B14F-4D97-AF65-F5344CB8AC3E}">
        <p14:creationId xmlns:p14="http://schemas.microsoft.com/office/powerpoint/2010/main" val="36477704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 name="Slide 1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6239908" name="!!Text 2"/>
          <p:cNvSpPr/>
          <p:nvPr/>
        </p:nvSpPr>
        <p:spPr bwMode="auto">
          <a:xfrm>
            <a:off x="411480" y="166656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2600" b="1" dirty="0" err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Implementierung</a:t>
            </a:r>
            <a:r>
              <a:rPr lang="en-US" sz="2600" b="1" dirty="0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 xml:space="preserve"> – Schritt für Schritt</a:t>
            </a:r>
            <a:endParaRPr lang="en-US" sz="2600" dirty="0"/>
          </a:p>
        </p:txBody>
      </p:sp>
      <p:sp>
        <p:nvSpPr>
          <p:cNvPr id="141096794" name="Shape 1"/>
          <p:cNvSpPr/>
          <p:nvPr/>
        </p:nvSpPr>
        <p:spPr bwMode="auto">
          <a:xfrm>
            <a:off x="411480" y="788448"/>
            <a:ext cx="8321039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22177226" name="Shape 18"/>
          <p:cNvSpPr/>
          <p:nvPr/>
        </p:nvSpPr>
        <p:spPr bwMode="auto">
          <a:xfrm>
            <a:off x="411480" y="1175949"/>
            <a:ext cx="8321039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979293264" name="Shape 19"/>
          <p:cNvSpPr/>
          <p:nvPr/>
        </p:nvSpPr>
        <p:spPr bwMode="auto">
          <a:xfrm>
            <a:off x="411480" y="1175949"/>
            <a:ext cx="502920" cy="6217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953877928" name="Text 20"/>
          <p:cNvSpPr/>
          <p:nvPr/>
        </p:nvSpPr>
        <p:spPr bwMode="auto">
          <a:xfrm>
            <a:off x="411480" y="1175949"/>
            <a:ext cx="502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 lang="en-US" sz="1800"/>
          </a:p>
        </p:txBody>
      </p:sp>
      <p:sp>
        <p:nvSpPr>
          <p:cNvPr id="1044276522" name="Text 21"/>
          <p:cNvSpPr/>
          <p:nvPr/>
        </p:nvSpPr>
        <p:spPr bwMode="auto">
          <a:xfrm>
            <a:off x="1005840" y="1230813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Prometheus konfigurieren</a:t>
            </a:r>
            <a:endParaRPr lang="en-US" sz="1200"/>
          </a:p>
        </p:txBody>
      </p:sp>
      <p:sp>
        <p:nvSpPr>
          <p:cNvPr id="442684820" name="Text 22"/>
          <p:cNvSpPr/>
          <p:nvPr/>
        </p:nvSpPr>
        <p:spPr bwMode="auto">
          <a:xfrm>
            <a:off x="1005840" y="1505133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prometheus.yml: Scrape-Targets, Jobs, Intervall 15s · Als Systemdienst gestartet</a:t>
            </a:r>
            <a:endParaRPr lang="en-US" sz="1100"/>
          </a:p>
        </p:txBody>
      </p:sp>
      <p:sp>
        <p:nvSpPr>
          <p:cNvPr id="897058526" name="Shape 23"/>
          <p:cNvSpPr/>
          <p:nvPr/>
        </p:nvSpPr>
        <p:spPr bwMode="auto">
          <a:xfrm>
            <a:off x="411480" y="2240404"/>
            <a:ext cx="8321039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75331205" name="Shape 24"/>
          <p:cNvSpPr/>
          <p:nvPr/>
        </p:nvSpPr>
        <p:spPr bwMode="auto">
          <a:xfrm>
            <a:off x="411480" y="2240404"/>
            <a:ext cx="502920" cy="621792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88541698" name="Text 25"/>
          <p:cNvSpPr/>
          <p:nvPr/>
        </p:nvSpPr>
        <p:spPr bwMode="auto">
          <a:xfrm>
            <a:off x="411480" y="2240404"/>
            <a:ext cx="502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  <a:endParaRPr lang="en-US" sz="1800"/>
          </a:p>
        </p:txBody>
      </p:sp>
      <p:sp>
        <p:nvSpPr>
          <p:cNvPr id="1071788120" name="Text 26"/>
          <p:cNvSpPr/>
          <p:nvPr/>
        </p:nvSpPr>
        <p:spPr bwMode="auto">
          <a:xfrm>
            <a:off x="1005840" y="22952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Grafana &amp; Dashboards</a:t>
            </a:r>
            <a:endParaRPr lang="en-US" sz="1200"/>
          </a:p>
        </p:txBody>
      </p:sp>
      <p:sp>
        <p:nvSpPr>
          <p:cNvPr id="1581106595" name="Text 27"/>
          <p:cNvSpPr/>
          <p:nvPr/>
        </p:nvSpPr>
        <p:spPr bwMode="auto">
          <a:xfrm>
            <a:off x="1005840" y="2569588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Prometheus als Datenquelle · Individuelle Dashboards pro System und Gesamtübersicht</a:t>
            </a:r>
            <a:endParaRPr lang="en-US" sz="1100"/>
          </a:p>
        </p:txBody>
      </p:sp>
      <p:sp>
        <p:nvSpPr>
          <p:cNvPr id="2103267391" name="Shape 28"/>
          <p:cNvSpPr/>
          <p:nvPr/>
        </p:nvSpPr>
        <p:spPr bwMode="auto">
          <a:xfrm>
            <a:off x="411480" y="3377533"/>
            <a:ext cx="8321039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33782344" name="!!Shape 29"/>
          <p:cNvSpPr/>
          <p:nvPr/>
        </p:nvSpPr>
        <p:spPr bwMode="auto">
          <a:xfrm>
            <a:off x="411480" y="3377533"/>
            <a:ext cx="502920" cy="62179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30493578" name="Text 30"/>
          <p:cNvSpPr/>
          <p:nvPr/>
        </p:nvSpPr>
        <p:spPr bwMode="auto">
          <a:xfrm>
            <a:off x="411480" y="3377533"/>
            <a:ext cx="502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6</a:t>
            </a:r>
            <a:endParaRPr lang="en-US" sz="1800"/>
          </a:p>
        </p:txBody>
      </p:sp>
      <p:sp>
        <p:nvSpPr>
          <p:cNvPr id="864439876" name="Text 31"/>
          <p:cNvSpPr/>
          <p:nvPr/>
        </p:nvSpPr>
        <p:spPr bwMode="auto">
          <a:xfrm>
            <a:off x="1005840" y="3432397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Alerting konfigurieren</a:t>
            </a:r>
            <a:endParaRPr lang="en-US" sz="1200"/>
          </a:p>
        </p:txBody>
      </p:sp>
      <p:sp>
        <p:nvSpPr>
          <p:cNvPr id="605356952" name="Text 32"/>
          <p:cNvSpPr/>
          <p:nvPr/>
        </p:nvSpPr>
        <p:spPr bwMode="auto">
          <a:xfrm>
            <a:off x="1005840" y="3706717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 xml:space="preserve">Alert-Regeln (CPU &gt;90%, RAM &gt;85%, Disk </a:t>
            </a:r>
            <a:r>
              <a:rPr lang="de-DE" sz="11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&gt;80</a:t>
            </a: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%, Host down) · Alertmanager → E-Mail</a:t>
            </a:r>
            <a:endParaRPr lang="en-US" sz="1100"/>
          </a:p>
        </p:txBody>
      </p:sp>
      <p:sp>
        <p:nvSpPr>
          <p:cNvPr id="900050" name="Seitenzahl"/>
          <p:cNvSpPr/>
          <p:nvPr/>
        </p:nvSpPr>
        <p:spPr bwMode="auto">
          <a:xfrm>
            <a:off x="8250000" y="4970000"/>
            <a:ext cx="750000" cy="1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de-DE" sz="900" dirty="0">
                <a:solidFill>
                  <a:srgbClr val="5A8AB0"/>
                </a:solidFill>
                <a:latin typeface="Calibri"/>
                <a:ea typeface="Calibri"/>
                <a:cs typeface="Calibri"/>
              </a:rPr>
              <a:t>21 von 28</a:t>
            </a:r>
            <a:endParaRPr lang="de-DE" sz="9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 name="Slide 13"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5588733" name="!!Shape 29"/>
          <p:cNvSpPr/>
          <p:nvPr/>
        </p:nvSpPr>
        <p:spPr bwMode="auto">
          <a:xfrm>
            <a:off x="0" y="0"/>
            <a:ext cx="228600" cy="5143500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0563630" name="Text 1"/>
          <p:cNvSpPr/>
          <p:nvPr/>
        </p:nvSpPr>
        <p:spPr bwMode="auto">
          <a:xfrm>
            <a:off x="50292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7200" b="1" dirty="0">
                <a:solidFill>
                  <a:srgbClr val="2E74B5"/>
                </a:soli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  <a:latin typeface="Calibri"/>
                <a:ea typeface="Calibri"/>
                <a:cs typeface="Calibri"/>
              </a:rPr>
              <a:t>06</a:t>
            </a:r>
            <a:endParaRPr lang="en-US" sz="7200" dirty="0">
              <a:effectLst>
                <a:outerShdw blurRad="50800" dist="38100" dir="16200000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308522008" name="!!Text 5"/>
          <p:cNvSpPr/>
          <p:nvPr/>
        </p:nvSpPr>
        <p:spPr bwMode="auto">
          <a:xfrm>
            <a:off x="502920" y="26517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32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 xml:space="preserve">Tests &amp; </a:t>
            </a:r>
            <a:r>
              <a:rPr lang="en-US" sz="32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Ergebnisse</a:t>
            </a:r>
            <a:endParaRPr lang="en-US" sz="3200" dirty="0"/>
          </a:p>
        </p:txBody>
      </p:sp>
      <p:cxnSp>
        <p:nvCxnSpPr>
          <p:cNvPr id="900001" name="Zeitstrahl Linie"/>
          <p:cNvCxnSpPr/>
          <p:nvPr/>
        </p:nvCxnSpPr>
        <p:spPr>
          <a:xfrm>
            <a:off x="502920" y="4688580"/>
            <a:ext cx="8138160" cy="0"/>
          </a:xfrm>
          <a:prstGeom prst="line">
            <a:avLst/>
          </a:prstGeom>
          <a:ln w="9525">
            <a:solidFill>
              <a:srgbClr val="FFFFFF">
                <a:alpha val="3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0002" name="Zeitstrahl Punkt 1"/>
          <p:cNvSpPr/>
          <p:nvPr/>
        </p:nvSpPr>
        <p:spPr bwMode="auto">
          <a:xfrm>
            <a:off x="457200" y="4642860"/>
            <a:ext cx="91440" cy="91440"/>
          </a:xfrm>
          <a:prstGeom prst="ellipse">
            <a:avLst/>
          </a:prstGeom>
          <a:solidFill>
            <a:srgbClr val="FFFFFF">
              <a:alpha val="25000"/>
            </a:srgbClr>
          </a:solidFill>
          <a:ln w="9525">
            <a:solidFill>
              <a:srgbClr val="FFFFFF">
                <a:alpha val="45000"/>
              </a:srgbClr>
            </a:solidFill>
          </a:ln>
        </p:spPr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00003" name="Zeitstrahl Punkt 2"/>
          <p:cNvSpPr/>
          <p:nvPr/>
        </p:nvSpPr>
        <p:spPr bwMode="auto">
          <a:xfrm>
            <a:off x="1619794" y="4642860"/>
            <a:ext cx="91440" cy="91440"/>
          </a:xfrm>
          <a:prstGeom prst="ellipse">
            <a:avLst/>
          </a:prstGeom>
          <a:solidFill>
            <a:srgbClr val="FFFFFF">
              <a:alpha val="25000"/>
            </a:srgbClr>
          </a:solidFill>
          <a:ln w="9525">
            <a:solidFill>
              <a:srgbClr val="FFFFFF">
                <a:alpha val="45000"/>
              </a:srgbClr>
            </a:solidFill>
          </a:ln>
        </p:spPr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00004" name="Zeitstrahl Punkt 3"/>
          <p:cNvSpPr/>
          <p:nvPr/>
        </p:nvSpPr>
        <p:spPr bwMode="auto">
          <a:xfrm>
            <a:off x="2782389" y="4642860"/>
            <a:ext cx="91440" cy="91440"/>
          </a:xfrm>
          <a:prstGeom prst="ellipse">
            <a:avLst/>
          </a:prstGeom>
          <a:solidFill>
            <a:srgbClr val="FFFFFF">
              <a:alpha val="25000"/>
            </a:srgbClr>
          </a:solidFill>
          <a:ln w="9525">
            <a:solidFill>
              <a:srgbClr val="FFFFFF">
                <a:alpha val="45000"/>
              </a:srgbClr>
            </a:solidFill>
          </a:ln>
        </p:spPr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00005" name="Zeitstrahl Punkt 4"/>
          <p:cNvSpPr/>
          <p:nvPr/>
        </p:nvSpPr>
        <p:spPr bwMode="auto">
          <a:xfrm>
            <a:off x="3944983" y="4642860"/>
            <a:ext cx="91440" cy="91440"/>
          </a:xfrm>
          <a:prstGeom prst="ellipse">
            <a:avLst/>
          </a:prstGeom>
          <a:solidFill>
            <a:srgbClr val="FFFFFF">
              <a:alpha val="25000"/>
            </a:srgbClr>
          </a:solidFill>
          <a:ln w="9525">
            <a:solidFill>
              <a:srgbClr val="FFFFFF">
                <a:alpha val="45000"/>
              </a:srgbClr>
            </a:solidFill>
          </a:ln>
        </p:spPr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00006" name="Zeitstrahl Punkt 5"/>
          <p:cNvSpPr/>
          <p:nvPr/>
        </p:nvSpPr>
        <p:spPr bwMode="auto">
          <a:xfrm>
            <a:off x="5107577" y="4642860"/>
            <a:ext cx="91440" cy="91440"/>
          </a:xfrm>
          <a:prstGeom prst="ellipse">
            <a:avLst/>
          </a:prstGeom>
          <a:solidFill>
            <a:srgbClr val="FFFFFF">
              <a:alpha val="25000"/>
            </a:srgbClr>
          </a:solidFill>
          <a:ln w="9525">
            <a:solidFill>
              <a:srgbClr val="FFFFFF">
                <a:alpha val="45000"/>
              </a:srgbClr>
            </a:solidFill>
          </a:ln>
        </p:spPr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00007" name="Zeitstrahl Punkt 6"/>
          <p:cNvSpPr/>
          <p:nvPr/>
        </p:nvSpPr>
        <p:spPr bwMode="auto">
          <a:xfrm>
            <a:off x="6247311" y="4620000"/>
            <a:ext cx="137160" cy="1371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00008" name="Zeitstrahl Punkt 7"/>
          <p:cNvSpPr/>
          <p:nvPr/>
        </p:nvSpPr>
        <p:spPr bwMode="auto">
          <a:xfrm>
            <a:off x="7432766" y="4642860"/>
            <a:ext cx="91440" cy="91440"/>
          </a:xfrm>
          <a:prstGeom prst="ellipse">
            <a:avLst/>
          </a:prstGeom>
          <a:solidFill>
            <a:srgbClr val="FFFFFF">
              <a:alpha val="25000"/>
            </a:srgbClr>
          </a:solidFill>
          <a:ln w="9525">
            <a:solidFill>
              <a:srgbClr val="FFFFFF">
                <a:alpha val="45000"/>
              </a:srgbClr>
            </a:solidFill>
          </a:ln>
        </p:spPr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00009" name="Zeitstrahl Punkt 8"/>
          <p:cNvSpPr/>
          <p:nvPr/>
        </p:nvSpPr>
        <p:spPr bwMode="auto">
          <a:xfrm>
            <a:off x="8595360" y="4642860"/>
            <a:ext cx="91440" cy="91440"/>
          </a:xfrm>
          <a:prstGeom prst="ellipse">
            <a:avLst/>
          </a:prstGeom>
          <a:solidFill>
            <a:srgbClr val="FFFFFF">
              <a:alpha val="25000"/>
            </a:srgbClr>
          </a:solidFill>
          <a:ln w="9525">
            <a:solidFill>
              <a:srgbClr val="FFFFFF">
                <a:alpha val="45000"/>
              </a:srgbClr>
            </a:solidFill>
          </a:ln>
        </p:spPr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00050" name="Seitenzahl"/>
          <p:cNvSpPr/>
          <p:nvPr/>
        </p:nvSpPr>
        <p:spPr bwMode="auto">
          <a:xfrm>
            <a:off x="8250000" y="4970000"/>
            <a:ext cx="750000" cy="1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de-DE" sz="900" dirty="0">
                <a:solidFill>
                  <a:srgbClr val="FFFFFF">
                    <a:alpha val="55000"/>
                  </a:srgbClr>
                </a:solidFill>
                <a:latin typeface="Calibri"/>
                <a:ea typeface="Calibri"/>
                <a:cs typeface="Calibri"/>
              </a:rPr>
              <a:t>22 von 28</a:t>
            </a:r>
            <a:endParaRPr lang="de-DE" sz="9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 name="Slide 1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5383221" name="!!Text 5"/>
          <p:cNvSpPr/>
          <p:nvPr/>
        </p:nvSpPr>
        <p:spPr bwMode="auto">
          <a:xfrm>
            <a:off x="411480" y="201168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2600" b="1" dirty="0" err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Testergebnisse</a:t>
            </a:r>
            <a:endParaRPr lang="en-US" sz="2600" dirty="0"/>
          </a:p>
        </p:txBody>
      </p:sp>
      <p:sp>
        <p:nvSpPr>
          <p:cNvPr id="823380143" name="Shape 1"/>
          <p:cNvSpPr/>
          <p:nvPr/>
        </p:nvSpPr>
        <p:spPr bwMode="auto">
          <a:xfrm>
            <a:off x="411480" y="822960"/>
            <a:ext cx="8321039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39266883" name="Shape 3"/>
          <p:cNvSpPr/>
          <p:nvPr/>
        </p:nvSpPr>
        <p:spPr bwMode="auto">
          <a:xfrm>
            <a:off x="411480" y="960120"/>
            <a:ext cx="8321039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1286340851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48640" y="1069848"/>
            <a:ext cx="347472" cy="347472"/>
          </a:xfrm>
          <a:prstGeom prst="rect">
            <a:avLst/>
          </a:prstGeom>
        </p:spPr>
      </p:pic>
      <p:sp>
        <p:nvSpPr>
          <p:cNvPr id="256780337" name="Text 4"/>
          <p:cNvSpPr/>
          <p:nvPr/>
        </p:nvSpPr>
        <p:spPr bwMode="auto">
          <a:xfrm>
            <a:off x="1005840" y="101498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Exporter-Erreichbarkeit</a:t>
            </a:r>
            <a:endParaRPr lang="en-US" sz="1200"/>
          </a:p>
        </p:txBody>
      </p:sp>
      <p:sp>
        <p:nvSpPr>
          <p:cNvPr id="1761545369" name="Text 5"/>
          <p:cNvSpPr/>
          <p:nvPr/>
        </p:nvSpPr>
        <p:spPr bwMode="auto">
          <a:xfrm>
            <a:off x="1005840" y="1271016"/>
            <a:ext cx="7223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Alle Targets in Prometheus auf Status 'UP'</a:t>
            </a:r>
            <a:endParaRPr lang="en-US" sz="1100"/>
          </a:p>
        </p:txBody>
      </p:sp>
      <p:sp>
        <p:nvSpPr>
          <p:cNvPr id="1523396932" name="Text 6"/>
          <p:cNvSpPr/>
          <p:nvPr/>
        </p:nvSpPr>
        <p:spPr bwMode="auto">
          <a:xfrm>
            <a:off x="7589520" y="105156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1100" b="1">
                <a:solidFill>
                  <a:srgbClr val="0D9488"/>
                </a:solidFill>
                <a:latin typeface="Calibri"/>
                <a:ea typeface="Calibri"/>
                <a:cs typeface="Calibri"/>
              </a:rPr>
              <a:t>✓ Bestanden</a:t>
            </a:r>
            <a:endParaRPr lang="en-US" sz="1100"/>
          </a:p>
        </p:txBody>
      </p:sp>
      <p:sp>
        <p:nvSpPr>
          <p:cNvPr id="28370225" name="Shape 7"/>
          <p:cNvSpPr/>
          <p:nvPr/>
        </p:nvSpPr>
        <p:spPr bwMode="auto">
          <a:xfrm>
            <a:off x="411480" y="1618488"/>
            <a:ext cx="8321039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423089402" name="Image 1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48640" y="1728216"/>
            <a:ext cx="347472" cy="347472"/>
          </a:xfrm>
          <a:prstGeom prst="rect">
            <a:avLst/>
          </a:prstGeom>
        </p:spPr>
      </p:pic>
      <p:sp>
        <p:nvSpPr>
          <p:cNvPr id="836997205" name="Text 8"/>
          <p:cNvSpPr/>
          <p:nvPr/>
        </p:nvSpPr>
        <p:spPr bwMode="auto">
          <a:xfrm>
            <a:off x="1005840" y="167335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Metrik-Korrektheit</a:t>
            </a:r>
            <a:endParaRPr lang="en-US" sz="1200"/>
          </a:p>
        </p:txBody>
      </p:sp>
      <p:sp>
        <p:nvSpPr>
          <p:cNvPr id="436198241" name="Text 9"/>
          <p:cNvSpPr/>
          <p:nvPr/>
        </p:nvSpPr>
        <p:spPr bwMode="auto">
          <a:xfrm>
            <a:off x="1005840" y="1929384"/>
            <a:ext cx="7223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CPU/RAM-Werte verglichen mit Taskmanager / htop</a:t>
            </a:r>
            <a:endParaRPr lang="en-US" sz="1100"/>
          </a:p>
        </p:txBody>
      </p:sp>
      <p:sp>
        <p:nvSpPr>
          <p:cNvPr id="1679651331" name="Text 10"/>
          <p:cNvSpPr/>
          <p:nvPr/>
        </p:nvSpPr>
        <p:spPr bwMode="auto">
          <a:xfrm>
            <a:off x="7589520" y="1709928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1100" b="1">
                <a:solidFill>
                  <a:srgbClr val="0D9488"/>
                </a:solidFill>
                <a:latin typeface="Calibri"/>
                <a:ea typeface="Calibri"/>
                <a:cs typeface="Calibri"/>
              </a:rPr>
              <a:t>✓ Bestanden</a:t>
            </a:r>
            <a:endParaRPr lang="en-US" sz="1100"/>
          </a:p>
        </p:txBody>
      </p:sp>
      <p:sp>
        <p:nvSpPr>
          <p:cNvPr id="667126129" name="Shape 11"/>
          <p:cNvSpPr/>
          <p:nvPr/>
        </p:nvSpPr>
        <p:spPr bwMode="auto">
          <a:xfrm>
            <a:off x="411480" y="2276856"/>
            <a:ext cx="8321039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145031831" name="Image 2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48640" y="2386584"/>
            <a:ext cx="347472" cy="347472"/>
          </a:xfrm>
          <a:prstGeom prst="rect">
            <a:avLst/>
          </a:prstGeom>
        </p:spPr>
      </p:pic>
      <p:sp>
        <p:nvSpPr>
          <p:cNvPr id="649302859" name="Text 12"/>
          <p:cNvSpPr/>
          <p:nvPr/>
        </p:nvSpPr>
        <p:spPr bwMode="auto">
          <a:xfrm>
            <a:off x="1005840" y="233172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Dashboard-Anzeige</a:t>
            </a:r>
            <a:endParaRPr lang="en-US" sz="1200"/>
          </a:p>
        </p:txBody>
      </p:sp>
      <p:sp>
        <p:nvSpPr>
          <p:cNvPr id="147233559" name="Text 13"/>
          <p:cNvSpPr/>
          <p:nvPr/>
        </p:nvSpPr>
        <p:spPr bwMode="auto">
          <a:xfrm>
            <a:off x="1005840" y="2587752"/>
            <a:ext cx="7223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Grafana zeigt alle Panels vollständig und korrekt</a:t>
            </a:r>
            <a:endParaRPr lang="en-US" sz="1100"/>
          </a:p>
        </p:txBody>
      </p:sp>
      <p:sp>
        <p:nvSpPr>
          <p:cNvPr id="1349542539" name="Text 14"/>
          <p:cNvSpPr/>
          <p:nvPr/>
        </p:nvSpPr>
        <p:spPr bwMode="auto">
          <a:xfrm>
            <a:off x="7589520" y="2368296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1100" b="1">
                <a:solidFill>
                  <a:srgbClr val="0D9488"/>
                </a:solidFill>
                <a:latin typeface="Calibri"/>
                <a:ea typeface="Calibri"/>
                <a:cs typeface="Calibri"/>
              </a:rPr>
              <a:t>✓ Bestanden</a:t>
            </a:r>
            <a:endParaRPr lang="en-US" sz="1100"/>
          </a:p>
        </p:txBody>
      </p:sp>
      <p:sp>
        <p:nvSpPr>
          <p:cNvPr id="1546609580" name="Shape 15"/>
          <p:cNvSpPr/>
          <p:nvPr/>
        </p:nvSpPr>
        <p:spPr bwMode="auto">
          <a:xfrm>
            <a:off x="411480" y="2935224"/>
            <a:ext cx="8321039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666214732" name="Image 3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48640" y="3044952"/>
            <a:ext cx="347472" cy="347472"/>
          </a:xfrm>
          <a:prstGeom prst="rect">
            <a:avLst/>
          </a:prstGeom>
        </p:spPr>
      </p:pic>
      <p:sp>
        <p:nvSpPr>
          <p:cNvPr id="1799507686" name="Text 16"/>
          <p:cNvSpPr/>
          <p:nvPr/>
        </p:nvSpPr>
        <p:spPr bwMode="auto">
          <a:xfrm>
            <a:off x="1005840" y="299008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Ausfallsimulation</a:t>
            </a:r>
            <a:endParaRPr lang="en-US" sz="1200"/>
          </a:p>
        </p:txBody>
      </p:sp>
      <p:sp>
        <p:nvSpPr>
          <p:cNvPr id="569726906" name="Text 17"/>
          <p:cNvSpPr/>
          <p:nvPr/>
        </p:nvSpPr>
        <p:spPr bwMode="auto">
          <a:xfrm>
            <a:off x="1005840" y="3246120"/>
            <a:ext cx="7223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VM manuell heruntergefahren → Alert ausgelöst</a:t>
            </a:r>
            <a:endParaRPr lang="en-US" sz="1100"/>
          </a:p>
        </p:txBody>
      </p:sp>
      <p:sp>
        <p:nvSpPr>
          <p:cNvPr id="914533594" name="Text 18"/>
          <p:cNvSpPr/>
          <p:nvPr/>
        </p:nvSpPr>
        <p:spPr bwMode="auto">
          <a:xfrm>
            <a:off x="7589520" y="3026664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1100" b="1">
                <a:solidFill>
                  <a:srgbClr val="0D9488"/>
                </a:solidFill>
                <a:latin typeface="Calibri"/>
                <a:ea typeface="Calibri"/>
                <a:cs typeface="Calibri"/>
              </a:rPr>
              <a:t>✓ Bestanden</a:t>
            </a:r>
            <a:endParaRPr lang="en-US" sz="1100"/>
          </a:p>
        </p:txBody>
      </p:sp>
      <p:sp>
        <p:nvSpPr>
          <p:cNvPr id="1711237021" name="Shape 19"/>
          <p:cNvSpPr/>
          <p:nvPr/>
        </p:nvSpPr>
        <p:spPr bwMode="auto">
          <a:xfrm>
            <a:off x="411480" y="3593592"/>
            <a:ext cx="8321039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1532377916" name="Image 4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48640" y="3703320"/>
            <a:ext cx="347472" cy="347472"/>
          </a:xfrm>
          <a:prstGeom prst="rect">
            <a:avLst/>
          </a:prstGeom>
        </p:spPr>
      </p:pic>
      <p:sp>
        <p:nvSpPr>
          <p:cNvPr id="1055956044" name="Text 20"/>
          <p:cNvSpPr/>
          <p:nvPr/>
        </p:nvSpPr>
        <p:spPr bwMode="auto">
          <a:xfrm>
            <a:off x="1005840" y="364845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E-Mail-Alerting</a:t>
            </a:r>
            <a:endParaRPr lang="en-US" sz="1200"/>
          </a:p>
        </p:txBody>
      </p:sp>
      <p:sp>
        <p:nvSpPr>
          <p:cNvPr id="115962415" name="Text 21"/>
          <p:cNvSpPr/>
          <p:nvPr/>
        </p:nvSpPr>
        <p:spPr bwMode="auto">
          <a:xfrm>
            <a:off x="1005840" y="3904488"/>
            <a:ext cx="7223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E-Mail bei VM-Ausfall automatisch empfangen</a:t>
            </a:r>
            <a:endParaRPr lang="en-US" sz="1100"/>
          </a:p>
        </p:txBody>
      </p:sp>
      <p:sp>
        <p:nvSpPr>
          <p:cNvPr id="209288238" name="Text 22"/>
          <p:cNvSpPr/>
          <p:nvPr/>
        </p:nvSpPr>
        <p:spPr bwMode="auto">
          <a:xfrm>
            <a:off x="7589520" y="3685032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1100" b="1">
                <a:solidFill>
                  <a:srgbClr val="0D9488"/>
                </a:solidFill>
                <a:latin typeface="Calibri"/>
                <a:ea typeface="Calibri"/>
                <a:cs typeface="Calibri"/>
              </a:rPr>
              <a:t>✓ Bestanden</a:t>
            </a:r>
            <a:endParaRPr lang="en-US" sz="1100"/>
          </a:p>
        </p:txBody>
      </p:sp>
      <p:sp>
        <p:nvSpPr>
          <p:cNvPr id="589073897" name="Shape 23"/>
          <p:cNvSpPr/>
          <p:nvPr/>
        </p:nvSpPr>
        <p:spPr bwMode="auto">
          <a:xfrm>
            <a:off x="411480" y="4251960"/>
            <a:ext cx="8321039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1939127230" name="Image 5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48640" y="4361688"/>
            <a:ext cx="347472" cy="347472"/>
          </a:xfrm>
          <a:prstGeom prst="rect">
            <a:avLst/>
          </a:prstGeom>
        </p:spPr>
      </p:pic>
      <p:sp>
        <p:nvSpPr>
          <p:cNvPr id="1248396364" name="Text 24"/>
          <p:cNvSpPr/>
          <p:nvPr/>
        </p:nvSpPr>
        <p:spPr bwMode="auto">
          <a:xfrm>
            <a:off x="1005840" y="430682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HTTP-Monitoring</a:t>
            </a:r>
            <a:endParaRPr lang="en-US" sz="1200"/>
          </a:p>
        </p:txBody>
      </p:sp>
      <p:sp>
        <p:nvSpPr>
          <p:cNvPr id="1347608334" name="Text 25"/>
          <p:cNvSpPr/>
          <p:nvPr/>
        </p:nvSpPr>
        <p:spPr bwMode="auto">
          <a:xfrm>
            <a:off x="1005840" y="4562856"/>
            <a:ext cx="7223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Webserver gestoppt → Blackbox meldet Nichterreichbarkeit</a:t>
            </a:r>
            <a:endParaRPr lang="en-US" sz="1100"/>
          </a:p>
        </p:txBody>
      </p:sp>
      <p:sp>
        <p:nvSpPr>
          <p:cNvPr id="810299731" name="Text 26"/>
          <p:cNvSpPr/>
          <p:nvPr/>
        </p:nvSpPr>
        <p:spPr bwMode="auto">
          <a:xfrm>
            <a:off x="7589520" y="434340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1100" b="1">
                <a:solidFill>
                  <a:srgbClr val="0D9488"/>
                </a:solidFill>
                <a:latin typeface="Calibri"/>
                <a:ea typeface="Calibri"/>
                <a:cs typeface="Calibri"/>
              </a:rPr>
              <a:t>✓ Bestanden</a:t>
            </a:r>
            <a:endParaRPr lang="en-US" sz="1100"/>
          </a:p>
        </p:txBody>
      </p:sp>
      <p:sp>
        <p:nvSpPr>
          <p:cNvPr id="900050" name="Seitenzahl"/>
          <p:cNvSpPr/>
          <p:nvPr/>
        </p:nvSpPr>
        <p:spPr bwMode="auto">
          <a:xfrm>
            <a:off x="8250000" y="4970000"/>
            <a:ext cx="750000" cy="1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de-DE" sz="900" dirty="0">
                <a:solidFill>
                  <a:srgbClr val="5A8AB0"/>
                </a:solidFill>
                <a:latin typeface="Calibri"/>
                <a:ea typeface="Calibri"/>
                <a:cs typeface="Calibri"/>
              </a:rPr>
              <a:t>23 von 28</a:t>
            </a:r>
            <a:endParaRPr lang="de-DE" sz="9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 name="Slide 15"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9262467" name="Shape 0"/>
          <p:cNvSpPr/>
          <p:nvPr/>
        </p:nvSpPr>
        <p:spPr bwMode="auto">
          <a:xfrm>
            <a:off x="0" y="0"/>
            <a:ext cx="228600" cy="5143500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88217266" name="Text 1"/>
          <p:cNvSpPr/>
          <p:nvPr/>
        </p:nvSpPr>
        <p:spPr bwMode="auto">
          <a:xfrm>
            <a:off x="50292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7200" b="1" dirty="0">
                <a:solidFill>
                  <a:srgbClr val="2E74B5"/>
                </a:soli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  <a:latin typeface="Calibri"/>
                <a:ea typeface="Calibri"/>
                <a:cs typeface="Calibri"/>
              </a:rPr>
              <a:t>07</a:t>
            </a:r>
            <a:endParaRPr lang="en-US" sz="7200" dirty="0">
              <a:effectLst>
                <a:outerShdw blurRad="50800" dist="38100" dir="16200000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856149883" name="!!Text 6"/>
          <p:cNvSpPr/>
          <p:nvPr/>
        </p:nvSpPr>
        <p:spPr bwMode="auto">
          <a:xfrm>
            <a:off x="502920" y="26517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32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Nutzwertanalyse</a:t>
            </a:r>
            <a:r>
              <a:rPr lang="en-US" sz="32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 xml:space="preserve"> &amp; </a:t>
            </a:r>
            <a:r>
              <a:rPr lang="en-US" sz="32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Empfehlung</a:t>
            </a:r>
            <a:endParaRPr lang="en-US" sz="3200" dirty="0"/>
          </a:p>
        </p:txBody>
      </p:sp>
      <p:cxnSp>
        <p:nvCxnSpPr>
          <p:cNvPr id="900001" name="Zeitstrahl Linie"/>
          <p:cNvCxnSpPr/>
          <p:nvPr/>
        </p:nvCxnSpPr>
        <p:spPr>
          <a:xfrm>
            <a:off x="502920" y="4688580"/>
            <a:ext cx="8138160" cy="0"/>
          </a:xfrm>
          <a:prstGeom prst="line">
            <a:avLst/>
          </a:prstGeom>
          <a:ln w="9525">
            <a:solidFill>
              <a:srgbClr val="FFFFFF">
                <a:alpha val="3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0002" name="Zeitstrahl Punkt 1"/>
          <p:cNvSpPr/>
          <p:nvPr/>
        </p:nvSpPr>
        <p:spPr bwMode="auto">
          <a:xfrm>
            <a:off x="457200" y="4642860"/>
            <a:ext cx="91440" cy="91440"/>
          </a:xfrm>
          <a:prstGeom prst="ellipse">
            <a:avLst/>
          </a:prstGeom>
          <a:solidFill>
            <a:srgbClr val="FFFFFF">
              <a:alpha val="25000"/>
            </a:srgbClr>
          </a:solidFill>
          <a:ln w="9525">
            <a:solidFill>
              <a:srgbClr val="FFFFFF">
                <a:alpha val="45000"/>
              </a:srgbClr>
            </a:solidFill>
          </a:ln>
        </p:spPr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00003" name="Zeitstrahl Punkt 2"/>
          <p:cNvSpPr/>
          <p:nvPr/>
        </p:nvSpPr>
        <p:spPr bwMode="auto">
          <a:xfrm>
            <a:off x="1619794" y="4642860"/>
            <a:ext cx="91440" cy="91440"/>
          </a:xfrm>
          <a:prstGeom prst="ellipse">
            <a:avLst/>
          </a:prstGeom>
          <a:solidFill>
            <a:srgbClr val="FFFFFF">
              <a:alpha val="25000"/>
            </a:srgbClr>
          </a:solidFill>
          <a:ln w="9525">
            <a:solidFill>
              <a:srgbClr val="FFFFFF">
                <a:alpha val="45000"/>
              </a:srgbClr>
            </a:solidFill>
          </a:ln>
        </p:spPr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00004" name="Zeitstrahl Punkt 3"/>
          <p:cNvSpPr/>
          <p:nvPr/>
        </p:nvSpPr>
        <p:spPr bwMode="auto">
          <a:xfrm>
            <a:off x="2782389" y="4642860"/>
            <a:ext cx="91440" cy="91440"/>
          </a:xfrm>
          <a:prstGeom prst="ellipse">
            <a:avLst/>
          </a:prstGeom>
          <a:solidFill>
            <a:srgbClr val="FFFFFF">
              <a:alpha val="25000"/>
            </a:srgbClr>
          </a:solidFill>
          <a:ln w="9525">
            <a:solidFill>
              <a:srgbClr val="FFFFFF">
                <a:alpha val="45000"/>
              </a:srgbClr>
            </a:solidFill>
          </a:ln>
        </p:spPr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00005" name="Zeitstrahl Punkt 4"/>
          <p:cNvSpPr/>
          <p:nvPr/>
        </p:nvSpPr>
        <p:spPr bwMode="auto">
          <a:xfrm>
            <a:off x="3944983" y="4642860"/>
            <a:ext cx="91440" cy="91440"/>
          </a:xfrm>
          <a:prstGeom prst="ellipse">
            <a:avLst/>
          </a:prstGeom>
          <a:solidFill>
            <a:srgbClr val="FFFFFF">
              <a:alpha val="25000"/>
            </a:srgbClr>
          </a:solidFill>
          <a:ln w="9525">
            <a:solidFill>
              <a:srgbClr val="FFFFFF">
                <a:alpha val="45000"/>
              </a:srgbClr>
            </a:solidFill>
          </a:ln>
        </p:spPr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00006" name="Zeitstrahl Punkt 5"/>
          <p:cNvSpPr/>
          <p:nvPr/>
        </p:nvSpPr>
        <p:spPr bwMode="auto">
          <a:xfrm>
            <a:off x="5107577" y="4642860"/>
            <a:ext cx="91440" cy="91440"/>
          </a:xfrm>
          <a:prstGeom prst="ellipse">
            <a:avLst/>
          </a:prstGeom>
          <a:solidFill>
            <a:srgbClr val="FFFFFF">
              <a:alpha val="25000"/>
            </a:srgbClr>
          </a:solidFill>
          <a:ln w="9525">
            <a:solidFill>
              <a:srgbClr val="FFFFFF">
                <a:alpha val="45000"/>
              </a:srgbClr>
            </a:solidFill>
          </a:ln>
        </p:spPr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00007" name="Zeitstrahl Punkt 6"/>
          <p:cNvSpPr/>
          <p:nvPr/>
        </p:nvSpPr>
        <p:spPr bwMode="auto">
          <a:xfrm>
            <a:off x="6270171" y="4642860"/>
            <a:ext cx="91440" cy="91440"/>
          </a:xfrm>
          <a:prstGeom prst="ellipse">
            <a:avLst/>
          </a:prstGeom>
          <a:solidFill>
            <a:srgbClr val="FFFFFF">
              <a:alpha val="25000"/>
            </a:srgbClr>
          </a:solidFill>
          <a:ln w="9525">
            <a:solidFill>
              <a:srgbClr val="FFFFFF">
                <a:alpha val="45000"/>
              </a:srgbClr>
            </a:solidFill>
          </a:ln>
        </p:spPr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00008" name="Zeitstrahl Punkt 7"/>
          <p:cNvSpPr/>
          <p:nvPr/>
        </p:nvSpPr>
        <p:spPr bwMode="auto">
          <a:xfrm>
            <a:off x="7409906" y="4620000"/>
            <a:ext cx="137160" cy="1371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00009" name="Zeitstrahl Punkt 8"/>
          <p:cNvSpPr/>
          <p:nvPr/>
        </p:nvSpPr>
        <p:spPr bwMode="auto">
          <a:xfrm>
            <a:off x="8595360" y="4642860"/>
            <a:ext cx="91440" cy="91440"/>
          </a:xfrm>
          <a:prstGeom prst="ellipse">
            <a:avLst/>
          </a:prstGeom>
          <a:solidFill>
            <a:srgbClr val="FFFFFF">
              <a:alpha val="25000"/>
            </a:srgbClr>
          </a:solidFill>
          <a:ln w="9525">
            <a:solidFill>
              <a:srgbClr val="FFFFFF">
                <a:alpha val="45000"/>
              </a:srgbClr>
            </a:solidFill>
          </a:ln>
        </p:spPr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00050" name="Seitenzahl"/>
          <p:cNvSpPr/>
          <p:nvPr/>
        </p:nvSpPr>
        <p:spPr bwMode="auto">
          <a:xfrm>
            <a:off x="8250000" y="4970000"/>
            <a:ext cx="750000" cy="1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de-DE" sz="900" dirty="0">
                <a:solidFill>
                  <a:srgbClr val="FFFFFF">
                    <a:alpha val="55000"/>
                  </a:srgbClr>
                </a:solidFill>
                <a:latin typeface="Calibri"/>
                <a:ea typeface="Calibri"/>
                <a:cs typeface="Calibri"/>
              </a:rPr>
              <a:t>24 von 28</a:t>
            </a:r>
            <a:endParaRPr lang="de-DE" sz="9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 name="Slide 1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4211276" name="!!Text 6"/>
          <p:cNvSpPr/>
          <p:nvPr/>
        </p:nvSpPr>
        <p:spPr bwMode="auto">
          <a:xfrm>
            <a:off x="411480" y="201168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2600" b="1" dirty="0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PRTG vs. Prometheus + Grafana</a:t>
            </a:r>
            <a:endParaRPr lang="en-US" sz="2600" dirty="0"/>
          </a:p>
        </p:txBody>
      </p:sp>
      <p:sp>
        <p:nvSpPr>
          <p:cNvPr id="1272907267" name="Shape 1"/>
          <p:cNvSpPr/>
          <p:nvPr/>
        </p:nvSpPr>
        <p:spPr bwMode="auto">
          <a:xfrm>
            <a:off x="411480" y="822960"/>
            <a:ext cx="8321039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graphicFrame>
        <p:nvGraphicFramePr>
          <p:cNvPr id="86019477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8236753"/>
              </p:ext>
            </p:extLst>
          </p:nvPr>
        </p:nvGraphicFramePr>
        <p:xfrm>
          <a:off x="411480" y="911995"/>
          <a:ext cx="8321040" cy="329184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  <a:defRPr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Kriterium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12700" algn="ctr">
                      <a:solidFill>
                        <a:srgbClr val="D1D5DB"/>
                      </a:solidFill>
                    </a:lnL>
                    <a:lnR w="12700" algn="ctr">
                      <a:solidFill>
                        <a:srgbClr val="D1D5DB"/>
                      </a:solidFill>
                    </a:lnR>
                    <a:lnT w="12700" algn="ctr">
                      <a:solidFill>
                        <a:srgbClr val="D1D5DB"/>
                      </a:solidFill>
                    </a:lnT>
                    <a:lnB w="12700" algn="ctr">
                      <a:solidFill>
                        <a:srgbClr val="D1D5DB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  <a:defRPr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Gewicht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12700" algn="ctr">
                      <a:solidFill>
                        <a:srgbClr val="D1D5DB"/>
                      </a:solidFill>
                    </a:lnL>
                    <a:lnR w="12700" algn="ctr">
                      <a:solidFill>
                        <a:srgbClr val="D1D5DB"/>
                      </a:solidFill>
                    </a:lnR>
                    <a:lnT w="12700" algn="ctr">
                      <a:solidFill>
                        <a:srgbClr val="D1D5DB"/>
                      </a:solidFill>
                    </a:lnT>
                    <a:lnB w="12700" algn="ctr">
                      <a:solidFill>
                        <a:srgbClr val="D1D5DB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  <a:defRPr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PRTG kostenlos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12700" algn="ctr">
                      <a:solidFill>
                        <a:srgbClr val="D1D5DB"/>
                      </a:solidFill>
                    </a:lnL>
                    <a:lnR w="12700" algn="ctr">
                      <a:solidFill>
                        <a:srgbClr val="D1D5DB"/>
                      </a:solidFill>
                    </a:lnR>
                    <a:lnT w="12700" algn="ctr">
                      <a:solidFill>
                        <a:srgbClr val="D1D5DB"/>
                      </a:solidFill>
                    </a:lnT>
                    <a:lnB w="12700" algn="ctr">
                      <a:solidFill>
                        <a:srgbClr val="D1D5DB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  <a:defRPr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Prometheus + Grafana</a:t>
                      </a:r>
                      <a:endParaRPr lang="en-US"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12700" algn="ctr">
                      <a:solidFill>
                        <a:srgbClr val="D1D5DB"/>
                      </a:solidFill>
                    </a:lnL>
                    <a:lnR w="12700" algn="ctr">
                      <a:solidFill>
                        <a:srgbClr val="D1D5DB"/>
                      </a:solidFill>
                    </a:lnR>
                    <a:lnT w="12700" algn="ctr">
                      <a:solidFill>
                        <a:srgbClr val="D1D5DB"/>
                      </a:solidFill>
                    </a:lnT>
                    <a:lnB w="12700" algn="ctr">
                      <a:solidFill>
                        <a:srgbClr val="D1D5DB"/>
                      </a:solidFill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Lizenzkosten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12700" algn="ctr">
                      <a:solidFill>
                        <a:srgbClr val="D1D5DB"/>
                      </a:solidFill>
                    </a:lnL>
                    <a:lnR w="12700" algn="ctr">
                      <a:solidFill>
                        <a:srgbClr val="D1D5DB"/>
                      </a:solidFill>
                    </a:lnR>
                    <a:lnT w="12700" algn="ctr">
                      <a:solidFill>
                        <a:srgbClr val="D1D5DB"/>
                      </a:solidFill>
                    </a:lnT>
                    <a:lnB w="12700" algn="ctr">
                      <a:solidFill>
                        <a:srgbClr val="D1D5DB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5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12700" algn="ctr">
                      <a:solidFill>
                        <a:srgbClr val="D1D5DB"/>
                      </a:solidFill>
                    </a:lnL>
                    <a:lnR w="12700" algn="ctr">
                      <a:solidFill>
                        <a:srgbClr val="D1D5DB"/>
                      </a:solidFill>
                    </a:lnR>
                    <a:lnT w="12700" algn="ctr">
                      <a:solidFill>
                        <a:srgbClr val="D1D5DB"/>
                      </a:solidFill>
                    </a:lnT>
                    <a:lnB w="12700" algn="ctr">
                      <a:solidFill>
                        <a:srgbClr val="D1D5DB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★★☆☆☆  (2)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12700" algn="ctr">
                      <a:solidFill>
                        <a:srgbClr val="D1D5DB"/>
                      </a:solidFill>
                    </a:lnL>
                    <a:lnR w="12700" algn="ctr">
                      <a:solidFill>
                        <a:srgbClr val="D1D5DB"/>
                      </a:solidFill>
                    </a:lnR>
                    <a:lnT w="12700" algn="ctr">
                      <a:solidFill>
                        <a:srgbClr val="D1D5DB"/>
                      </a:solidFill>
                    </a:lnT>
                    <a:lnB w="12700" algn="ctr">
                      <a:solidFill>
                        <a:srgbClr val="D1D5DB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  <a:defRPr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★★★★★  (5)</a:t>
                      </a:r>
                      <a:endParaRPr lang="en-US"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12700" algn="ctr">
                      <a:solidFill>
                        <a:srgbClr val="D1D5DB"/>
                      </a:solidFill>
                    </a:lnL>
                    <a:lnR w="12700" algn="ctr">
                      <a:solidFill>
                        <a:srgbClr val="D1D5DB"/>
                      </a:solidFill>
                    </a:lnR>
                    <a:lnT w="12700" algn="ctr">
                      <a:solidFill>
                        <a:srgbClr val="D1D5DB"/>
                      </a:solidFill>
                    </a:lnT>
                    <a:lnB w="12700" algn="ctr">
                      <a:solidFill>
                        <a:srgbClr val="D1D5DB"/>
                      </a:solidFill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Skalierbarkeit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12700" algn="ctr">
                      <a:solidFill>
                        <a:srgbClr val="D1D5DB"/>
                      </a:solidFill>
                    </a:lnL>
                    <a:lnR w="12700" algn="ctr">
                      <a:solidFill>
                        <a:srgbClr val="D1D5DB"/>
                      </a:solidFill>
                    </a:lnR>
                    <a:lnT w="12700" algn="ctr">
                      <a:solidFill>
                        <a:srgbClr val="D1D5DB"/>
                      </a:solidFill>
                    </a:lnT>
                    <a:lnB w="12700" algn="ctr">
                      <a:solidFill>
                        <a:srgbClr val="D1D5DB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5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12700" algn="ctr">
                      <a:solidFill>
                        <a:srgbClr val="D1D5DB"/>
                      </a:solidFill>
                    </a:lnL>
                    <a:lnR w="12700" algn="ctr">
                      <a:solidFill>
                        <a:srgbClr val="D1D5DB"/>
                      </a:solidFill>
                    </a:lnR>
                    <a:lnT w="12700" algn="ctr">
                      <a:solidFill>
                        <a:srgbClr val="D1D5DB"/>
                      </a:solidFill>
                    </a:lnT>
                    <a:lnB w="12700" algn="ctr">
                      <a:solidFill>
                        <a:srgbClr val="D1D5DB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★☆☆☆☆  (1)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12700" algn="ctr">
                      <a:solidFill>
                        <a:srgbClr val="D1D5DB"/>
                      </a:solidFill>
                    </a:lnL>
                    <a:lnR w="12700" algn="ctr">
                      <a:solidFill>
                        <a:srgbClr val="D1D5DB"/>
                      </a:solidFill>
                    </a:lnR>
                    <a:lnT w="12700" algn="ctr">
                      <a:solidFill>
                        <a:srgbClr val="D1D5DB"/>
                      </a:solidFill>
                    </a:lnT>
                    <a:lnB w="12700" algn="ctr">
                      <a:solidFill>
                        <a:srgbClr val="D1D5DB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  <a:defRPr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★★★★★  (5)</a:t>
                      </a:r>
                      <a:endParaRPr lang="en-US"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12700" algn="ctr">
                      <a:solidFill>
                        <a:srgbClr val="D1D5DB"/>
                      </a:solidFill>
                    </a:lnL>
                    <a:lnR w="12700" algn="ctr">
                      <a:solidFill>
                        <a:srgbClr val="D1D5DB"/>
                      </a:solidFill>
                    </a:lnR>
                    <a:lnT w="12700" algn="ctr">
                      <a:solidFill>
                        <a:srgbClr val="D1D5DB"/>
                      </a:solidFill>
                    </a:lnT>
                    <a:lnB w="12700" algn="ctr">
                      <a:solidFill>
                        <a:srgbClr val="D1D5DB"/>
                      </a:solidFill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Dashboard-Flexibilität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12700" algn="ctr">
                      <a:solidFill>
                        <a:srgbClr val="D1D5DB"/>
                      </a:solidFill>
                    </a:lnL>
                    <a:lnR w="12700" algn="ctr">
                      <a:solidFill>
                        <a:srgbClr val="D1D5DB"/>
                      </a:solidFill>
                    </a:lnR>
                    <a:lnT w="12700" algn="ctr">
                      <a:solidFill>
                        <a:srgbClr val="D1D5DB"/>
                      </a:solidFill>
                    </a:lnT>
                    <a:lnB w="12700" algn="ctr">
                      <a:solidFill>
                        <a:srgbClr val="D1D5DB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12700" algn="ctr">
                      <a:solidFill>
                        <a:srgbClr val="D1D5DB"/>
                      </a:solidFill>
                    </a:lnL>
                    <a:lnR w="12700" algn="ctr">
                      <a:solidFill>
                        <a:srgbClr val="D1D5DB"/>
                      </a:solidFill>
                    </a:lnR>
                    <a:lnT w="12700" algn="ctr">
                      <a:solidFill>
                        <a:srgbClr val="D1D5DB"/>
                      </a:solidFill>
                    </a:lnT>
                    <a:lnB w="12700" algn="ctr">
                      <a:solidFill>
                        <a:srgbClr val="D1D5DB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★★☆☆☆  (2)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12700" algn="ctr">
                      <a:solidFill>
                        <a:srgbClr val="D1D5DB"/>
                      </a:solidFill>
                    </a:lnL>
                    <a:lnR w="12700" algn="ctr">
                      <a:solidFill>
                        <a:srgbClr val="D1D5DB"/>
                      </a:solidFill>
                    </a:lnR>
                    <a:lnT w="12700" algn="ctr">
                      <a:solidFill>
                        <a:srgbClr val="D1D5DB"/>
                      </a:solidFill>
                    </a:lnT>
                    <a:lnB w="12700" algn="ctr">
                      <a:solidFill>
                        <a:srgbClr val="D1D5DB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  <a:defRPr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★★★★★  (5)</a:t>
                      </a:r>
                      <a:endParaRPr lang="en-US"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12700" algn="ctr">
                      <a:solidFill>
                        <a:srgbClr val="D1D5DB"/>
                      </a:solidFill>
                    </a:lnL>
                    <a:lnR w="12700" algn="ctr">
                      <a:solidFill>
                        <a:srgbClr val="D1D5DB"/>
                      </a:solidFill>
                    </a:lnR>
                    <a:lnT w="12700" algn="ctr">
                      <a:solidFill>
                        <a:srgbClr val="D1D5DB"/>
                      </a:solidFill>
                    </a:lnT>
                    <a:lnB w="12700" algn="ctr">
                      <a:solidFill>
                        <a:srgbClr val="D1D5DB"/>
                      </a:solidFill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Einrichtungsaufwand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12700" algn="ctr">
                      <a:solidFill>
                        <a:srgbClr val="D1D5DB"/>
                      </a:solidFill>
                    </a:lnL>
                    <a:lnR w="12700" algn="ctr">
                      <a:solidFill>
                        <a:srgbClr val="D1D5DB"/>
                      </a:solidFill>
                    </a:lnR>
                    <a:lnT w="12700" algn="ctr">
                      <a:solidFill>
                        <a:srgbClr val="D1D5DB"/>
                      </a:solidFill>
                    </a:lnT>
                    <a:lnB w="12700" algn="ctr">
                      <a:solidFill>
                        <a:srgbClr val="D1D5DB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12700" algn="ctr">
                      <a:solidFill>
                        <a:srgbClr val="D1D5DB"/>
                      </a:solidFill>
                    </a:lnL>
                    <a:lnR w="12700" algn="ctr">
                      <a:solidFill>
                        <a:srgbClr val="D1D5DB"/>
                      </a:solidFill>
                    </a:lnR>
                    <a:lnT w="12700" algn="ctr">
                      <a:solidFill>
                        <a:srgbClr val="D1D5DB"/>
                      </a:solidFill>
                    </a:lnT>
                    <a:lnB w="12700" algn="ctr">
                      <a:solidFill>
                        <a:srgbClr val="D1D5DB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★★★★★  (5)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12700" algn="ctr">
                      <a:solidFill>
                        <a:srgbClr val="D1D5DB"/>
                      </a:solidFill>
                    </a:lnL>
                    <a:lnR w="12700" algn="ctr">
                      <a:solidFill>
                        <a:srgbClr val="D1D5DB"/>
                      </a:solidFill>
                    </a:lnR>
                    <a:lnT w="12700" algn="ctr">
                      <a:solidFill>
                        <a:srgbClr val="D1D5DB"/>
                      </a:solidFill>
                    </a:lnT>
                    <a:lnB w="12700" algn="ctr">
                      <a:solidFill>
                        <a:srgbClr val="D1D5DB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  <a:defRPr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★★☆☆☆  (2)</a:t>
                      </a:r>
                      <a:endParaRPr lang="en-US"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12700" algn="ctr">
                      <a:solidFill>
                        <a:srgbClr val="D1D5DB"/>
                      </a:solidFill>
                    </a:lnL>
                    <a:lnR w="12700" algn="ctr">
                      <a:solidFill>
                        <a:srgbClr val="D1D5DB"/>
                      </a:solidFill>
                    </a:lnR>
                    <a:lnT w="12700" algn="ctr">
                      <a:solidFill>
                        <a:srgbClr val="D1D5DB"/>
                      </a:solidFill>
                    </a:lnT>
                    <a:lnB w="12700" algn="ctr">
                      <a:solidFill>
                        <a:srgbClr val="D1D5DB"/>
                      </a:solidFill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Dokumentation/Community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12700" algn="ctr">
                      <a:solidFill>
                        <a:srgbClr val="D1D5DB"/>
                      </a:solidFill>
                    </a:lnL>
                    <a:lnR w="12700" algn="ctr">
                      <a:solidFill>
                        <a:srgbClr val="D1D5DB"/>
                      </a:solidFill>
                    </a:lnR>
                    <a:lnT w="12700" algn="ctr">
                      <a:solidFill>
                        <a:srgbClr val="D1D5DB"/>
                      </a:solidFill>
                    </a:lnT>
                    <a:lnB w="12700" algn="ctr">
                      <a:solidFill>
                        <a:srgbClr val="D1D5DB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12700" algn="ctr">
                      <a:solidFill>
                        <a:srgbClr val="D1D5DB"/>
                      </a:solidFill>
                    </a:lnL>
                    <a:lnR w="12700" algn="ctr">
                      <a:solidFill>
                        <a:srgbClr val="D1D5DB"/>
                      </a:solidFill>
                    </a:lnR>
                    <a:lnT w="12700" algn="ctr">
                      <a:solidFill>
                        <a:srgbClr val="D1D5DB"/>
                      </a:solidFill>
                    </a:lnT>
                    <a:lnB w="12700" algn="ctr">
                      <a:solidFill>
                        <a:srgbClr val="D1D5DB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  <a:defRPr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★★★★☆  (4)</a:t>
                      </a:r>
                      <a:endParaRPr lang="en-US"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12700" algn="ctr">
                      <a:solidFill>
                        <a:srgbClr val="D1D5DB"/>
                      </a:solidFill>
                    </a:lnL>
                    <a:lnR w="12700" algn="ctr">
                      <a:solidFill>
                        <a:srgbClr val="D1D5DB"/>
                      </a:solidFill>
                    </a:lnR>
                    <a:lnT w="12700" algn="ctr">
                      <a:solidFill>
                        <a:srgbClr val="D1D5DB"/>
                      </a:solidFill>
                    </a:lnT>
                    <a:lnB w="12700" algn="ctr">
                      <a:solidFill>
                        <a:srgbClr val="D1D5DB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  <a:defRPr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★★★★★  (5)</a:t>
                      </a:r>
                      <a:endParaRPr lang="en-US"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12700" algn="ctr">
                      <a:solidFill>
                        <a:srgbClr val="D1D5DB"/>
                      </a:solidFill>
                    </a:lnL>
                    <a:lnR w="12700" algn="ctr">
                      <a:solidFill>
                        <a:srgbClr val="D1D5DB"/>
                      </a:solidFill>
                    </a:lnR>
                    <a:lnT w="12700" algn="ctr">
                      <a:solidFill>
                        <a:srgbClr val="D1D5DB"/>
                      </a:solidFill>
                    </a:lnT>
                    <a:lnB w="12700" algn="ctr">
                      <a:solidFill>
                        <a:srgbClr val="D1D5DB"/>
                      </a:solidFill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Alerting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12700" algn="ctr">
                      <a:solidFill>
                        <a:srgbClr val="D1D5DB"/>
                      </a:solidFill>
                    </a:lnL>
                    <a:lnR w="12700" algn="ctr">
                      <a:solidFill>
                        <a:srgbClr val="D1D5DB"/>
                      </a:solidFill>
                    </a:lnR>
                    <a:lnT w="12700" algn="ctr">
                      <a:solidFill>
                        <a:srgbClr val="D1D5DB"/>
                      </a:solidFill>
                    </a:lnT>
                    <a:lnB w="12700" algn="ctr">
                      <a:solidFill>
                        <a:srgbClr val="D1D5DB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12700" algn="ctr">
                      <a:solidFill>
                        <a:srgbClr val="D1D5DB"/>
                      </a:solidFill>
                    </a:lnL>
                    <a:lnR w="12700" algn="ctr">
                      <a:solidFill>
                        <a:srgbClr val="D1D5DB"/>
                      </a:solidFill>
                    </a:lnR>
                    <a:lnT w="12700" algn="ctr">
                      <a:solidFill>
                        <a:srgbClr val="D1D5DB"/>
                      </a:solidFill>
                    </a:lnT>
                    <a:lnB w="12700" algn="ctr">
                      <a:solidFill>
                        <a:srgbClr val="D1D5DB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  <a:defRPr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★★★☆☆  (3)</a:t>
                      </a:r>
                      <a:endParaRPr lang="en-US"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12700" algn="ctr">
                      <a:solidFill>
                        <a:srgbClr val="D1D5DB"/>
                      </a:solidFill>
                    </a:lnL>
                    <a:lnR w="12700" algn="ctr">
                      <a:solidFill>
                        <a:srgbClr val="D1D5DB"/>
                      </a:solidFill>
                    </a:lnR>
                    <a:lnT w="12700" algn="ctr">
                      <a:solidFill>
                        <a:srgbClr val="D1D5DB"/>
                      </a:solidFill>
                    </a:lnT>
                    <a:lnB w="12700" algn="ctr">
                      <a:solidFill>
                        <a:srgbClr val="D1D5DB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  <a:defRPr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★★★★★  (5)</a:t>
                      </a:r>
                      <a:endParaRPr lang="en-US"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12700" algn="ctr">
                      <a:solidFill>
                        <a:srgbClr val="D1D5DB"/>
                      </a:solidFill>
                    </a:lnL>
                    <a:lnR w="12700" algn="ctr">
                      <a:solidFill>
                        <a:srgbClr val="D1D5DB"/>
                      </a:solidFill>
                    </a:lnR>
                    <a:lnT w="12700" algn="ctr">
                      <a:solidFill>
                        <a:srgbClr val="D1D5DB"/>
                      </a:solidFill>
                    </a:lnT>
                    <a:lnB w="12700" algn="ctr">
                      <a:solidFill>
                        <a:srgbClr val="D1D5DB"/>
                      </a:solidFill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  <a:defRPr/>
                      </a:pPr>
                      <a:r>
                        <a:rPr lang="en-US" sz="1200" dirty="0" err="1">
                          <a:latin typeface="Calibri"/>
                          <a:ea typeface="Calibri"/>
                          <a:cs typeface="Calibri"/>
                        </a:rPr>
                        <a:t>Wartungsaufwand</a:t>
                      </a:r>
                      <a:endParaRPr lang="en-US"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12700" algn="ctr">
                      <a:solidFill>
                        <a:srgbClr val="D1D5DB"/>
                      </a:solidFill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algn="ctr">
                      <a:solidFill>
                        <a:srgbClr val="D1D5DB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  <a:defRPr/>
                      </a:pP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algn="ctr">
                      <a:solidFill>
                        <a:srgbClr val="D1D5DB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  <a:defRPr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Calibri"/>
                        </a:rPr>
                        <a:t xml:space="preserve">★★★★☆  </a:t>
                      </a: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(4)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algn="ctr">
                      <a:solidFill>
                        <a:srgbClr val="D1D5DB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  <a:defRPr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Calibri"/>
                        </a:rPr>
                        <a:t xml:space="preserve">★★★☆☆  </a:t>
                      </a: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(3)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algn="ctr">
                      <a:solidFill>
                        <a:srgbClr val="D1D5DB"/>
                      </a:solidFill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algn="ctr">
                      <a:solidFill>
                        <a:srgbClr val="D1D5DB"/>
                      </a:solidFill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867379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  <a:defRPr/>
                      </a:pPr>
                      <a:r>
                        <a:rPr lang="en-US" sz="1200" b="1" dirty="0" err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Gesamtpunktzahl</a:t>
                      </a: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 xml:space="preserve"> (</a:t>
                      </a:r>
                      <a:r>
                        <a:rPr lang="en-US" sz="1200" b="1" dirty="0" err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gewichtet</a:t>
                      </a: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)</a:t>
                      </a:r>
                      <a:endParaRPr lang="en-US"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12700" algn="ctr">
                      <a:solidFill>
                        <a:srgbClr val="D1D5DB"/>
                      </a:solidFill>
                    </a:lnL>
                    <a:lnR w="12700" algn="ctr">
                      <a:solidFill>
                        <a:srgbClr val="D1D5DB"/>
                      </a:solidFill>
                    </a:lnR>
                    <a:lnT w="12700" algn="ctr">
                      <a:solidFill>
                        <a:srgbClr val="D1D5DB"/>
                      </a:solidFill>
                    </a:lnT>
                    <a:lnB w="12700" algn="ctr">
                      <a:solidFill>
                        <a:srgbClr val="D1D5DB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  <a:defRPr/>
                      </a:pP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12700" algn="ctr">
                      <a:solidFill>
                        <a:srgbClr val="D1D5DB"/>
                      </a:solidFill>
                    </a:lnL>
                    <a:lnR w="12700" algn="ctr">
                      <a:solidFill>
                        <a:srgbClr val="D1D5DB"/>
                      </a:solidFill>
                    </a:lnR>
                    <a:lnT w="12700" algn="ctr">
                      <a:solidFill>
                        <a:srgbClr val="D1D5DB"/>
                      </a:solidFill>
                    </a:lnT>
                    <a:lnB w="12700" algn="ctr">
                      <a:solidFill>
                        <a:srgbClr val="D1D5DB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  <a:defRPr/>
                      </a:pPr>
                      <a:r>
                        <a:rPr lang="en-US" sz="1200" b="1" dirty="0">
                          <a:solidFill>
                            <a:srgbClr val="DC2626"/>
                          </a:solidFill>
                          <a:latin typeface="Calibri"/>
                          <a:ea typeface="Calibri"/>
                          <a:cs typeface="Calibri"/>
                        </a:rPr>
                        <a:t xml:space="preserve">74 </a:t>
                      </a:r>
                      <a:r>
                        <a:rPr lang="en-US" sz="1200" b="1" dirty="0" err="1">
                          <a:solidFill>
                            <a:srgbClr val="DC2626"/>
                          </a:solidFill>
                          <a:latin typeface="Calibri"/>
                          <a:ea typeface="Calibri"/>
                          <a:cs typeface="Calibri"/>
                        </a:rPr>
                        <a:t>Punkte</a:t>
                      </a:r>
                      <a:endParaRPr lang="en-US"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12700" algn="ctr">
                      <a:solidFill>
                        <a:srgbClr val="D1D5DB"/>
                      </a:solidFill>
                    </a:lnL>
                    <a:lnR w="12700" algn="ctr">
                      <a:solidFill>
                        <a:srgbClr val="D1D5DB"/>
                      </a:solidFill>
                    </a:lnR>
                    <a:lnT w="12700" algn="ctr">
                      <a:solidFill>
                        <a:srgbClr val="D1D5DB"/>
                      </a:solidFill>
                    </a:lnT>
                    <a:lnB w="12700" algn="ctr">
                      <a:solidFill>
                        <a:srgbClr val="D1D5DB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  <a:defRPr/>
                      </a:pPr>
                      <a:r>
                        <a:rPr lang="en-US" sz="1200" b="1" dirty="0">
                          <a:solidFill>
                            <a:srgbClr val="0D9488"/>
                          </a:solidFill>
                          <a:latin typeface="Calibri"/>
                          <a:ea typeface="Calibri"/>
                          <a:cs typeface="Calibri"/>
                        </a:rPr>
                        <a:t xml:space="preserve">120 </a:t>
                      </a:r>
                      <a:r>
                        <a:rPr lang="en-US" sz="1200" b="1" dirty="0" err="1">
                          <a:solidFill>
                            <a:srgbClr val="0D9488"/>
                          </a:solidFill>
                          <a:latin typeface="Calibri"/>
                          <a:ea typeface="Calibri"/>
                          <a:cs typeface="Calibri"/>
                        </a:rPr>
                        <a:t>Punkte</a:t>
                      </a:r>
                      <a:endParaRPr lang="en-US"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12700" algn="ctr">
                      <a:solidFill>
                        <a:srgbClr val="D1D5DB"/>
                      </a:solidFill>
                    </a:lnL>
                    <a:lnR w="12700" algn="ctr">
                      <a:solidFill>
                        <a:srgbClr val="D1D5DB"/>
                      </a:solidFill>
                    </a:lnR>
                    <a:lnT w="12700" algn="ctr">
                      <a:solidFill>
                        <a:srgbClr val="D1D5DB"/>
                      </a:solidFill>
                    </a:lnT>
                    <a:lnB w="12700" algn="ctr">
                      <a:solidFill>
                        <a:srgbClr val="D1D5DB"/>
                      </a:solidFill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962494395" name="Shape 3"/>
          <p:cNvSpPr/>
          <p:nvPr/>
        </p:nvSpPr>
        <p:spPr bwMode="auto">
          <a:xfrm>
            <a:off x="411481" y="4350896"/>
            <a:ext cx="8321038" cy="591436"/>
          </a:xfrm>
          <a:prstGeom prst="rect">
            <a:avLst/>
          </a:prstGeom>
          <a:solidFill>
            <a:srgbClr val="D1FAE5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1876571839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94360" y="4414903"/>
            <a:ext cx="411480" cy="411480"/>
          </a:xfrm>
          <a:prstGeom prst="rect">
            <a:avLst/>
          </a:prstGeom>
        </p:spPr>
      </p:pic>
      <p:sp>
        <p:nvSpPr>
          <p:cNvPr id="1270981502" name="Text 4"/>
          <p:cNvSpPr/>
          <p:nvPr/>
        </p:nvSpPr>
        <p:spPr bwMode="auto">
          <a:xfrm>
            <a:off x="1097280" y="4350896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065F46"/>
                </a:solidFill>
                <a:latin typeface="Calibri"/>
                <a:ea typeface="Calibri"/>
                <a:cs typeface="Calibri"/>
              </a:rPr>
              <a:t>Empfehlung: Prometheus + Grafana als zukünftige Monitoring-Lösung einsetzen — unbegrenzte Sensoren, volle Dashboard-Freiheit, dauerhaft kostenfrei.</a:t>
            </a:r>
            <a:endParaRPr lang="en-US" sz="1300"/>
          </a:p>
        </p:txBody>
      </p:sp>
      <p:sp>
        <p:nvSpPr>
          <p:cNvPr id="900050" name="Seitenzahl"/>
          <p:cNvSpPr/>
          <p:nvPr/>
        </p:nvSpPr>
        <p:spPr bwMode="auto">
          <a:xfrm>
            <a:off x="8250000" y="4970000"/>
            <a:ext cx="750000" cy="1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de-DE" sz="900" dirty="0">
                <a:solidFill>
                  <a:srgbClr val="5A8AB0"/>
                </a:solidFill>
                <a:latin typeface="Calibri"/>
                <a:ea typeface="Calibri"/>
                <a:cs typeface="Calibri"/>
              </a:rPr>
              <a:t>25 von 28</a:t>
            </a:r>
            <a:endParaRPr lang="de-DE" sz="9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 name="Slide 17"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9253018" name="Shape 0"/>
          <p:cNvSpPr/>
          <p:nvPr/>
        </p:nvSpPr>
        <p:spPr bwMode="auto">
          <a:xfrm>
            <a:off x="0" y="0"/>
            <a:ext cx="228600" cy="5143500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98023676" name="Text 1"/>
          <p:cNvSpPr/>
          <p:nvPr/>
        </p:nvSpPr>
        <p:spPr bwMode="auto">
          <a:xfrm>
            <a:off x="50292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7200" b="1" dirty="0">
                <a:solidFill>
                  <a:srgbClr val="2E74B5"/>
                </a:soli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  <a:latin typeface="Calibri"/>
                <a:ea typeface="Calibri"/>
                <a:cs typeface="Calibri"/>
              </a:rPr>
              <a:t>08</a:t>
            </a:r>
            <a:endParaRPr lang="en-US" sz="7200" dirty="0">
              <a:effectLst>
                <a:outerShdw blurRad="50800" dist="38100" dir="16200000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235460868" name="!!Text 7"/>
          <p:cNvSpPr/>
          <p:nvPr/>
        </p:nvSpPr>
        <p:spPr bwMode="auto">
          <a:xfrm>
            <a:off x="502920" y="26517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32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Fazit</a:t>
            </a:r>
            <a:r>
              <a:rPr lang="en-US" sz="32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 xml:space="preserve"> &amp; </a:t>
            </a:r>
            <a:r>
              <a:rPr lang="en-US" sz="32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Ausblick</a:t>
            </a:r>
            <a:endParaRPr lang="en-US" sz="3200" dirty="0"/>
          </a:p>
        </p:txBody>
      </p:sp>
      <p:cxnSp>
        <p:nvCxnSpPr>
          <p:cNvPr id="900001" name="Zeitstrahl Linie"/>
          <p:cNvCxnSpPr/>
          <p:nvPr/>
        </p:nvCxnSpPr>
        <p:spPr>
          <a:xfrm>
            <a:off x="502920" y="4688580"/>
            <a:ext cx="8138160" cy="0"/>
          </a:xfrm>
          <a:prstGeom prst="line">
            <a:avLst/>
          </a:prstGeom>
          <a:ln w="9525">
            <a:solidFill>
              <a:srgbClr val="FFFFFF">
                <a:alpha val="3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0002" name="Zeitstrahl Punkt 1"/>
          <p:cNvSpPr/>
          <p:nvPr/>
        </p:nvSpPr>
        <p:spPr bwMode="auto">
          <a:xfrm>
            <a:off x="457200" y="4642860"/>
            <a:ext cx="91440" cy="91440"/>
          </a:xfrm>
          <a:prstGeom prst="ellipse">
            <a:avLst/>
          </a:prstGeom>
          <a:solidFill>
            <a:srgbClr val="FFFFFF">
              <a:alpha val="25000"/>
            </a:srgbClr>
          </a:solidFill>
          <a:ln w="9525">
            <a:solidFill>
              <a:srgbClr val="FFFFFF">
                <a:alpha val="45000"/>
              </a:srgbClr>
            </a:solidFill>
          </a:ln>
        </p:spPr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00003" name="Zeitstrahl Punkt 2"/>
          <p:cNvSpPr/>
          <p:nvPr/>
        </p:nvSpPr>
        <p:spPr bwMode="auto">
          <a:xfrm>
            <a:off x="1619794" y="4642860"/>
            <a:ext cx="91440" cy="91440"/>
          </a:xfrm>
          <a:prstGeom prst="ellipse">
            <a:avLst/>
          </a:prstGeom>
          <a:solidFill>
            <a:srgbClr val="FFFFFF">
              <a:alpha val="25000"/>
            </a:srgbClr>
          </a:solidFill>
          <a:ln w="9525">
            <a:solidFill>
              <a:srgbClr val="FFFFFF">
                <a:alpha val="45000"/>
              </a:srgbClr>
            </a:solidFill>
          </a:ln>
        </p:spPr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00004" name="Zeitstrahl Punkt 3"/>
          <p:cNvSpPr/>
          <p:nvPr/>
        </p:nvSpPr>
        <p:spPr bwMode="auto">
          <a:xfrm>
            <a:off x="2782389" y="4642860"/>
            <a:ext cx="91440" cy="91440"/>
          </a:xfrm>
          <a:prstGeom prst="ellipse">
            <a:avLst/>
          </a:prstGeom>
          <a:solidFill>
            <a:srgbClr val="FFFFFF">
              <a:alpha val="25000"/>
            </a:srgbClr>
          </a:solidFill>
          <a:ln w="9525">
            <a:solidFill>
              <a:srgbClr val="FFFFFF">
                <a:alpha val="45000"/>
              </a:srgbClr>
            </a:solidFill>
          </a:ln>
        </p:spPr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00005" name="Zeitstrahl Punkt 4"/>
          <p:cNvSpPr/>
          <p:nvPr/>
        </p:nvSpPr>
        <p:spPr bwMode="auto">
          <a:xfrm>
            <a:off x="3944983" y="4642860"/>
            <a:ext cx="91440" cy="91440"/>
          </a:xfrm>
          <a:prstGeom prst="ellipse">
            <a:avLst/>
          </a:prstGeom>
          <a:solidFill>
            <a:srgbClr val="FFFFFF">
              <a:alpha val="25000"/>
            </a:srgbClr>
          </a:solidFill>
          <a:ln w="9525">
            <a:solidFill>
              <a:srgbClr val="FFFFFF">
                <a:alpha val="45000"/>
              </a:srgbClr>
            </a:solidFill>
          </a:ln>
        </p:spPr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00006" name="Zeitstrahl Punkt 5"/>
          <p:cNvSpPr/>
          <p:nvPr/>
        </p:nvSpPr>
        <p:spPr bwMode="auto">
          <a:xfrm>
            <a:off x="5107577" y="4642860"/>
            <a:ext cx="91440" cy="91440"/>
          </a:xfrm>
          <a:prstGeom prst="ellipse">
            <a:avLst/>
          </a:prstGeom>
          <a:solidFill>
            <a:srgbClr val="FFFFFF">
              <a:alpha val="25000"/>
            </a:srgbClr>
          </a:solidFill>
          <a:ln w="9525">
            <a:solidFill>
              <a:srgbClr val="FFFFFF">
                <a:alpha val="45000"/>
              </a:srgbClr>
            </a:solidFill>
          </a:ln>
        </p:spPr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00007" name="Zeitstrahl Punkt 6"/>
          <p:cNvSpPr/>
          <p:nvPr/>
        </p:nvSpPr>
        <p:spPr bwMode="auto">
          <a:xfrm>
            <a:off x="6270171" y="4642860"/>
            <a:ext cx="91440" cy="91440"/>
          </a:xfrm>
          <a:prstGeom prst="ellipse">
            <a:avLst/>
          </a:prstGeom>
          <a:solidFill>
            <a:srgbClr val="FFFFFF">
              <a:alpha val="25000"/>
            </a:srgbClr>
          </a:solidFill>
          <a:ln w="9525">
            <a:solidFill>
              <a:srgbClr val="FFFFFF">
                <a:alpha val="45000"/>
              </a:srgbClr>
            </a:solidFill>
          </a:ln>
        </p:spPr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00008" name="Zeitstrahl Punkt 7"/>
          <p:cNvSpPr/>
          <p:nvPr/>
        </p:nvSpPr>
        <p:spPr bwMode="auto">
          <a:xfrm>
            <a:off x="7432766" y="4642860"/>
            <a:ext cx="91440" cy="91440"/>
          </a:xfrm>
          <a:prstGeom prst="ellipse">
            <a:avLst/>
          </a:prstGeom>
          <a:solidFill>
            <a:srgbClr val="FFFFFF">
              <a:alpha val="25000"/>
            </a:srgbClr>
          </a:solidFill>
          <a:ln w="9525">
            <a:solidFill>
              <a:srgbClr val="FFFFFF">
                <a:alpha val="45000"/>
              </a:srgbClr>
            </a:solidFill>
          </a:ln>
        </p:spPr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00009" name="Zeitstrahl Punkt 8"/>
          <p:cNvSpPr/>
          <p:nvPr/>
        </p:nvSpPr>
        <p:spPr bwMode="auto">
          <a:xfrm>
            <a:off x="8572500" y="4620000"/>
            <a:ext cx="137160" cy="1371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00050" name="Seitenzahl"/>
          <p:cNvSpPr/>
          <p:nvPr/>
        </p:nvSpPr>
        <p:spPr bwMode="auto">
          <a:xfrm>
            <a:off x="8250000" y="4970000"/>
            <a:ext cx="750000" cy="1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de-DE" sz="900" dirty="0">
                <a:solidFill>
                  <a:srgbClr val="FFFFFF">
                    <a:alpha val="55000"/>
                  </a:srgbClr>
                </a:solidFill>
                <a:latin typeface="Calibri"/>
                <a:ea typeface="Calibri"/>
                <a:cs typeface="Calibri"/>
              </a:rPr>
              <a:t>26 von 28</a:t>
            </a:r>
            <a:endParaRPr lang="de-DE" sz="9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 name="Slide 1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7522894" name="!!Text 7"/>
          <p:cNvSpPr/>
          <p:nvPr/>
        </p:nvSpPr>
        <p:spPr bwMode="auto">
          <a:xfrm>
            <a:off x="411480" y="201168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2600" b="1" dirty="0" err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Fazit</a:t>
            </a:r>
            <a:endParaRPr lang="en-US" sz="2600" dirty="0"/>
          </a:p>
        </p:txBody>
      </p:sp>
      <p:sp>
        <p:nvSpPr>
          <p:cNvPr id="893738464" name="Shape 1"/>
          <p:cNvSpPr/>
          <p:nvPr/>
        </p:nvSpPr>
        <p:spPr bwMode="auto">
          <a:xfrm>
            <a:off x="411480" y="822960"/>
            <a:ext cx="8321039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547368255" name="Text 3"/>
          <p:cNvSpPr/>
          <p:nvPr/>
        </p:nvSpPr>
        <p:spPr bwMode="auto">
          <a:xfrm>
            <a:off x="411480" y="9601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Soll-/Ist-Vergleich</a:t>
            </a:r>
            <a:endParaRPr lang="en-US" sz="1400"/>
          </a:p>
        </p:txBody>
      </p:sp>
      <p:graphicFrame>
        <p:nvGraphicFramePr>
          <p:cNvPr id="771967619" name="Table 0"/>
          <p:cNvGraphicFramePr>
            <a:graphicFrameLocks noGrp="1"/>
          </p:cNvGraphicFramePr>
          <p:nvPr/>
        </p:nvGraphicFramePr>
        <p:xfrm>
          <a:off x="411480" y="1325880"/>
          <a:ext cx="4846320" cy="146304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Planungsphase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algn="ctr">
                      <a:solidFill>
                        <a:srgbClr val="D1D5DB"/>
                      </a:solidFill>
                    </a:lnL>
                    <a:lnR w="12700" algn="ctr">
                      <a:solidFill>
                        <a:srgbClr val="D1D5DB"/>
                      </a:solidFill>
                    </a:lnR>
                    <a:lnT w="12700" algn="ctr">
                      <a:solidFill>
                        <a:srgbClr val="D1D5DB"/>
                      </a:solidFill>
                    </a:lnT>
                    <a:lnB w="12700" algn="ctr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9,0 Std.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algn="ctr">
                      <a:solidFill>
                        <a:srgbClr val="D1D5DB"/>
                      </a:solidFill>
                    </a:lnL>
                    <a:lnR w="12700" algn="ctr">
                      <a:solidFill>
                        <a:srgbClr val="D1D5DB"/>
                      </a:solidFill>
                    </a:lnR>
                    <a:lnT w="12700" algn="ctr">
                      <a:solidFill>
                        <a:srgbClr val="D1D5DB"/>
                      </a:solidFill>
                    </a:lnT>
                    <a:lnB w="12700" algn="ctr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9,0 Std.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algn="ctr">
                      <a:solidFill>
                        <a:srgbClr val="D1D5DB"/>
                      </a:solidFill>
                    </a:lnL>
                    <a:lnR w="12700" algn="ctr">
                      <a:solidFill>
                        <a:srgbClr val="D1D5DB"/>
                      </a:solidFill>
                    </a:lnR>
                    <a:lnT w="12700" algn="ctr">
                      <a:solidFill>
                        <a:srgbClr val="D1D5DB"/>
                      </a:solidFill>
                    </a:lnT>
                    <a:lnB w="12700" algn="ctr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sz="120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0 Std.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algn="ctr">
                      <a:solidFill>
                        <a:srgbClr val="D1D5DB"/>
                      </a:solidFill>
                    </a:lnL>
                    <a:lnR w="12700" algn="ctr">
                      <a:solidFill>
                        <a:srgbClr val="D1D5DB"/>
                      </a:solidFill>
                    </a:lnR>
                    <a:lnT w="12700" algn="ctr">
                      <a:solidFill>
                        <a:srgbClr val="D1D5DB"/>
                      </a:solidFill>
                    </a:lnT>
                    <a:lnB w="12700" algn="ctr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Realisierungsphase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algn="ctr">
                      <a:solidFill>
                        <a:srgbClr val="D1D5DB"/>
                      </a:solidFill>
                    </a:lnL>
                    <a:lnR w="12700" algn="ctr">
                      <a:solidFill>
                        <a:srgbClr val="D1D5DB"/>
                      </a:solidFill>
                    </a:lnR>
                    <a:lnT w="12700" algn="ctr">
                      <a:solidFill>
                        <a:srgbClr val="D1D5DB"/>
                      </a:solidFill>
                    </a:lnT>
                    <a:lnB w="12700" algn="ctr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20,0 Std.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algn="ctr">
                      <a:solidFill>
                        <a:srgbClr val="D1D5DB"/>
                      </a:solidFill>
                    </a:lnL>
                    <a:lnR w="12700" algn="ctr">
                      <a:solidFill>
                        <a:srgbClr val="D1D5DB"/>
                      </a:solidFill>
                    </a:lnR>
                    <a:lnT w="12700" algn="ctr">
                      <a:solidFill>
                        <a:srgbClr val="D1D5DB"/>
                      </a:solidFill>
                    </a:lnT>
                    <a:lnB w="12700" algn="ctr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22,0 Std.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algn="ctr">
                      <a:solidFill>
                        <a:srgbClr val="D1D5DB"/>
                      </a:solidFill>
                    </a:lnL>
                    <a:lnR w="12700" algn="ctr">
                      <a:solidFill>
                        <a:srgbClr val="D1D5DB"/>
                      </a:solidFill>
                    </a:lnR>
                    <a:lnT w="12700" algn="ctr">
                      <a:solidFill>
                        <a:srgbClr val="D1D5DB"/>
                      </a:solidFill>
                    </a:lnT>
                    <a:lnB w="12700" algn="ctr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sz="1200">
                          <a:solidFill>
                            <a:srgbClr val="D97706"/>
                          </a:solidFill>
                          <a:latin typeface="Calibri"/>
                          <a:ea typeface="Calibri"/>
                          <a:cs typeface="Calibri"/>
                        </a:rPr>
                        <a:t>+2,0 Std.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algn="ctr">
                      <a:solidFill>
                        <a:srgbClr val="D1D5DB"/>
                      </a:solidFill>
                    </a:lnL>
                    <a:lnR w="12700" algn="ctr">
                      <a:solidFill>
                        <a:srgbClr val="D1D5DB"/>
                      </a:solidFill>
                    </a:lnR>
                    <a:lnT w="12700" algn="ctr">
                      <a:solidFill>
                        <a:srgbClr val="D1D5DB"/>
                      </a:solidFill>
                    </a:lnT>
                    <a:lnB w="12700" algn="ctr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Projektabschluss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algn="ctr">
                      <a:solidFill>
                        <a:srgbClr val="D1D5DB"/>
                      </a:solidFill>
                    </a:lnL>
                    <a:lnR w="12700" algn="ctr">
                      <a:solidFill>
                        <a:srgbClr val="D1D5DB"/>
                      </a:solidFill>
                    </a:lnR>
                    <a:lnT w="12700" algn="ctr">
                      <a:solidFill>
                        <a:srgbClr val="D1D5DB"/>
                      </a:solidFill>
                    </a:lnT>
                    <a:lnB w="12700" algn="ctr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11,0 Std.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algn="ctr">
                      <a:solidFill>
                        <a:srgbClr val="D1D5DB"/>
                      </a:solidFill>
                    </a:lnL>
                    <a:lnR w="12700" algn="ctr">
                      <a:solidFill>
                        <a:srgbClr val="D1D5DB"/>
                      </a:solidFill>
                    </a:lnR>
                    <a:lnT w="12700" algn="ctr">
                      <a:solidFill>
                        <a:srgbClr val="D1D5DB"/>
                      </a:solidFill>
                    </a:lnT>
                    <a:lnB w="12700" algn="ctr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9,0 Std.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algn="ctr">
                      <a:solidFill>
                        <a:srgbClr val="D1D5DB"/>
                      </a:solidFill>
                    </a:lnL>
                    <a:lnR w="12700" algn="ctr">
                      <a:solidFill>
                        <a:srgbClr val="D1D5DB"/>
                      </a:solidFill>
                    </a:lnR>
                    <a:lnT w="12700" algn="ctr">
                      <a:solidFill>
                        <a:srgbClr val="D1D5DB"/>
                      </a:solidFill>
                    </a:lnT>
                    <a:lnB w="12700" algn="ctr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sz="1200">
                          <a:solidFill>
                            <a:srgbClr val="0D9488"/>
                          </a:solidFill>
                          <a:latin typeface="Calibri"/>
                          <a:ea typeface="Calibri"/>
                          <a:cs typeface="Calibri"/>
                        </a:rPr>
                        <a:t>-2,0 Std.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algn="ctr">
                      <a:solidFill>
                        <a:srgbClr val="D1D5DB"/>
                      </a:solidFill>
                    </a:lnL>
                    <a:lnR w="12700" algn="ctr">
                      <a:solidFill>
                        <a:srgbClr val="D1D5DB"/>
                      </a:solidFill>
                    </a:lnR>
                    <a:lnT w="12700" algn="ctr">
                      <a:solidFill>
                        <a:srgbClr val="D1D5DB"/>
                      </a:solidFill>
                    </a:lnT>
                    <a:lnB w="12700" algn="ctr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  <a:defRPr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Gesamt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algn="ctr">
                      <a:solidFill>
                        <a:srgbClr val="D1D5DB"/>
                      </a:solidFill>
                    </a:lnL>
                    <a:lnR w="12700" algn="ctr">
                      <a:solidFill>
                        <a:srgbClr val="D1D5DB"/>
                      </a:solidFill>
                    </a:lnR>
                    <a:lnT w="12700" algn="ctr">
                      <a:solidFill>
                        <a:srgbClr val="D1D5DB"/>
                      </a:solidFill>
                    </a:lnT>
                    <a:lnB w="12700" algn="ctr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40,0 Std.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algn="ctr">
                      <a:solidFill>
                        <a:srgbClr val="D1D5DB"/>
                      </a:solidFill>
                    </a:lnL>
                    <a:lnR w="12700" algn="ctr">
                      <a:solidFill>
                        <a:srgbClr val="D1D5DB"/>
                      </a:solidFill>
                    </a:lnR>
                    <a:lnT w="12700" algn="ctr">
                      <a:solidFill>
                        <a:srgbClr val="D1D5DB"/>
                      </a:solidFill>
                    </a:lnT>
                    <a:lnB w="12700" algn="ctr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40,0 Std.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algn="ctr">
                      <a:solidFill>
                        <a:srgbClr val="D1D5DB"/>
                      </a:solidFill>
                    </a:lnL>
                    <a:lnR w="12700" algn="ctr">
                      <a:solidFill>
                        <a:srgbClr val="D1D5DB"/>
                      </a:solidFill>
                    </a:lnR>
                    <a:lnT w="12700" algn="ctr">
                      <a:solidFill>
                        <a:srgbClr val="D1D5DB"/>
                      </a:solidFill>
                    </a:lnT>
                    <a:lnB w="12700" algn="ctr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sz="1200" b="1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0 Std.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algn="ctr">
                      <a:solidFill>
                        <a:srgbClr val="D1D5DB"/>
                      </a:solidFill>
                    </a:lnL>
                    <a:lnR w="12700" algn="ctr">
                      <a:solidFill>
                        <a:srgbClr val="D1D5DB"/>
                      </a:solidFill>
                    </a:lnR>
                    <a:lnT w="12700" algn="ctr">
                      <a:solidFill>
                        <a:srgbClr val="D1D5DB"/>
                      </a:solidFill>
                    </a:lnT>
                    <a:lnB w="12700" algn="ctr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542652978" name="Text 4"/>
          <p:cNvSpPr/>
          <p:nvPr/>
        </p:nvSpPr>
        <p:spPr bwMode="auto">
          <a:xfrm>
            <a:off x="411480" y="28803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Mehraufwand in der Realisierung durch Troubleshooting (neue Technologien), durch Puffer kompensiert.</a:t>
            </a:r>
            <a:endParaRPr lang="en-US" sz="1100"/>
          </a:p>
        </p:txBody>
      </p:sp>
      <p:sp>
        <p:nvSpPr>
          <p:cNvPr id="238488701" name="Text 5"/>
          <p:cNvSpPr/>
          <p:nvPr/>
        </p:nvSpPr>
        <p:spPr bwMode="auto">
          <a:xfrm>
            <a:off x="5486400" y="9601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Lessons Learned</a:t>
            </a:r>
            <a:endParaRPr lang="en-US" sz="1400"/>
          </a:p>
        </p:txBody>
      </p:sp>
      <p:sp>
        <p:nvSpPr>
          <p:cNvPr id="649228702" name="Shape 6"/>
          <p:cNvSpPr/>
          <p:nvPr/>
        </p:nvSpPr>
        <p:spPr bwMode="auto">
          <a:xfrm>
            <a:off x="5486400" y="1371600"/>
            <a:ext cx="32461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41265500" name="Text 7"/>
          <p:cNvSpPr/>
          <p:nvPr/>
        </p:nvSpPr>
        <p:spPr bwMode="auto">
          <a:xfrm>
            <a:off x="5577840" y="14173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2E74B5"/>
                </a:solidFill>
                <a:latin typeface="Calibri"/>
                <a:ea typeface="Calibri"/>
                <a:cs typeface="Calibri"/>
              </a:rPr>
              <a:t>→</a:t>
            </a:r>
            <a:endParaRPr lang="en-US" sz="1200"/>
          </a:p>
        </p:txBody>
      </p:sp>
      <p:sp>
        <p:nvSpPr>
          <p:cNvPr id="1446600265" name="Text 8"/>
          <p:cNvSpPr/>
          <p:nvPr/>
        </p:nvSpPr>
        <p:spPr bwMode="auto">
          <a:xfrm>
            <a:off x="5897880" y="139903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Einarbeitung in neue Tools dauert länger – Puffer einplanen</a:t>
            </a:r>
            <a:endParaRPr lang="en-US" sz="1100"/>
          </a:p>
        </p:txBody>
      </p:sp>
      <p:sp>
        <p:nvSpPr>
          <p:cNvPr id="491296043" name="Shape 9"/>
          <p:cNvSpPr/>
          <p:nvPr/>
        </p:nvSpPr>
        <p:spPr bwMode="auto">
          <a:xfrm>
            <a:off x="5486400" y="1874520"/>
            <a:ext cx="32461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987536431" name="Text 10"/>
          <p:cNvSpPr/>
          <p:nvPr/>
        </p:nvSpPr>
        <p:spPr bwMode="auto">
          <a:xfrm>
            <a:off x="5577840" y="192024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2E74B5"/>
                </a:solidFill>
                <a:latin typeface="Calibri"/>
                <a:ea typeface="Calibri"/>
                <a:cs typeface="Calibri"/>
              </a:rPr>
              <a:t>→</a:t>
            </a:r>
            <a:endParaRPr lang="en-US" sz="1200"/>
          </a:p>
        </p:txBody>
      </p:sp>
      <p:sp>
        <p:nvSpPr>
          <p:cNvPr id="455805853" name="Text 11"/>
          <p:cNvSpPr/>
          <p:nvPr/>
        </p:nvSpPr>
        <p:spPr bwMode="auto">
          <a:xfrm>
            <a:off x="5897880" y="190195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YAML-Konfiguration bietet hohe Flexibilität</a:t>
            </a:r>
            <a:endParaRPr lang="en-US" sz="1100"/>
          </a:p>
        </p:txBody>
      </p:sp>
      <p:sp>
        <p:nvSpPr>
          <p:cNvPr id="1333076385" name="Shape 12"/>
          <p:cNvSpPr/>
          <p:nvPr/>
        </p:nvSpPr>
        <p:spPr bwMode="auto">
          <a:xfrm>
            <a:off x="5486400" y="2377440"/>
            <a:ext cx="32461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6543378" name="Text 13"/>
          <p:cNvSpPr/>
          <p:nvPr/>
        </p:nvSpPr>
        <p:spPr bwMode="auto">
          <a:xfrm>
            <a:off x="5577840" y="242316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2E74B5"/>
                </a:solidFill>
                <a:latin typeface="Calibri"/>
                <a:ea typeface="Calibri"/>
                <a:cs typeface="Calibri"/>
              </a:rPr>
              <a:t>→</a:t>
            </a:r>
            <a:endParaRPr lang="en-US" sz="1200"/>
          </a:p>
        </p:txBody>
      </p:sp>
      <p:sp>
        <p:nvSpPr>
          <p:cNvPr id="808254286" name="Text 14"/>
          <p:cNvSpPr/>
          <p:nvPr/>
        </p:nvSpPr>
        <p:spPr bwMode="auto">
          <a:xfrm>
            <a:off x="5897880" y="240487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KI-Assistenten beschleunigen Troubleshooting erheblich</a:t>
            </a:r>
            <a:endParaRPr lang="en-US" sz="1100"/>
          </a:p>
        </p:txBody>
      </p:sp>
      <p:sp>
        <p:nvSpPr>
          <p:cNvPr id="1370614850" name="Shape 15"/>
          <p:cNvSpPr/>
          <p:nvPr/>
        </p:nvSpPr>
        <p:spPr bwMode="auto">
          <a:xfrm>
            <a:off x="5486400" y="2880360"/>
            <a:ext cx="32461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142434869" name="Text 16"/>
          <p:cNvSpPr/>
          <p:nvPr/>
        </p:nvSpPr>
        <p:spPr bwMode="auto">
          <a:xfrm>
            <a:off x="5577840" y="292608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2E74B5"/>
                </a:solidFill>
                <a:latin typeface="Calibri"/>
                <a:ea typeface="Calibri"/>
                <a:cs typeface="Calibri"/>
              </a:rPr>
              <a:t>→</a:t>
            </a:r>
            <a:endParaRPr lang="en-US" sz="1200"/>
          </a:p>
        </p:txBody>
      </p:sp>
      <p:sp>
        <p:nvSpPr>
          <p:cNvPr id="2018551079" name="Text 17"/>
          <p:cNvSpPr/>
          <p:nvPr/>
        </p:nvSpPr>
        <p:spPr bwMode="auto">
          <a:xfrm>
            <a:off x="5897880" y="290779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Blackbox Exporter: wertvolles Erreichbarkeits-Tool</a:t>
            </a:r>
            <a:endParaRPr lang="en-US" sz="1100"/>
          </a:p>
        </p:txBody>
      </p:sp>
      <p:sp>
        <p:nvSpPr>
          <p:cNvPr id="1641521709" name="Text 18"/>
          <p:cNvSpPr/>
          <p:nvPr/>
        </p:nvSpPr>
        <p:spPr bwMode="auto">
          <a:xfrm>
            <a:off x="411480" y="3429000"/>
            <a:ext cx="832103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Ausblick</a:t>
            </a:r>
            <a:endParaRPr lang="en-US" sz="1400"/>
          </a:p>
        </p:txBody>
      </p:sp>
      <p:sp>
        <p:nvSpPr>
          <p:cNvPr id="2118143524" name="Shape 19"/>
          <p:cNvSpPr/>
          <p:nvPr/>
        </p:nvSpPr>
        <p:spPr bwMode="auto">
          <a:xfrm>
            <a:off x="411480" y="3840480"/>
            <a:ext cx="4069080" cy="420624"/>
          </a:xfrm>
          <a:prstGeom prst="rect">
            <a:avLst/>
          </a:prstGeom>
          <a:solidFill>
            <a:srgbClr val="D6E4F0"/>
          </a:solidFill>
          <a:ln w="12700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41528137" name="Text 20"/>
          <p:cNvSpPr/>
          <p:nvPr/>
        </p:nvSpPr>
        <p:spPr bwMode="auto">
          <a:xfrm>
            <a:off x="548640" y="388620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Migration des produktiven PRTG-Monitorings auf Prometheus/Grafana</a:t>
            </a:r>
            <a:endParaRPr lang="en-US" sz="1100"/>
          </a:p>
        </p:txBody>
      </p:sp>
      <p:sp>
        <p:nvSpPr>
          <p:cNvPr id="1279234772" name="Shape 21"/>
          <p:cNvSpPr/>
          <p:nvPr/>
        </p:nvSpPr>
        <p:spPr bwMode="auto">
          <a:xfrm>
            <a:off x="4663440" y="3840480"/>
            <a:ext cx="4069080" cy="420624"/>
          </a:xfrm>
          <a:prstGeom prst="rect">
            <a:avLst/>
          </a:prstGeom>
          <a:solidFill>
            <a:srgbClr val="D6E4F0"/>
          </a:solidFill>
          <a:ln w="12700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23252286" name="Text 22"/>
          <p:cNvSpPr/>
          <p:nvPr/>
        </p:nvSpPr>
        <p:spPr bwMode="auto">
          <a:xfrm>
            <a:off x="4800600" y="388620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Weitere Exporters (Datenbank, Anwendungsmonitoring)</a:t>
            </a:r>
            <a:endParaRPr lang="en-US" sz="1100"/>
          </a:p>
        </p:txBody>
      </p:sp>
      <p:sp>
        <p:nvSpPr>
          <p:cNvPr id="2010859038" name="Shape 23"/>
          <p:cNvSpPr/>
          <p:nvPr/>
        </p:nvSpPr>
        <p:spPr bwMode="auto">
          <a:xfrm>
            <a:off x="411480" y="4343400"/>
            <a:ext cx="4069080" cy="420624"/>
          </a:xfrm>
          <a:prstGeom prst="rect">
            <a:avLst/>
          </a:prstGeom>
          <a:solidFill>
            <a:srgbClr val="D6E4F0"/>
          </a:solidFill>
          <a:ln w="12700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141923908" name="Text 24"/>
          <p:cNvSpPr/>
          <p:nvPr/>
        </p:nvSpPr>
        <p:spPr bwMode="auto">
          <a:xfrm>
            <a:off x="548640" y="438912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Automatisierte Bereitstellung via Docker Compose oder Ansible</a:t>
            </a:r>
            <a:endParaRPr lang="en-US" sz="1100"/>
          </a:p>
        </p:txBody>
      </p:sp>
      <p:sp>
        <p:nvSpPr>
          <p:cNvPr id="2099841793" name="Shape 25"/>
          <p:cNvSpPr/>
          <p:nvPr/>
        </p:nvSpPr>
        <p:spPr bwMode="auto">
          <a:xfrm>
            <a:off x="4663440" y="4343400"/>
            <a:ext cx="4069080" cy="420624"/>
          </a:xfrm>
          <a:prstGeom prst="rect">
            <a:avLst/>
          </a:prstGeom>
          <a:solidFill>
            <a:srgbClr val="D6E4F0"/>
          </a:solidFill>
          <a:ln w="12700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39510295" name="Text 26"/>
          <p:cNvSpPr/>
          <p:nvPr/>
        </p:nvSpPr>
        <p:spPr bwMode="auto">
          <a:xfrm>
            <a:off x="4800600" y="438912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Zusätzliche Alerting-Kanäle (Slack, Microsoft Teams)</a:t>
            </a:r>
            <a:endParaRPr lang="en-US" sz="1100"/>
          </a:p>
        </p:txBody>
      </p:sp>
      <p:sp>
        <p:nvSpPr>
          <p:cNvPr id="900050" name="Seitenzahl"/>
          <p:cNvSpPr/>
          <p:nvPr/>
        </p:nvSpPr>
        <p:spPr bwMode="auto">
          <a:xfrm>
            <a:off x="8250000" y="4970000"/>
            <a:ext cx="750000" cy="1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de-DE" sz="900" dirty="0">
                <a:solidFill>
                  <a:srgbClr val="5A8AB0"/>
                </a:solidFill>
                <a:latin typeface="Calibri"/>
                <a:ea typeface="Calibri"/>
                <a:cs typeface="Calibri"/>
              </a:rPr>
              <a:t>27 von 28</a:t>
            </a:r>
            <a:endParaRPr lang="de-DE" sz="9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 name="Slide 19"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8134337" name="Shape 0"/>
          <p:cNvSpPr/>
          <p:nvPr/>
        </p:nvSpPr>
        <p:spPr bwMode="auto">
          <a:xfrm>
            <a:off x="0" y="0"/>
            <a:ext cx="228600" cy="5143500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34380851" name="Text 1"/>
          <p:cNvSpPr/>
          <p:nvPr/>
        </p:nvSpPr>
        <p:spPr bwMode="auto">
          <a:xfrm>
            <a:off x="502920" y="1280160"/>
            <a:ext cx="8321039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3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Vielen Dank für Ihre Aufmerksamkeit!</a:t>
            </a:r>
            <a:endParaRPr lang="en-US" sz="3200"/>
          </a:p>
        </p:txBody>
      </p:sp>
      <p:sp>
        <p:nvSpPr>
          <p:cNvPr id="1934068263" name="Text 2"/>
          <p:cNvSpPr/>
          <p:nvPr/>
        </p:nvSpPr>
        <p:spPr bwMode="auto">
          <a:xfrm>
            <a:off x="502920" y="2286000"/>
            <a:ext cx="832103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2200">
                <a:solidFill>
                  <a:srgbClr val="D6E4F0"/>
                </a:solidFill>
                <a:latin typeface="Calibri"/>
                <a:ea typeface="Calibri"/>
                <a:cs typeface="Calibri"/>
              </a:rPr>
              <a:t>Fragen &amp; Diskussion</a:t>
            </a:r>
            <a:endParaRPr lang="en-US" sz="2200"/>
          </a:p>
        </p:txBody>
      </p:sp>
      <p:sp>
        <p:nvSpPr>
          <p:cNvPr id="1583270992" name="Shape 3"/>
          <p:cNvSpPr/>
          <p:nvPr/>
        </p:nvSpPr>
        <p:spPr bwMode="auto">
          <a:xfrm>
            <a:off x="502920" y="3200400"/>
            <a:ext cx="1920240" cy="1371600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64039342" name="Text 4"/>
          <p:cNvSpPr/>
          <p:nvPr/>
        </p:nvSpPr>
        <p:spPr bwMode="auto">
          <a:xfrm>
            <a:off x="502920" y="324612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  <a:defRPr/>
            </a:pPr>
            <a:r>
              <a:rPr lang="en-US" sz="3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  <a:endParaRPr lang="en-US" sz="3200"/>
          </a:p>
        </p:txBody>
      </p:sp>
      <p:sp>
        <p:nvSpPr>
          <p:cNvPr id="899129491" name="Text 5"/>
          <p:cNvSpPr/>
          <p:nvPr/>
        </p:nvSpPr>
        <p:spPr bwMode="auto">
          <a:xfrm>
            <a:off x="502920" y="40233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  <a:defRPr/>
            </a:pPr>
            <a:r>
              <a:rPr lang="en-US" sz="1100">
                <a:solidFill>
                  <a:srgbClr val="D6E4F0"/>
                </a:solidFill>
                <a:latin typeface="Calibri"/>
                <a:ea typeface="Calibri"/>
                <a:cs typeface="Calibri"/>
              </a:rPr>
              <a:t>Systeme überwacht</a:t>
            </a:r>
            <a:endParaRPr lang="en-US" sz="1100"/>
          </a:p>
        </p:txBody>
      </p:sp>
      <p:sp>
        <p:nvSpPr>
          <p:cNvPr id="1816074996" name="Shape 6"/>
          <p:cNvSpPr/>
          <p:nvPr/>
        </p:nvSpPr>
        <p:spPr bwMode="auto">
          <a:xfrm>
            <a:off x="2651760" y="3200400"/>
            <a:ext cx="1920240" cy="1371600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126019566" name="Text 7"/>
          <p:cNvSpPr/>
          <p:nvPr/>
        </p:nvSpPr>
        <p:spPr bwMode="auto">
          <a:xfrm>
            <a:off x="2651760" y="324612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  <a:defRPr/>
            </a:pPr>
            <a:r>
              <a:rPr lang="en-US" sz="3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6/6</a:t>
            </a:r>
            <a:endParaRPr lang="en-US" sz="3200"/>
          </a:p>
        </p:txBody>
      </p:sp>
      <p:sp>
        <p:nvSpPr>
          <p:cNvPr id="364019345" name="Text 8"/>
          <p:cNvSpPr/>
          <p:nvPr/>
        </p:nvSpPr>
        <p:spPr bwMode="auto">
          <a:xfrm>
            <a:off x="2651760" y="40233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  <a:defRPr/>
            </a:pPr>
            <a:r>
              <a:rPr lang="en-US" sz="1100">
                <a:solidFill>
                  <a:srgbClr val="D6E4F0"/>
                </a:solidFill>
                <a:latin typeface="Calibri"/>
                <a:ea typeface="Calibri"/>
                <a:cs typeface="Calibri"/>
              </a:rPr>
              <a:t>Tests bestanden</a:t>
            </a:r>
            <a:endParaRPr lang="en-US" sz="1100"/>
          </a:p>
        </p:txBody>
      </p:sp>
      <p:sp>
        <p:nvSpPr>
          <p:cNvPr id="1367457574" name="Shape 9"/>
          <p:cNvSpPr/>
          <p:nvPr/>
        </p:nvSpPr>
        <p:spPr bwMode="auto">
          <a:xfrm>
            <a:off x="4800600" y="3200400"/>
            <a:ext cx="1920240" cy="1371600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71775622" name="Text 10"/>
          <p:cNvSpPr/>
          <p:nvPr/>
        </p:nvSpPr>
        <p:spPr bwMode="auto">
          <a:xfrm>
            <a:off x="4800600" y="324612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  <a:defRPr/>
            </a:pPr>
            <a:r>
              <a:rPr lang="en-US" sz="32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120</a:t>
            </a:r>
            <a:endParaRPr lang="en-US" sz="3200" dirty="0"/>
          </a:p>
        </p:txBody>
      </p:sp>
      <p:sp>
        <p:nvSpPr>
          <p:cNvPr id="1468719335" name="Text 11"/>
          <p:cNvSpPr/>
          <p:nvPr/>
        </p:nvSpPr>
        <p:spPr bwMode="auto">
          <a:xfrm>
            <a:off x="4800600" y="40233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  <a:defRPr/>
            </a:pPr>
            <a:r>
              <a:rPr lang="en-US" sz="1100">
                <a:solidFill>
                  <a:srgbClr val="D6E4F0"/>
                </a:solidFill>
                <a:latin typeface="Calibri"/>
                <a:ea typeface="Calibri"/>
                <a:cs typeface="Calibri"/>
              </a:rPr>
              <a:t>Nutzwertpunkte</a:t>
            </a:r>
            <a:endParaRPr lang="en-US" sz="1100"/>
          </a:p>
        </p:txBody>
      </p:sp>
      <p:sp>
        <p:nvSpPr>
          <p:cNvPr id="175209456" name="Shape 12"/>
          <p:cNvSpPr/>
          <p:nvPr/>
        </p:nvSpPr>
        <p:spPr bwMode="auto">
          <a:xfrm>
            <a:off x="6949440" y="3200400"/>
            <a:ext cx="1920240" cy="1371600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95263568" name="Text 13"/>
          <p:cNvSpPr/>
          <p:nvPr/>
        </p:nvSpPr>
        <p:spPr bwMode="auto">
          <a:xfrm>
            <a:off x="6949440" y="324612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  <a:defRPr/>
            </a:pPr>
            <a:r>
              <a:rPr lang="en-US" sz="3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0 €</a:t>
            </a:r>
            <a:endParaRPr lang="en-US" sz="3200"/>
          </a:p>
        </p:txBody>
      </p:sp>
      <p:sp>
        <p:nvSpPr>
          <p:cNvPr id="1159639584" name="Text 14"/>
          <p:cNvSpPr/>
          <p:nvPr/>
        </p:nvSpPr>
        <p:spPr bwMode="auto">
          <a:xfrm>
            <a:off x="6949440" y="40233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  <a:defRPr/>
            </a:pPr>
            <a:r>
              <a:rPr lang="en-US" sz="1100">
                <a:solidFill>
                  <a:srgbClr val="D6E4F0"/>
                </a:solidFill>
                <a:latin typeface="Calibri"/>
                <a:ea typeface="Calibri"/>
                <a:cs typeface="Calibri"/>
              </a:rPr>
              <a:t>Lizenzkosten</a:t>
            </a:r>
            <a:endParaRPr lang="en-US" sz="1100"/>
          </a:p>
        </p:txBody>
      </p:sp>
      <p:sp>
        <p:nvSpPr>
          <p:cNvPr id="873098706" name="Text 15"/>
          <p:cNvSpPr/>
          <p:nvPr/>
        </p:nvSpPr>
        <p:spPr bwMode="auto">
          <a:xfrm>
            <a:off x="502920" y="4754880"/>
            <a:ext cx="83210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1100">
                <a:solidFill>
                  <a:srgbClr val="5A8AB0"/>
                </a:solidFill>
                <a:latin typeface="Calibri"/>
                <a:ea typeface="Calibri"/>
                <a:cs typeface="Calibri"/>
              </a:rPr>
              <a:t>Ioannis Kiourtzidis  |  Fachinformatiker Systemintegration  |  Bissantz &amp; Company GmbH  |  Sommer 2026</a:t>
            </a:r>
            <a:endParaRPr lang="en-US" sz="1100"/>
          </a:p>
        </p:txBody>
      </p:sp>
      <p:sp>
        <p:nvSpPr>
          <p:cNvPr id="900050" name="Seitenzahl"/>
          <p:cNvSpPr/>
          <p:nvPr/>
        </p:nvSpPr>
        <p:spPr bwMode="auto">
          <a:xfrm>
            <a:off x="8250000" y="4970000"/>
            <a:ext cx="750000" cy="1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de-DE" sz="900" dirty="0">
                <a:solidFill>
                  <a:srgbClr val="FFFFFF">
                    <a:alpha val="55000"/>
                  </a:srgbClr>
                </a:solidFill>
                <a:latin typeface="Calibri"/>
                <a:ea typeface="Calibri"/>
                <a:cs typeface="Calibri"/>
              </a:rPr>
              <a:t>28 von 28</a:t>
            </a:r>
            <a:endParaRPr lang="de-DE" sz="9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1041</Words>
  <Application>Microsoft Office PowerPoint</Application>
  <PresentationFormat>Bildschirmpräsentation (16:9)</PresentationFormat>
  <Paragraphs>388</Paragraphs>
  <Slides>28</Slides>
  <Notes>28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28</vt:i4>
      </vt:variant>
    </vt:vector>
  </HeadingPairs>
  <TitlesOfParts>
    <vt:vector size="32" baseType="lpstr">
      <vt:lpstr>Aptos</vt:lpstr>
      <vt:lpstr>Arial</vt:lpstr>
      <vt:lpstr>Calibri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Aufbau einer virtuellen IT-Infrastruktur – Monitoring-System</dc:title>
  <dc:subject>PptxGenJS Presentation</dc:subject>
  <dc:creator>Ioannis Kiourtzidis</dc:creator>
  <cp:lastModifiedBy>Ioannis Kiourtzidis</cp:lastModifiedBy>
  <cp:revision>19</cp:revision>
  <dcterms:created xsi:type="dcterms:W3CDTF">2026-05-07T10:59:05Z</dcterms:created>
  <dcterms:modified xsi:type="dcterms:W3CDTF">2026-06-29T14:13:42Z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803368d-9931-4cf3-ba90-7aab0414e018_Enabled">
    <vt:lpwstr>true</vt:lpwstr>
  </property>
  <property fmtid="{D5CDD505-2E9C-101B-9397-08002B2CF9AE}" pid="3" name="MSIP_Label_1803368d-9931-4cf3-ba90-7aab0414e018_SetDate">
    <vt:lpwstr>2026-05-15T09:05:02Z</vt:lpwstr>
  </property>
  <property fmtid="{D5CDD505-2E9C-101B-9397-08002B2CF9AE}" pid="4" name="MSIP_Label_1803368d-9931-4cf3-ba90-7aab0414e018_Method">
    <vt:lpwstr>Standard</vt:lpwstr>
  </property>
  <property fmtid="{D5CDD505-2E9C-101B-9397-08002B2CF9AE}" pid="5" name="MSIP_Label_1803368d-9931-4cf3-ba90-7aab0414e018_Name">
    <vt:lpwstr>Intern</vt:lpwstr>
  </property>
  <property fmtid="{D5CDD505-2E9C-101B-9397-08002B2CF9AE}" pid="6" name="MSIP_Label_1803368d-9931-4cf3-ba90-7aab0414e018_SiteId">
    <vt:lpwstr>e269c712-f9c3-429a-a5ca-c16f61bbfcb6</vt:lpwstr>
  </property>
  <property fmtid="{D5CDD505-2E9C-101B-9397-08002B2CF9AE}" pid="7" name="MSIP_Label_1803368d-9931-4cf3-ba90-7aab0414e018_ActionId">
    <vt:lpwstr>e6d07c78-7e13-411f-b33d-85261991cb7f</vt:lpwstr>
  </property>
  <property fmtid="{D5CDD505-2E9C-101B-9397-08002B2CF9AE}" pid="8" name="MSIP_Label_1803368d-9931-4cf3-ba90-7aab0414e018_ContentBits">
    <vt:lpwstr>2</vt:lpwstr>
  </property>
  <property fmtid="{D5CDD505-2E9C-101B-9397-08002B2CF9AE}" pid="9" name="MSIP_Label_1803368d-9931-4cf3-ba90-7aab0414e018_Tag">
    <vt:lpwstr>10, 3, 0, 1</vt:lpwstr>
  </property>
  <property fmtid="{D5CDD505-2E9C-101B-9397-08002B2CF9AE}" pid="10" name="ClassificationContentMarkingFooterLocations">
    <vt:lpwstr>Office Theme:3</vt:lpwstr>
  </property>
  <property fmtid="{D5CDD505-2E9C-101B-9397-08002B2CF9AE}" pid="11" name="ClassificationContentMarkingFooterText">
    <vt:lpwstr>intern</vt:lpwstr>
  </property>
</Properties>
</file>