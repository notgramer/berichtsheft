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0" r:id="rId9"/>
    <p:sldId id="281" r:id="rId10"/>
    <p:sldId id="282" r:id="rId11"/>
    <p:sldId id="261" r:id="rId12"/>
    <p:sldId id="262" r:id="rId13"/>
    <p:sldId id="263" r:id="rId14"/>
    <p:sldId id="283" r:id="rId15"/>
    <p:sldId id="264" r:id="rId16"/>
    <p:sldId id="265" r:id="rId17"/>
    <p:sldId id="266" r:id="rId18"/>
    <p:sldId id="267" r:id="rId19"/>
    <p:sldId id="284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4B5"/>
    <a:srgbClr val="A6A6A6"/>
    <a:srgbClr val="1F4E79"/>
    <a:srgbClr val="B3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2304" y="1284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013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42220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5/15/2026</a:t>
            </a:fld>
            <a:endParaRPr lang="en-US"/>
          </a:p>
        </p:txBody>
      </p:sp>
      <p:sp>
        <p:nvSpPr>
          <p:cNvPr id="188115691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088030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4755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877760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21402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927186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088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50842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47782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69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46920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478594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40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B8E202-5E66-541C-B729-3C4639B749A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796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17447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68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C38AB1-618D-DE5D-2D15-C8BD595D9050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C5E3-B88D-0E14-6703-BDDDE2E3AE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6221F78E-90DB-EE07-AA28-5EA0CF06D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8CCE87FE-D121-545C-DCD9-77A22E8A92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45BC82A0-BB67-0400-099E-635C05475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69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152B-D247-13B1-7DCB-2D0FA546AFE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F7FB6C79-99A1-091F-8EB2-86C4360AE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DE2A2646-1E77-531F-BAB7-316B1086A5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ACD03A2D-76DF-1EE0-1FFB-44B7132E4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1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7835E-C0F1-638B-F2DF-58C788EEC64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35E16B2B-BCD6-71BF-9D99-BE6EEF8DA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8B3A9CE9-3816-1E94-02C0-72C43F8AB8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548BD9EB-2BFC-F023-2EBA-8354DFFCF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06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BF48-B0C1-64E7-E4F5-6731BFEB19A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A53FD1C4-46D6-722F-D206-863526CF8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09C525C2-CDFA-5C5F-759F-6669C2D8D3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58081A28-D331-0A80-1F0C-6BE2C2C5D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4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8049-CCE3-7A9F-DDD6-87FD24CFB5D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CC5CD47C-B777-E7CE-C057-F61BE4C2B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15B8EC4A-3C86-E613-68C3-BD404BDDBE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F2A32D41-E799-9B11-3E0E-048475DC2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85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75161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831808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141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53182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83221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07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490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344971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647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769DC-24E2-2337-94E6-4E1239C81B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49099" name="Slide Image Placeholder 1">
            <a:extLst>
              <a:ext uri="{FF2B5EF4-FFF2-40B4-BE49-F238E27FC236}">
                <a16:creationId xmlns:a16="http://schemas.microsoft.com/office/drawing/2014/main" id="{F4CFC919-0D49-24BC-FB1D-335039A9D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344971908" name="Notes Placeholder 2">
            <a:extLst>
              <a:ext uri="{FF2B5EF4-FFF2-40B4-BE49-F238E27FC236}">
                <a16:creationId xmlns:a16="http://schemas.microsoft.com/office/drawing/2014/main" id="{52C070EF-1F3F-4264-2CC6-77DAB06AE3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647959" name="Slide Number Placeholder 3">
            <a:extLst>
              <a:ext uri="{FF2B5EF4-FFF2-40B4-BE49-F238E27FC236}">
                <a16:creationId xmlns:a16="http://schemas.microsoft.com/office/drawing/2014/main" id="{E2D79415-CBFB-4477-BE39-D5C8C0946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18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05611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620551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786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06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139728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449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58985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00686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416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3051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93643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26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6C4EA-F24A-A745-72CB-D49A3888C8D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30513" name="Slide Image Placeholder 1">
            <a:extLst>
              <a:ext uri="{FF2B5EF4-FFF2-40B4-BE49-F238E27FC236}">
                <a16:creationId xmlns:a16="http://schemas.microsoft.com/office/drawing/2014/main" id="{DD48F140-4FA7-C928-5C7E-4883947DA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93643103" name="Notes Placeholder 2">
            <a:extLst>
              <a:ext uri="{FF2B5EF4-FFF2-40B4-BE49-F238E27FC236}">
                <a16:creationId xmlns:a16="http://schemas.microsoft.com/office/drawing/2014/main" id="{2517D207-824C-E399-C4A5-67AD33BA5F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265736" name="Slide Number Placeholder 3">
            <a:extLst>
              <a:ext uri="{FF2B5EF4-FFF2-40B4-BE49-F238E27FC236}">
                <a16:creationId xmlns:a16="http://schemas.microsoft.com/office/drawing/2014/main" id="{40D408C4-302E-3851-B7D6-ED5375DBD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41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52420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319068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0824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91421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307192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4062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407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297289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165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3740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703091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691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59300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639590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9442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73072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803926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580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5307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1960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213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073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488955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79780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79758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78708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32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248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97082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2214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15BADC9-E388-BD87-9DD6-A204363B64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55075" y="4973320"/>
            <a:ext cx="242888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342327" name="!!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6338050" name="Text 1"/>
          <p:cNvSpPr/>
          <p:nvPr/>
        </p:nvSpPr>
        <p:spPr bwMode="auto">
          <a:xfrm>
            <a:off x="502920" y="9144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Aufbau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einer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virtuellen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IT-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Infrastruktur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l">
              <a:buNone/>
              <a:defRPr/>
            </a:pP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zur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Implementierung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eines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zentralen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l">
              <a:buNone/>
              <a:defRPr/>
            </a:pP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Monitoring-Systems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10456591" name="Text 2"/>
          <p:cNvSpPr/>
          <p:nvPr/>
        </p:nvSpPr>
        <p:spPr bwMode="auto">
          <a:xfrm>
            <a:off x="502920" y="2834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Abschlussprojekt Fachinformatiker Systemintegration · Sommer 2026</a:t>
            </a:r>
            <a:endParaRPr lang="en-US" sz="2000"/>
          </a:p>
        </p:txBody>
      </p:sp>
      <p:sp>
        <p:nvSpPr>
          <p:cNvPr id="357178745" name="Text 3"/>
          <p:cNvSpPr/>
          <p:nvPr/>
        </p:nvSpPr>
        <p:spPr bwMode="auto">
          <a:xfrm>
            <a:off x="50292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BAFC8"/>
                </a:solidFill>
                <a:latin typeface="Calibri"/>
                <a:ea typeface="Calibri"/>
                <a:cs typeface="Calibri"/>
              </a:rPr>
              <a:t>Ioannis Kiourtzidis  |  Bissantz &amp; Company GmbH  |  Sommer 2026</a:t>
            </a:r>
            <a:endParaRPr lang="en-US" sz="13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351199" name="Shape 3"/>
          <p:cNvSpPr/>
          <p:nvPr/>
        </p:nvSpPr>
        <p:spPr bwMode="auto">
          <a:xfrm>
            <a:off x="411480" y="1014984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2033021" name="Shape 9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328075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63769775" name="!!Shape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 dirty="0"/>
          </a:p>
        </p:txBody>
      </p:sp>
      <p:sp>
        <p:nvSpPr>
          <p:cNvPr id="121109778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5611619" name="Shape 4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0484083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02675060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3015662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752962867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1300" dirty="0"/>
          </a:p>
        </p:txBody>
      </p:sp>
      <p:sp>
        <p:nvSpPr>
          <p:cNvPr id="632577923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61860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81764811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523102982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1300"/>
          </a:p>
        </p:txBody>
      </p:sp>
      <p:sp>
        <p:nvSpPr>
          <p:cNvPr id="660524581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113627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73094154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903780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lang="en-US" sz="1300"/>
          </a:p>
        </p:txBody>
      </p:sp>
      <p:sp>
        <p:nvSpPr>
          <p:cNvPr id="110607347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60532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89451003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626687986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1300"/>
          </a:p>
        </p:txBody>
      </p:sp>
      <p:sp>
        <p:nvSpPr>
          <p:cNvPr id="875132478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16930259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111869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7146357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lang="en-US" sz="1300"/>
          </a:p>
        </p:txBody>
      </p:sp>
      <p:sp>
        <p:nvSpPr>
          <p:cNvPr id="124802095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653582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69407709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778507062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lang="en-US" sz="1300"/>
          </a:p>
        </p:txBody>
      </p:sp>
      <p:sp>
        <p:nvSpPr>
          <p:cNvPr id="1609885425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939996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8073713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65357587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Fazit &amp; Ausblick</a:t>
            </a:r>
            <a:endParaRPr lang="en-US" sz="1300"/>
          </a:p>
        </p:txBody>
      </p:sp>
      <p:sp>
        <p:nvSpPr>
          <p:cNvPr id="4" name="Anzeiger">
            <a:extLst>
              <a:ext uri="{FF2B5EF4-FFF2-40B4-BE49-F238E27FC236}">
                <a16:creationId xmlns:a16="http://schemas.microsoft.com/office/drawing/2014/main" id="{347CB75D-8076-B202-0462-2D959EF0600E}"/>
              </a:ext>
            </a:extLst>
          </p:cNvPr>
          <p:cNvSpPr/>
          <p:nvPr/>
        </p:nvSpPr>
        <p:spPr bwMode="auto">
          <a:xfrm>
            <a:off x="450963" y="-1627632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865769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11804772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97553891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6617083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34630197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20717504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106902690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3534599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463261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2060393772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4152346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8734118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82284612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720761890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61233739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611453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53731652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43744979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8049021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1494536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946582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344605560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05771511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750572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846990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981388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344820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7634101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4474072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227101324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44234917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1711755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5092358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7654198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ED7871FD-D67F-9B4C-DF68-EE0204920C22}"/>
              </a:ext>
            </a:extLst>
          </p:cNvPr>
          <p:cNvSpPr/>
          <p:nvPr/>
        </p:nvSpPr>
        <p:spPr bwMode="auto">
          <a:xfrm>
            <a:off x="412864" y="100584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003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62693565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09788228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9557890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2117928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609944422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92623497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98139430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0547030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7332363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tx1"/>
              </a:solidFill>
            </a:endParaRPr>
          </a:p>
        </p:txBody>
      </p:sp>
      <p:sp>
        <p:nvSpPr>
          <p:cNvPr id="191381631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3625843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6932930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073533166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29106082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885314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9993939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2110354638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0888127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7153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6432951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1823361809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46668116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59494867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1401640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93311885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35567326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3057362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1598580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472362019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06883572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68767483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52661534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9000366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DF627B22-79D2-4C88-A426-5F8B1313F903}"/>
              </a:ext>
            </a:extLst>
          </p:cNvPr>
          <p:cNvSpPr/>
          <p:nvPr/>
        </p:nvSpPr>
        <p:spPr bwMode="auto">
          <a:xfrm>
            <a:off x="412864" y="1968727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26149793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BAB20858-EE91-AF1E-948B-3B58DD2F5B78}"/>
              </a:ext>
            </a:extLst>
          </p:cNvPr>
          <p:cNvSpPr/>
          <p:nvPr/>
        </p:nvSpPr>
        <p:spPr bwMode="auto">
          <a:xfrm>
            <a:off x="412864" y="292608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E3FF7-D6D9-F094-D2E8-6EC12C7C24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B887A3C8-4514-4704-E8C7-6C0FF5533D6B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14C44AC4-5AB4-DC0D-263A-DFBE3CC1556E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8AA96055-473D-8C45-2251-E5415C14B8BD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B0B3ED93-6583-F9ED-F979-89DDCDA1B36C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D60670C6-EA31-6B9D-D21E-564DAEE08C11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AC7A63C7-987D-16C9-BD4B-75FE93B04AEA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006023BF-55EC-4715-E0AA-A13A29801079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263589FE-5CAA-C6D1-49DE-A2AC67C55D4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7D3F108C-8DFE-9B83-20A2-D50D818BD584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CA6FCF21-7B30-CEF4-2376-7A164AB30AB1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BE7293CA-CED3-BC27-9C5A-7458B0167C8A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9BA9786F-7A7C-618A-CF6D-8591CC14691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3B502357-EA61-616C-5708-EC3D60D4E043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F9C7FF19-C714-6A1D-0789-A0AC32DEDB8C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9B4A25CE-9268-B830-F2DB-C18CC75B7592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67EA39EF-0A04-4A1F-CE80-9C9C098575B3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F831276A-DB92-0267-04A9-347CE409212C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F041D095-A28E-145B-3DF7-C1296C79D653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latin typeface="Calibri"/>
                <a:ea typeface="Calibri"/>
                <a:cs typeface="Calibri"/>
              </a:rPr>
              <a:t>Technologie-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Entscheidung</a:t>
            </a:r>
            <a:endParaRPr sz="1300" dirty="0"/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650E2422-4DCF-DA75-E52F-E11BAB156B76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05CD9701-FCB6-6B20-9ADD-064EF53B817B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D47B0830-69D8-0B4B-29FF-96FFB39C972D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15DB669F-DADF-4637-852D-92B41D842967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057B70E8-4C1A-063C-A857-815250DF6C12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9C6AEC18-00C0-7F00-9435-95D4E0F61F8F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F4A0B423-609C-A810-2DFC-5167ED1AD145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7E0667A6-1A67-8B24-F59C-4BE176F69640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5D33A06B-2143-3AFA-9759-9627D930F482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53BAFCDB-51DD-8B09-9548-B0A7B1E76418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99B641A3-E2FA-AAF4-1366-609BE27432A2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EBA9DFCC-CF9F-70D5-D16E-44190EEE42E7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02AFD7CB-431C-58D8-B6D5-5BFF63F8919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A3F798AE-8F76-3457-D822-CD78D7CD250B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E5AAB196-FE8A-FA92-B5D5-E2BEC78D4F4E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FCCD7CE6-EE58-F7D9-3890-2AD92476F72E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20FF0414-CC55-8625-B089-542A373FAE93}"/>
              </a:ext>
            </a:extLst>
          </p:cNvPr>
          <p:cNvSpPr/>
          <p:nvPr/>
        </p:nvSpPr>
        <p:spPr bwMode="auto">
          <a:xfrm>
            <a:off x="412864" y="388620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284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13599-8CF3-7EDC-B210-E79BEE271E1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415C17BC-03CB-1CE0-DE32-F83B5D2847CC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3B508ED7-9766-28F2-D969-314036928611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4CBD3066-DD6C-34CF-042B-109857B58335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20C3FC52-F5EA-4B64-B086-C71B82C21FF5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BD9CF79C-E016-4DD8-5CED-05C7F0015B35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8D04FAB1-E4DC-2C43-05DC-507A0EE45D7B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9CC6BC81-5588-A761-1472-434902A0583A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D64EBEC6-EDFA-CDDF-54D8-8216A891D1E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0C5AEC30-92AA-A123-A5F7-1528AE57B3FF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307947E6-976B-3040-97D7-6FFA08D29F7A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7315B040-353D-D9CC-13EA-D340D1BD6A6C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80529FE8-3A64-78A1-1865-58C296CDD1B7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EC88077D-72C9-21C5-7B26-2FB3868B6A8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7513285D-7C50-3B9B-D539-46459A969D13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9429A44C-AB7C-9021-6DD7-A409352D4AFD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DC5B6FBD-4C4D-51FB-266D-E7622E74571A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C7F584C7-2228-FE0A-5BE5-0F5AA144C303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42838062-A658-D0E7-C5DE-8FC92EA3315A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CB622151-5626-F46E-D75C-F185B5CF57C9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2875EEF6-1A67-F287-EC25-629CC7531978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053FD488-BC14-C8FD-31A1-103B56B13D55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1339C0B6-DCDA-14A6-CE65-BC41DF8D378F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Implementierung</a:t>
            </a:r>
            <a:endParaRPr sz="1300" dirty="0"/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42F8B5D7-F259-58F1-BA3F-755C94C54346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8BEAA260-661C-00AB-C0CF-BA5AE828F75B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7C6D037C-5428-6E77-A840-B7B586646843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B976FE09-2D0F-06E0-5037-11F1138270BD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7636BF73-1F7C-5411-2B37-1726DF3BA409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68D26DF3-DB69-8575-DAB2-AE8FE6921217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AEF0B9E0-8E00-5E5C-24BD-96F25108C634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73CB1EBA-503E-2DD3-E911-C7A158ABC231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B6D9A7CE-3A11-C748-3954-94448D19D70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748705DD-B7E2-8CF0-A1AE-C2C262F5962A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F6964C40-F7BB-389C-7270-74EAAB0B61C6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9B5928C8-85B8-D359-416C-6AA01A159171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9863D36E-8D92-137F-BFE5-40AE1F5185AC}"/>
              </a:ext>
            </a:extLst>
          </p:cNvPr>
          <p:cNvSpPr/>
          <p:nvPr/>
        </p:nvSpPr>
        <p:spPr bwMode="auto">
          <a:xfrm>
            <a:off x="4741024" y="100584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2698C-FAF1-521F-EC0F-1D4C035C24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F309CFE1-BB27-DC8F-5896-E12ECA9F3D1D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522D5CB9-9D69-A691-8F2B-B5901322DAA9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E2741CB8-5311-C38C-78DF-C664DCB687E6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50F45054-064E-3525-BBAF-8100C710418D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784A1918-ABCF-9BDA-8767-1301F9958DC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E23DC4DE-A57B-D0E5-2E40-F3E8B719E732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EAAA7AEE-3D74-9601-EFC7-53025B02223B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B36D0BA7-D59F-4C04-30C7-206D2C2B6C10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80CA5643-A3C8-CEFC-D8FE-1890913F68A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F77A5F2D-92BC-CCB4-674A-B5B6AD506B45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5E4E840C-8A83-D280-CB9A-4747967AE3BE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E66844E6-E32B-AB7B-B5D5-65ECFCCDA153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5683389-1546-85FF-1027-B1FFB0B3F1E5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238F49B4-EAD1-A822-DB72-737EE47FA455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CA380E2B-0172-E7DE-5AAA-8F93B4B90C4C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71CF0133-F1D7-0A17-003C-0990D4F57B86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9D03EE09-9873-C3A4-9016-BEE67FADC698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53A52F45-3305-2BC0-5244-3166BB0F1A53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57389C18-3AA5-DDAD-228C-8CD3144944A6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C5A6B055-FB3F-8DA9-FBAE-6A2CF044F67C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9D2D0181-C6ED-CB7C-93D1-E2A5C1DE8711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59366592-DCC1-5F49-F253-A457FCEB97C4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32DB120F-B65D-E8AE-2E52-EDA351EEA207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0E976FC8-BF8F-F64A-0360-5BA66CEABCA3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4258B37E-C9D6-C63D-717A-0EEDA4DAAF20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0C0BECFD-C12B-1003-B72C-00AA28AF9146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latin typeface="Calibri"/>
                <a:ea typeface="Calibri"/>
                <a:cs typeface="Calibri"/>
              </a:rPr>
              <a:t>Tests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Ergebnisse</a:t>
            </a:r>
            <a:endParaRPr sz="1300" dirty="0"/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002E7ED6-EC81-807F-DC80-C8156E6743B1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89B1DCF7-6133-185E-224D-467F3B731F7C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4F23284E-27AB-E368-66AE-9F2D520D5871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E801D5B9-EA7F-639A-2E6F-7171F8DC8FFB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83E4BC19-8DC2-05F2-818C-F48A40EC36D8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ECFCF26B-EEB0-6518-9573-C1DD754EB34A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00B2BBDB-00B7-76DD-4DB1-F8F86150502C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A8BF4214-4A54-C8A6-8C45-BB48478986C9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19A1D267-FA26-4379-45AD-ACE3E885E187}"/>
              </a:ext>
            </a:extLst>
          </p:cNvPr>
          <p:cNvSpPr/>
          <p:nvPr/>
        </p:nvSpPr>
        <p:spPr bwMode="auto">
          <a:xfrm>
            <a:off x="4756264" y="196596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42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E2836-663B-EF08-FFAE-5B50A2D9540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1DF93EBC-8A42-0310-807C-DCDA20E1182F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32FF97F2-115A-1EBD-BF20-9D03A81AB853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33ECE8A3-69C1-9110-7F07-3E8E96B93A7F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F6D16B81-BEA4-8BFD-3496-D1D2A13CD90F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CCC50A9F-A676-AF6A-B89A-12C5DB185BD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4644B662-0AC9-46DB-5AA7-1952C7478089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46DD1959-F438-71EA-5516-D60AF05DD706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23A06019-0A03-2EF2-A2CA-BF39AD9AD10E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00680B64-67B7-BB49-6A68-2A01D7A10CF6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F71AB986-8B96-B0C4-A030-C9DA98317B07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200CA4F4-FB8A-91A4-8E20-D47B8C2C49C1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B59D7B4D-9EEA-F93D-07DB-E6E9492F5097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919C992-E4A9-8C96-3B4E-144BF8088CFB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4B903078-F861-2255-392C-A59B34A1EF8D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rgbClr val="B3AFAF"/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rgbClr val="B3AFAF"/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AF338F4D-B0D2-BE52-DE65-841B9A5D779C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7A075264-F9EF-FBC9-D68D-49470D4135C7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B3CEA54B-7583-AAA1-2ED1-CE39B6F7FE11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7E8DA4C1-1856-EE14-862C-C58B08DEC07A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46819CEF-AF49-F34B-2BED-A72E18225323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D298772B-FE31-0307-22B7-9569FF1FE147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66371AC7-C2CC-FC43-68C0-30D631557827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4CEC8A81-7267-9FF4-246D-5F75AA4F3760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3CF9CC90-E1FF-07A1-6AE3-786EDA5C0720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1E780E88-DD1B-98D5-88F7-4554169972B2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9509A791-B982-82A6-1BB5-547917650A0E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64C821ED-34AF-9198-D2F5-36C42D3DEE88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</a:t>
            </a: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Ergebnisse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D229A729-2919-EBAF-63F4-5C749D20FBC3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D4470038-09A9-1955-1362-9C680DC8DBE5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C869831A-775B-C279-74B2-9C88F81CD58C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129EB2E4-D7BE-CC53-7BA2-6257B054A564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Nutzwertanalyse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Empfehlung</a:t>
            </a:r>
            <a:endParaRPr sz="1300" dirty="0"/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8A70856C-E0C3-9269-924D-88C4F1280EA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4516F239-EC78-5362-9B1C-CCBA381FF791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EFF5E60A-8F6B-561C-C378-0FEDF9BECC5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2A09D38E-8E32-BF46-506E-FD4BC9234911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97D4C697-C65B-F267-638B-14E0F51C028C}"/>
              </a:ext>
            </a:extLst>
          </p:cNvPr>
          <p:cNvSpPr/>
          <p:nvPr/>
        </p:nvSpPr>
        <p:spPr bwMode="auto">
          <a:xfrm>
            <a:off x="4756264" y="292608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660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FEF55-0101-54F0-7A53-D9E34209071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122B7485-3A2D-B903-457B-83C03BD2F9F9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E5DFDE04-830F-B711-7F73-CF69EB811387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BBDFA748-EB6E-4BF4-CFF9-6A2B060D632D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!!something1">
            <a:extLst>
              <a:ext uri="{FF2B5EF4-FFF2-40B4-BE49-F238E27FC236}">
                <a16:creationId xmlns:a16="http://schemas.microsoft.com/office/drawing/2014/main" id="{98B66E64-041B-5F30-1BEF-F85921861F0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B79EB9F6-E52E-7A82-F079-FE8D783C4FF8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3AC12F85-0545-622B-14A1-A4B814055D32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40F8064F-81EB-1280-4F5E-F9FD020C8C57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B7D47077-1707-E020-3428-3B8314E18466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18E5928D-7DD5-3620-9E74-305B76F089A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56A199F6-D633-B182-A441-3BF70155EF25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BA4BD3E3-ADA4-D477-9D8B-18514D547760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8FEB494C-884A-FABC-3F96-6F8B932B1516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471F81F-900B-A3BA-59A9-430A84CC4F8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5DBCCA98-5A98-8B43-1E36-5133F52E973F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A1C925B9-BC6F-A075-639F-FFB6830CE044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F4BB65C8-9445-8E56-CBCB-63E1BD7E9F50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C63D2309-305E-9996-7FDB-CF291D37138B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BEE7171F-AFF6-7B47-CA44-C3FF9FE69B1C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Technologie-</a:t>
            </a:r>
            <a:r>
              <a:rPr lang="en-US" sz="1300" b="1" dirty="0" err="1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Entscheidung</a:t>
            </a:r>
            <a:endParaRPr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701CF955-3404-F854-79E8-A9073601F7EB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60A546C8-69FA-40FC-52DD-C549518E9575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B811FE56-968C-6F31-C03B-E6E35ED93BF4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C5E1DE0B-9340-4FCE-62C5-77CE42858F2C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124D878A-CCEA-AE5F-038D-66F90BA885D4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3C955213-DACA-348B-7221-EEC2697A4329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E9474FF2-C121-2328-A710-F4BFE68AD2D4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9785DB7D-24D2-72FF-DA89-053B4ECB1F01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F7D99BCC-351E-5393-FFE4-A20F2C153100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CA39E8ED-C8EC-B396-3EB3-28DEF40DE2FB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DD1CFD62-6364-921D-27B9-43AEA1FF3FE4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51989034-1211-4A73-A52E-E9FA0DBF618C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25D56FD4-3544-139B-EDCC-CD485B15F458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A1A692F2-E93D-628A-82E5-84D882A1456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2C51C4BF-B234-5141-003C-A8E0892AB5F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C9F85284-412A-A4B5-F3C9-2D0768C61250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Fazit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Ausblick</a:t>
            </a:r>
            <a:endParaRPr sz="1300" dirty="0"/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EBE14F73-6BA3-A889-47EF-DFEB42A71582}"/>
              </a:ext>
            </a:extLst>
          </p:cNvPr>
          <p:cNvSpPr/>
          <p:nvPr/>
        </p:nvSpPr>
        <p:spPr bwMode="auto">
          <a:xfrm>
            <a:off x="4748644" y="388620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008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7DCB129D-D2A9-A747-0B02-1C7E7835DB16}"/>
              </a:ext>
            </a:extLst>
          </p:cNvPr>
          <p:cNvSpPr/>
          <p:nvPr/>
        </p:nvSpPr>
        <p:spPr bwMode="auto">
          <a:xfrm>
            <a:off x="2971800" y="121920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0150301" name="!!something1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96000"/>
              </a:srgbClr>
            </a:solidFill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229205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glow>
                    <a:schemeClr val="bg1">
                      <a:alpha val="0"/>
                    </a:schemeClr>
                  </a:glow>
                  <a:outerShdw blurRad="50800" dist="38100" dir="16200000" rotWithShape="0">
                    <a:schemeClr val="tx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01</a:t>
            </a:r>
            <a:endParaRPr lang="en-US" sz="7200" dirty="0">
              <a:effectLst>
                <a:glow>
                  <a:schemeClr val="bg1">
                    <a:alpha val="0"/>
                  </a:schemeClr>
                </a:glow>
                <a:outerShdw blurRad="50800" dist="38100" dir="16200000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498627751" name="!!Text 0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Ausgangssituation</a:t>
            </a:r>
            <a:r>
              <a:rPr lang="en-US" sz="32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 &amp; Problem</a:t>
            </a:r>
            <a:endParaRPr lang="en-US" sz="3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FDB871-1EA3-92A7-9737-BA6F499960D8}"/>
              </a:ext>
            </a:extLst>
          </p:cNvPr>
          <p:cNvSpPr/>
          <p:nvPr/>
        </p:nvSpPr>
        <p:spPr>
          <a:xfrm>
            <a:off x="1280160" y="3436620"/>
            <a:ext cx="451866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35C1321-D242-EB30-914C-B6AF1353093F}"/>
              </a:ext>
            </a:extLst>
          </p:cNvPr>
          <p:cNvSpPr/>
          <p:nvPr/>
        </p:nvSpPr>
        <p:spPr>
          <a:xfrm>
            <a:off x="5798820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A40D9CD-784B-3EDA-D9CF-E488BAB2325E}"/>
              </a:ext>
            </a:extLst>
          </p:cNvPr>
          <p:cNvSpPr/>
          <p:nvPr/>
        </p:nvSpPr>
        <p:spPr bwMode="auto">
          <a:xfrm>
            <a:off x="1882140" y="121920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4B26AD2-9C65-7CCE-B180-B28121441A63}"/>
              </a:ext>
            </a:extLst>
          </p:cNvPr>
          <p:cNvSpPr/>
          <p:nvPr/>
        </p:nvSpPr>
        <p:spPr bwMode="auto">
          <a:xfrm>
            <a:off x="3444240" y="2522220"/>
            <a:ext cx="392430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A7B104A-49AE-98BB-D15B-3B8942D9B0C7}"/>
              </a:ext>
            </a:extLst>
          </p:cNvPr>
          <p:cNvSpPr/>
          <p:nvPr/>
        </p:nvSpPr>
        <p:spPr bwMode="auto">
          <a:xfrm>
            <a:off x="4110990" y="7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804918C-D18C-A6E3-FDF7-D0E9F0CD4063}"/>
              </a:ext>
            </a:extLst>
          </p:cNvPr>
          <p:cNvSpPr/>
          <p:nvPr/>
        </p:nvSpPr>
        <p:spPr bwMode="auto">
          <a:xfrm>
            <a:off x="4583430" y="45034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C227F41-D706-C77E-C848-70FD626261A8}"/>
              </a:ext>
            </a:extLst>
          </p:cNvPr>
          <p:cNvSpPr/>
          <p:nvPr/>
        </p:nvSpPr>
        <p:spPr bwMode="auto">
          <a:xfrm>
            <a:off x="7368540" y="594360"/>
            <a:ext cx="457200" cy="233172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87DE87A-62E1-BFA0-9B2D-AD1A09F69A0D}"/>
              </a:ext>
            </a:extLst>
          </p:cNvPr>
          <p:cNvSpPr/>
          <p:nvPr/>
        </p:nvSpPr>
        <p:spPr bwMode="auto">
          <a:xfrm>
            <a:off x="228600" y="815340"/>
            <a:ext cx="2108835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AE73320-8824-921B-3C1A-77E71AC30B81}"/>
              </a:ext>
            </a:extLst>
          </p:cNvPr>
          <p:cNvSpPr/>
          <p:nvPr/>
        </p:nvSpPr>
        <p:spPr bwMode="auto">
          <a:xfrm>
            <a:off x="2339341" y="4503420"/>
            <a:ext cx="222885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26A35CA-9C26-512A-85F5-833A8DBC73F6}"/>
              </a:ext>
            </a:extLst>
          </p:cNvPr>
          <p:cNvSpPr/>
          <p:nvPr/>
        </p:nvSpPr>
        <p:spPr bwMode="auto">
          <a:xfrm>
            <a:off x="1876425" y="45034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5" name="Rechteck 1498627744">
            <a:extLst>
              <a:ext uri="{FF2B5EF4-FFF2-40B4-BE49-F238E27FC236}">
                <a16:creationId xmlns:a16="http://schemas.microsoft.com/office/drawing/2014/main" id="{720AEED2-8658-FF2A-A3E8-A8A19E61C26B}"/>
              </a:ext>
            </a:extLst>
          </p:cNvPr>
          <p:cNvSpPr/>
          <p:nvPr/>
        </p:nvSpPr>
        <p:spPr bwMode="auto">
          <a:xfrm>
            <a:off x="813435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7" name="Rechteck 1498627746">
            <a:extLst>
              <a:ext uri="{FF2B5EF4-FFF2-40B4-BE49-F238E27FC236}">
                <a16:creationId xmlns:a16="http://schemas.microsoft.com/office/drawing/2014/main" id="{EB387899-869F-7B61-2A80-A36FFB776196}"/>
              </a:ext>
            </a:extLst>
          </p:cNvPr>
          <p:cNvSpPr/>
          <p:nvPr/>
        </p:nvSpPr>
        <p:spPr bwMode="auto">
          <a:xfrm>
            <a:off x="5177790" y="594360"/>
            <a:ext cx="457200" cy="160020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9" name="Rechteck 1498627748">
            <a:extLst>
              <a:ext uri="{FF2B5EF4-FFF2-40B4-BE49-F238E27FC236}">
                <a16:creationId xmlns:a16="http://schemas.microsoft.com/office/drawing/2014/main" id="{CECCB60A-4281-6742-224B-8CB64AD5FB94}"/>
              </a:ext>
            </a:extLst>
          </p:cNvPr>
          <p:cNvSpPr/>
          <p:nvPr/>
        </p:nvSpPr>
        <p:spPr bwMode="auto">
          <a:xfrm>
            <a:off x="5177790" y="194310"/>
            <a:ext cx="396621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2" name="Rechteck 1498627751">
            <a:extLst>
              <a:ext uri="{FF2B5EF4-FFF2-40B4-BE49-F238E27FC236}">
                <a16:creationId xmlns:a16="http://schemas.microsoft.com/office/drawing/2014/main" id="{0FFB9E5A-6F5C-5DF6-AE17-B68A796B6FB1}"/>
              </a:ext>
            </a:extLst>
          </p:cNvPr>
          <p:cNvSpPr/>
          <p:nvPr/>
        </p:nvSpPr>
        <p:spPr bwMode="auto">
          <a:xfrm>
            <a:off x="6235065" y="117729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4" name="Rechteck 1498627753">
            <a:extLst>
              <a:ext uri="{FF2B5EF4-FFF2-40B4-BE49-F238E27FC236}">
                <a16:creationId xmlns:a16="http://schemas.microsoft.com/office/drawing/2014/main" id="{3DC1A168-0190-F768-3620-205DDAFD967D}"/>
              </a:ext>
            </a:extLst>
          </p:cNvPr>
          <p:cNvSpPr/>
          <p:nvPr/>
        </p:nvSpPr>
        <p:spPr bwMode="auto">
          <a:xfrm>
            <a:off x="8763000" y="1177290"/>
            <a:ext cx="369570" cy="174879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6" name="Rechteck 1498627755">
            <a:extLst>
              <a:ext uri="{FF2B5EF4-FFF2-40B4-BE49-F238E27FC236}">
                <a16:creationId xmlns:a16="http://schemas.microsoft.com/office/drawing/2014/main" id="{8FEC471F-9C36-2E75-A3AF-138C0E8D5AA1}"/>
              </a:ext>
            </a:extLst>
          </p:cNvPr>
          <p:cNvSpPr/>
          <p:nvPr/>
        </p:nvSpPr>
        <p:spPr bwMode="auto">
          <a:xfrm>
            <a:off x="2987040" y="76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8" name="Rechteck 1498627757">
            <a:extLst>
              <a:ext uri="{FF2B5EF4-FFF2-40B4-BE49-F238E27FC236}">
                <a16:creationId xmlns:a16="http://schemas.microsoft.com/office/drawing/2014/main" id="{1669C589-34BD-5244-E5A1-D6231CC0EC7B}"/>
              </a:ext>
            </a:extLst>
          </p:cNvPr>
          <p:cNvSpPr/>
          <p:nvPr/>
        </p:nvSpPr>
        <p:spPr bwMode="auto">
          <a:xfrm>
            <a:off x="813435" y="0"/>
            <a:ext cx="1626870" cy="19431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60" name="Rechteck 1498627759">
            <a:extLst>
              <a:ext uri="{FF2B5EF4-FFF2-40B4-BE49-F238E27FC236}">
                <a16:creationId xmlns:a16="http://schemas.microsoft.com/office/drawing/2014/main" id="{07C2FE0E-1C92-D523-A3C4-5A4E041D9872}"/>
              </a:ext>
            </a:extLst>
          </p:cNvPr>
          <p:cNvSpPr/>
          <p:nvPr/>
        </p:nvSpPr>
        <p:spPr bwMode="auto">
          <a:xfrm>
            <a:off x="8096250" y="41986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3D9951B-D2D1-6BB1-727F-DAF9BC63D8C5}"/>
              </a:ext>
            </a:extLst>
          </p:cNvPr>
          <p:cNvSpPr/>
          <p:nvPr/>
        </p:nvSpPr>
        <p:spPr bwMode="auto">
          <a:xfrm>
            <a:off x="6911340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60C9A5F-495F-3D47-E2A1-188CF7722938}"/>
              </a:ext>
            </a:extLst>
          </p:cNvPr>
          <p:cNvSpPr/>
          <p:nvPr/>
        </p:nvSpPr>
        <p:spPr bwMode="auto">
          <a:xfrm>
            <a:off x="7368540" y="3436620"/>
            <a:ext cx="177546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888308" name="!!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Ausgangssituation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Bissantz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&amp; Company</a:t>
            </a:r>
            <a:endParaRPr lang="en-US" sz="2600" dirty="0"/>
          </a:p>
        </p:txBody>
      </p:sp>
      <p:sp>
        <p:nvSpPr>
          <p:cNvPr id="738687418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6305465" name="Text 3"/>
          <p:cNvSpPr/>
          <p:nvPr/>
        </p:nvSpPr>
        <p:spPr bwMode="auto">
          <a:xfrm>
            <a:off x="41148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Bissantz &amp; Company GmbH</a:t>
            </a:r>
            <a:endParaRPr lang="en-US" sz="1500"/>
          </a:p>
        </p:txBody>
      </p:sp>
      <p:sp>
        <p:nvSpPr>
          <p:cNvPr id="1188911920" name="Text 4"/>
          <p:cNvSpPr/>
          <p:nvPr/>
        </p:nvSpPr>
        <p:spPr bwMode="auto">
          <a:xfrm>
            <a:off x="4114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BI-Software DeltaMaster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Standorte: Nürnberg, Hamburg, Schweiz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~100 Mitarbeitende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Kunden: Bosch, Porsche, Leica, Würth</a:t>
            </a:r>
            <a:endParaRPr lang="en-US" sz="1300"/>
          </a:p>
        </p:txBody>
      </p:sp>
      <p:sp>
        <p:nvSpPr>
          <p:cNvPr id="1850133411" name="Text 5"/>
          <p:cNvSpPr/>
          <p:nvPr/>
        </p:nvSpPr>
        <p:spPr bwMode="auto">
          <a:xfrm>
            <a:off x="4114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Probleme mit PRTG (kostenlos)</a:t>
            </a:r>
            <a:endParaRPr lang="en-US" sz="1500"/>
          </a:p>
        </p:txBody>
      </p:sp>
      <p:sp>
        <p:nvSpPr>
          <p:cNvPr id="1599779526" name="Shape 6"/>
          <p:cNvSpPr/>
          <p:nvPr/>
        </p:nvSpPr>
        <p:spPr bwMode="auto">
          <a:xfrm>
            <a:off x="411480" y="329184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9605300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355848"/>
            <a:ext cx="292608" cy="292608"/>
          </a:xfrm>
          <a:prstGeom prst="rect">
            <a:avLst/>
          </a:prstGeom>
        </p:spPr>
      </p:pic>
      <p:sp>
        <p:nvSpPr>
          <p:cNvPr id="2052574400" name="Text 7"/>
          <p:cNvSpPr/>
          <p:nvPr/>
        </p:nvSpPr>
        <p:spPr bwMode="auto">
          <a:xfrm>
            <a:off x="9601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100 Sensor-Limit</a:t>
            </a:r>
            <a:endParaRPr lang="en-US" sz="1200"/>
          </a:p>
        </p:txBody>
      </p:sp>
      <p:sp>
        <p:nvSpPr>
          <p:cNvPr id="1846717344" name="Text 8"/>
          <p:cNvSpPr/>
          <p:nvPr/>
        </p:nvSpPr>
        <p:spPr bwMode="auto">
          <a:xfrm>
            <a:off x="228600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Grenze wird mit wachsender Infrastruktur absehbar erreicht</a:t>
            </a:r>
            <a:endParaRPr lang="en-US" sz="1100"/>
          </a:p>
        </p:txBody>
      </p:sp>
      <p:sp>
        <p:nvSpPr>
          <p:cNvPr id="276940611" name="Shape 9"/>
          <p:cNvSpPr/>
          <p:nvPr/>
        </p:nvSpPr>
        <p:spPr bwMode="auto">
          <a:xfrm>
            <a:off x="411480" y="384048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3802121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904488"/>
            <a:ext cx="292608" cy="292608"/>
          </a:xfrm>
          <a:prstGeom prst="rect">
            <a:avLst/>
          </a:prstGeom>
        </p:spPr>
      </p:pic>
      <p:sp>
        <p:nvSpPr>
          <p:cNvPr id="1516464048" name="Text 10"/>
          <p:cNvSpPr/>
          <p:nvPr/>
        </p:nvSpPr>
        <p:spPr bwMode="auto">
          <a:xfrm>
            <a:off x="96012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Unflexible Dashboards</a:t>
            </a:r>
            <a:endParaRPr lang="en-US" sz="1200"/>
          </a:p>
        </p:txBody>
      </p:sp>
      <p:sp>
        <p:nvSpPr>
          <p:cNvPr id="2073709880" name="Text 11"/>
          <p:cNvSpPr/>
          <p:nvPr/>
        </p:nvSpPr>
        <p:spPr bwMode="auto">
          <a:xfrm>
            <a:off x="22860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Alle Geräte in einer langen Liste – kein individuelles Layout</a:t>
            </a:r>
            <a:endParaRPr lang="en-US" sz="1100"/>
          </a:p>
        </p:txBody>
      </p:sp>
      <p:sp>
        <p:nvSpPr>
          <p:cNvPr id="1115381195" name="Shape 12"/>
          <p:cNvSpPr/>
          <p:nvPr/>
        </p:nvSpPr>
        <p:spPr bwMode="auto">
          <a:xfrm>
            <a:off x="411480" y="438912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90282771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453128"/>
            <a:ext cx="292608" cy="292608"/>
          </a:xfrm>
          <a:prstGeom prst="rect">
            <a:avLst/>
          </a:prstGeom>
        </p:spPr>
      </p:pic>
      <p:sp>
        <p:nvSpPr>
          <p:cNvPr id="1000692971" name="Text 13"/>
          <p:cNvSpPr/>
          <p:nvPr/>
        </p:nvSpPr>
        <p:spPr bwMode="auto">
          <a:xfrm>
            <a:off x="9601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200"/>
          </a:p>
        </p:txBody>
      </p:sp>
      <p:sp>
        <p:nvSpPr>
          <p:cNvPr id="1919364312" name="Text 14"/>
          <p:cNvSpPr/>
          <p:nvPr/>
        </p:nvSpPr>
        <p:spPr bwMode="auto">
          <a:xfrm>
            <a:off x="22860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Erweiterung auf mehr Sensoren: mehrere Tausend € / Jahr</a:t>
            </a:r>
            <a:endParaRPr lang="en-US" sz="1100"/>
          </a:p>
        </p:txBody>
      </p:sp>
      <p:sp>
        <p:nvSpPr>
          <p:cNvPr id="1584684426" name="Shape 15"/>
          <p:cNvSpPr/>
          <p:nvPr/>
        </p:nvSpPr>
        <p:spPr bwMode="auto">
          <a:xfrm>
            <a:off x="4754880" y="914400"/>
            <a:ext cx="19202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25466324" name="Text 16"/>
          <p:cNvSpPr/>
          <p:nvPr/>
        </p:nvSpPr>
        <p:spPr bwMode="auto">
          <a:xfrm>
            <a:off x="47548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</a:t>
            </a:r>
            <a:endParaRPr lang="en-US" sz="3600"/>
          </a:p>
        </p:txBody>
      </p:sp>
      <p:sp>
        <p:nvSpPr>
          <p:cNvPr id="857464497" name="Text 17"/>
          <p:cNvSpPr/>
          <p:nvPr/>
        </p:nvSpPr>
        <p:spPr bwMode="auto">
          <a:xfrm>
            <a:off x="47548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Sensor-Limit (kostenlos)</a:t>
            </a:r>
            <a:endParaRPr lang="en-US" sz="1200"/>
          </a:p>
        </p:txBody>
      </p:sp>
      <p:sp>
        <p:nvSpPr>
          <p:cNvPr id="907514919" name="Shape 18"/>
          <p:cNvSpPr/>
          <p:nvPr/>
        </p:nvSpPr>
        <p:spPr bwMode="auto">
          <a:xfrm>
            <a:off x="6812280" y="914400"/>
            <a:ext cx="192024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2368189" name="Text 19"/>
          <p:cNvSpPr/>
          <p:nvPr/>
        </p:nvSpPr>
        <p:spPr bwMode="auto">
          <a:xfrm>
            <a:off x="68122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5+</a:t>
            </a:r>
            <a:endParaRPr lang="en-US" sz="3600"/>
          </a:p>
        </p:txBody>
      </p:sp>
      <p:sp>
        <p:nvSpPr>
          <p:cNvPr id="977488763" name="Text 20"/>
          <p:cNvSpPr/>
          <p:nvPr/>
        </p:nvSpPr>
        <p:spPr bwMode="auto">
          <a:xfrm>
            <a:off x="68122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Systeme zu überwachen</a:t>
            </a:r>
            <a:endParaRPr lang="en-US" sz="1200"/>
          </a:p>
        </p:txBody>
      </p:sp>
      <p:sp>
        <p:nvSpPr>
          <p:cNvPr id="560082008" name="Shape 21"/>
          <p:cNvSpPr/>
          <p:nvPr/>
        </p:nvSpPr>
        <p:spPr bwMode="auto">
          <a:xfrm>
            <a:off x="4754880" y="2240280"/>
            <a:ext cx="39776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6639340" name="Text 22"/>
          <p:cNvSpPr/>
          <p:nvPr/>
        </p:nvSpPr>
        <p:spPr bwMode="auto">
          <a:xfrm>
            <a:off x="4754880" y="2377440"/>
            <a:ext cx="39776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mehrere T€</a:t>
            </a:r>
            <a:endParaRPr lang="en-US" sz="3600"/>
          </a:p>
        </p:txBody>
      </p:sp>
      <p:sp>
        <p:nvSpPr>
          <p:cNvPr id="184173501" name="Text 23"/>
          <p:cNvSpPr/>
          <p:nvPr/>
        </p:nvSpPr>
        <p:spPr bwMode="auto">
          <a:xfrm>
            <a:off x="4754880" y="2977286"/>
            <a:ext cx="39776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Lizenzkosten p.a. für unbegrenzte Sensoren</a:t>
            </a:r>
            <a:endParaRPr lang="en-US" sz="1200"/>
          </a:p>
        </p:txBody>
      </p:sp>
      <p:sp>
        <p:nvSpPr>
          <p:cNvPr id="955833805" name="Text 24"/>
          <p:cNvSpPr/>
          <p:nvPr/>
        </p:nvSpPr>
        <p:spPr bwMode="auto">
          <a:xfrm>
            <a:off x="4663440" y="3611880"/>
            <a:ext cx="4069080" cy="54864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→  Ziel: Kostenfreie, skalierbare Alternative evaluieren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10292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9976351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02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9616F7C-194D-0B62-3A9A-C1A29676A7E5}"/>
              </a:ext>
            </a:extLst>
          </p:cNvPr>
          <p:cNvGrpSpPr/>
          <p:nvPr/>
        </p:nvGrpSpPr>
        <p:grpSpPr>
          <a:xfrm>
            <a:off x="6271260" y="773430"/>
            <a:ext cx="2369820" cy="3608070"/>
            <a:chOff x="6271260" y="773430"/>
            <a:chExt cx="2369820" cy="360807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09F32198-ABEC-7F78-A7EA-381B7DD0DE68}"/>
                </a:ext>
              </a:extLst>
            </p:cNvPr>
            <p:cNvSpPr/>
            <p:nvPr/>
          </p:nvSpPr>
          <p:spPr>
            <a:xfrm>
              <a:off x="6271260" y="773430"/>
              <a:ext cx="2369820" cy="3608070"/>
            </a:xfrm>
            <a:prstGeom prst="ellipse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E7B3BB6-1EC8-3969-87D3-8BA785BE145A}"/>
                </a:ext>
              </a:extLst>
            </p:cNvPr>
            <p:cNvSpPr/>
            <p:nvPr/>
          </p:nvSpPr>
          <p:spPr bwMode="auto">
            <a:xfrm>
              <a:off x="6537960" y="1122045"/>
              <a:ext cx="1729740" cy="289941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F1C8CA85-4DCD-60DB-2147-DEF9B872C73D}"/>
                </a:ext>
              </a:extLst>
            </p:cNvPr>
            <p:cNvSpPr/>
            <p:nvPr/>
          </p:nvSpPr>
          <p:spPr bwMode="auto">
            <a:xfrm>
              <a:off x="6789420" y="1509713"/>
              <a:ext cx="1165860" cy="205644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90C6BCF8-3564-9F06-2354-6D7C674D3AD4}"/>
                </a:ext>
              </a:extLst>
            </p:cNvPr>
            <p:cNvSpPr/>
            <p:nvPr/>
          </p:nvSpPr>
          <p:spPr bwMode="auto">
            <a:xfrm>
              <a:off x="7048500" y="1939766"/>
              <a:ext cx="632460" cy="1263967"/>
            </a:xfrm>
            <a:prstGeom prst="ellipse">
              <a:avLst/>
            </a:prstGeom>
            <a:solidFill>
              <a:srgbClr val="E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188BAEF1-3A4D-1AB4-3B93-F0E0980BA3C9}"/>
                </a:ext>
              </a:extLst>
            </p:cNvPr>
            <p:cNvSpPr/>
            <p:nvPr/>
          </p:nvSpPr>
          <p:spPr bwMode="auto">
            <a:xfrm>
              <a:off x="7239000" y="2325290"/>
              <a:ext cx="251460" cy="514827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74C1C36D-E403-420D-FFF6-7D46E3675AB0}"/>
              </a:ext>
            </a:extLst>
          </p:cNvPr>
          <p:cNvSpPr/>
          <p:nvPr/>
        </p:nvSpPr>
        <p:spPr bwMode="auto">
          <a:xfrm rot="18580740">
            <a:off x="2194342" y="6646354"/>
            <a:ext cx="1329998" cy="449580"/>
          </a:xfrm>
          <a:prstGeom prst="rightArrow">
            <a:avLst>
              <a:gd name="adj1" fmla="val 17113"/>
              <a:gd name="adj2" fmla="val 24224"/>
            </a:avLst>
          </a:prstGeom>
          <a:solidFill>
            <a:schemeClr val="bg1">
              <a:lumMod val="75000"/>
              <a:alpha val="50000"/>
            </a:schemeClr>
          </a:solidFill>
          <a:ln>
            <a:solidFill>
              <a:srgbClr val="A6A6A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35491FB-377B-E7FF-EF2F-6D0AF91FC103}"/>
              </a:ext>
            </a:extLst>
          </p:cNvPr>
          <p:cNvGrpSpPr/>
          <p:nvPr/>
        </p:nvGrpSpPr>
        <p:grpSpPr>
          <a:xfrm>
            <a:off x="-3882389" y="1868090"/>
            <a:ext cx="3448050" cy="949405"/>
            <a:chOff x="3916680" y="1868090"/>
            <a:chExt cx="3448050" cy="949405"/>
          </a:xfrm>
        </p:grpSpPr>
        <p:sp>
          <p:nvSpPr>
            <p:cNvPr id="56929695" name="Text 2"/>
            <p:cNvSpPr/>
            <p:nvPr/>
          </p:nvSpPr>
          <p:spPr bwMode="auto">
            <a:xfrm>
              <a:off x="3916680" y="1868090"/>
              <a:ext cx="216408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  <a:defRPr/>
              </a:pPr>
              <a:r>
                <a:rPr lang="en-US" sz="3200" b="1" dirty="0">
                  <a:solidFill>
                    <a:srgbClr val="FFFFFF"/>
                  </a:solidFill>
                  <a:effectLst>
                    <a:outerShdw blurRad="50800" dist="38100" dir="16200000" rotWithShape="0">
                      <a:prstClr val="black">
                        <a:alpha val="40000"/>
                      </a:prstClr>
                    </a:outerShdw>
                  </a:effectLst>
                  <a:latin typeface="Calibri"/>
                  <a:ea typeface="Calibri"/>
                  <a:cs typeface="Calibri"/>
                </a:rPr>
                <a:t>Projektziel</a:t>
              </a:r>
              <a:endParaRPr lang="en-US" sz="3200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5" name="Pfeil: nach rechts 14">
              <a:extLst>
                <a:ext uri="{FF2B5EF4-FFF2-40B4-BE49-F238E27FC236}">
                  <a16:creationId xmlns:a16="http://schemas.microsoft.com/office/drawing/2014/main" id="{702F72AE-7873-4016-3082-6797BB1EF10F}"/>
                </a:ext>
              </a:extLst>
            </p:cNvPr>
            <p:cNvSpPr/>
            <p:nvPr/>
          </p:nvSpPr>
          <p:spPr>
            <a:xfrm>
              <a:off x="3966210" y="2367915"/>
              <a:ext cx="3398520" cy="449580"/>
            </a:xfrm>
            <a:prstGeom prst="rightArrow">
              <a:avLst>
                <a:gd name="adj1" fmla="val 17113"/>
                <a:gd name="adj2" fmla="val 24224"/>
              </a:avLst>
            </a:prstGeom>
            <a:solidFill>
              <a:srgbClr val="2E74B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7A71C-7D3D-D316-55FC-68BE7CBB2AB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102927" name="Shape 0">
            <a:extLst>
              <a:ext uri="{FF2B5EF4-FFF2-40B4-BE49-F238E27FC236}">
                <a16:creationId xmlns:a16="http://schemas.microsoft.com/office/drawing/2014/main" id="{8940BB90-EE6F-CFB0-E276-F61C9CAB041F}"/>
              </a:ext>
            </a:extLst>
          </p:cNvPr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9976351" name="Text 1">
            <a:extLst>
              <a:ext uri="{FF2B5EF4-FFF2-40B4-BE49-F238E27FC236}">
                <a16:creationId xmlns:a16="http://schemas.microsoft.com/office/drawing/2014/main" id="{24D9CBA4-B8E9-DDF8-5A6A-A7C793BFBCDA}"/>
              </a:ext>
            </a:extLst>
          </p:cNvPr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02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31C868B-481E-5778-1165-D77492C06430}"/>
              </a:ext>
            </a:extLst>
          </p:cNvPr>
          <p:cNvSpPr/>
          <p:nvPr/>
        </p:nvSpPr>
        <p:spPr>
          <a:xfrm>
            <a:off x="6271260" y="773430"/>
            <a:ext cx="2369820" cy="3608070"/>
          </a:xfrm>
          <a:prstGeom prst="ellipse">
            <a:avLst/>
          </a:prstGeom>
          <a:solidFill>
            <a:schemeClr val="bg1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B9E0176-D286-3177-D89C-4F4FD6AA2040}"/>
              </a:ext>
            </a:extLst>
          </p:cNvPr>
          <p:cNvSpPr/>
          <p:nvPr/>
        </p:nvSpPr>
        <p:spPr bwMode="auto">
          <a:xfrm>
            <a:off x="6537960" y="1122045"/>
            <a:ext cx="1729740" cy="28994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427994B-3169-865E-A748-667CF749531F}"/>
              </a:ext>
            </a:extLst>
          </p:cNvPr>
          <p:cNvSpPr/>
          <p:nvPr/>
        </p:nvSpPr>
        <p:spPr bwMode="auto">
          <a:xfrm>
            <a:off x="6789420" y="1509713"/>
            <a:ext cx="1165860" cy="2056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EADC0C9-C428-5B3E-C9B4-F9643242D1CF}"/>
              </a:ext>
            </a:extLst>
          </p:cNvPr>
          <p:cNvSpPr/>
          <p:nvPr/>
        </p:nvSpPr>
        <p:spPr bwMode="auto">
          <a:xfrm>
            <a:off x="7048500" y="1939766"/>
            <a:ext cx="632460" cy="1263967"/>
          </a:xfrm>
          <a:prstGeom prst="ellipse">
            <a:avLst/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1B71199-E98A-DE17-FCA8-2A03BDEF5233}"/>
              </a:ext>
            </a:extLst>
          </p:cNvPr>
          <p:cNvSpPr/>
          <p:nvPr/>
        </p:nvSpPr>
        <p:spPr bwMode="auto">
          <a:xfrm>
            <a:off x="7239000" y="2325290"/>
            <a:ext cx="251460" cy="51482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9093C5C9-AD23-B010-1C5C-F25B97D92170}"/>
              </a:ext>
            </a:extLst>
          </p:cNvPr>
          <p:cNvSpPr/>
          <p:nvPr/>
        </p:nvSpPr>
        <p:spPr bwMode="auto">
          <a:xfrm rot="18580740">
            <a:off x="6258343" y="2874454"/>
            <a:ext cx="1329998" cy="449580"/>
          </a:xfrm>
          <a:prstGeom prst="rightArrow">
            <a:avLst>
              <a:gd name="adj1" fmla="val 17113"/>
              <a:gd name="adj2" fmla="val 24224"/>
            </a:avLst>
          </a:prstGeom>
          <a:solidFill>
            <a:schemeClr val="bg1">
              <a:lumMod val="75000"/>
              <a:alpha val="50000"/>
            </a:schemeClr>
          </a:solidFill>
          <a:ln>
            <a:solidFill>
              <a:srgbClr val="A6A6A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C46E1FD-7670-141B-E3D5-509E9EDCE147}"/>
              </a:ext>
            </a:extLst>
          </p:cNvPr>
          <p:cNvGrpSpPr/>
          <p:nvPr/>
        </p:nvGrpSpPr>
        <p:grpSpPr>
          <a:xfrm>
            <a:off x="3916680" y="1868090"/>
            <a:ext cx="3448050" cy="949405"/>
            <a:chOff x="3916680" y="1868090"/>
            <a:chExt cx="3448050" cy="949405"/>
          </a:xfrm>
        </p:grpSpPr>
        <p:sp>
          <p:nvSpPr>
            <p:cNvPr id="56929695" name="Text 2">
              <a:extLst>
                <a:ext uri="{FF2B5EF4-FFF2-40B4-BE49-F238E27FC236}">
                  <a16:creationId xmlns:a16="http://schemas.microsoft.com/office/drawing/2014/main" id="{DC6D0DDF-EED4-BAA3-7544-9D81156E34BA}"/>
                </a:ext>
              </a:extLst>
            </p:cNvPr>
            <p:cNvSpPr/>
            <p:nvPr/>
          </p:nvSpPr>
          <p:spPr bwMode="auto">
            <a:xfrm>
              <a:off x="3916680" y="1868090"/>
              <a:ext cx="216408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  <a:defRPr/>
              </a:pPr>
              <a:r>
                <a:rPr lang="en-US" sz="3200" b="1" dirty="0">
                  <a:solidFill>
                    <a:srgbClr val="FFFFFF"/>
                  </a:solidFill>
                  <a:effectLst>
                    <a:outerShdw blurRad="50800" dist="38100" dir="16200000" rotWithShape="0">
                      <a:prstClr val="black">
                        <a:alpha val="40000"/>
                      </a:prstClr>
                    </a:outerShdw>
                  </a:effectLst>
                  <a:latin typeface="Calibri"/>
                  <a:ea typeface="Calibri"/>
                  <a:cs typeface="Calibri"/>
                </a:rPr>
                <a:t>Projektziel</a:t>
              </a:r>
              <a:endParaRPr lang="en-US" sz="3200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5" name="Pfeil: nach rechts 14">
              <a:extLst>
                <a:ext uri="{FF2B5EF4-FFF2-40B4-BE49-F238E27FC236}">
                  <a16:creationId xmlns:a16="http://schemas.microsoft.com/office/drawing/2014/main" id="{7F96A45F-B104-92BA-2504-8FC95F48F0EC}"/>
                </a:ext>
              </a:extLst>
            </p:cNvPr>
            <p:cNvSpPr/>
            <p:nvPr/>
          </p:nvSpPr>
          <p:spPr>
            <a:xfrm>
              <a:off x="3966210" y="2367915"/>
              <a:ext cx="3398520" cy="449580"/>
            </a:xfrm>
            <a:prstGeom prst="rightArrow">
              <a:avLst>
                <a:gd name="adj1" fmla="val 17113"/>
                <a:gd name="adj2" fmla="val 24224"/>
              </a:avLst>
            </a:prstGeom>
            <a:solidFill>
              <a:srgbClr val="2E74B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1767419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716581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2600" dirty="0"/>
          </a:p>
        </p:txBody>
      </p:sp>
      <p:sp>
        <p:nvSpPr>
          <p:cNvPr id="122988858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56826145" name="Shape 3"/>
          <p:cNvSpPr/>
          <p:nvPr/>
        </p:nvSpPr>
        <p:spPr bwMode="auto">
          <a:xfrm>
            <a:off x="41148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32693626" name="Shape 4"/>
          <p:cNvSpPr/>
          <p:nvPr/>
        </p:nvSpPr>
        <p:spPr bwMode="auto">
          <a:xfrm>
            <a:off x="54864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9967699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648" y="1207008"/>
            <a:ext cx="502920" cy="502920"/>
          </a:xfrm>
          <a:prstGeom prst="rect">
            <a:avLst/>
          </a:prstGeom>
        </p:spPr>
      </p:pic>
      <p:sp>
        <p:nvSpPr>
          <p:cNvPr id="1418867774" name="Text 5"/>
          <p:cNvSpPr/>
          <p:nvPr/>
        </p:nvSpPr>
        <p:spPr bwMode="auto">
          <a:xfrm>
            <a:off x="132588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Virtuelle Testumgebung aufbauen</a:t>
            </a:r>
            <a:endParaRPr lang="en-US" sz="1300"/>
          </a:p>
        </p:txBody>
      </p:sp>
      <p:sp>
        <p:nvSpPr>
          <p:cNvPr id="965645027" name="Text 6"/>
          <p:cNvSpPr/>
          <p:nvPr/>
        </p:nvSpPr>
        <p:spPr bwMode="auto">
          <a:xfrm>
            <a:off x="132588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VMs + Host-Rechner als überwachte Systeme</a:t>
            </a:r>
            <a:endParaRPr lang="en-US" sz="1200"/>
          </a:p>
        </p:txBody>
      </p:sp>
      <p:sp>
        <p:nvSpPr>
          <p:cNvPr id="70640016" name="Shape 7"/>
          <p:cNvSpPr/>
          <p:nvPr/>
        </p:nvSpPr>
        <p:spPr bwMode="auto">
          <a:xfrm>
            <a:off x="41148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9696432" name="Shape 8"/>
          <p:cNvSpPr/>
          <p:nvPr/>
        </p:nvSpPr>
        <p:spPr bwMode="auto">
          <a:xfrm>
            <a:off x="480060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5466906" name="Shape 9"/>
          <p:cNvSpPr/>
          <p:nvPr/>
        </p:nvSpPr>
        <p:spPr bwMode="auto">
          <a:xfrm>
            <a:off x="493776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6532521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01768" y="1207008"/>
            <a:ext cx="502920" cy="502920"/>
          </a:xfrm>
          <a:prstGeom prst="rect">
            <a:avLst/>
          </a:prstGeom>
        </p:spPr>
      </p:pic>
      <p:sp>
        <p:nvSpPr>
          <p:cNvPr id="445741387" name="Text 10"/>
          <p:cNvSpPr/>
          <p:nvPr/>
        </p:nvSpPr>
        <p:spPr bwMode="auto">
          <a:xfrm>
            <a:off x="571500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&amp; Grafana implementieren</a:t>
            </a:r>
            <a:endParaRPr lang="en-US" sz="1300"/>
          </a:p>
        </p:txBody>
      </p:sp>
      <p:sp>
        <p:nvSpPr>
          <p:cNvPr id="720098675" name="Text 11"/>
          <p:cNvSpPr/>
          <p:nvPr/>
        </p:nvSpPr>
        <p:spPr bwMode="auto">
          <a:xfrm>
            <a:off x="571500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Metriken erfassen, speichern und visualisieren</a:t>
            </a:r>
            <a:endParaRPr lang="en-US" sz="1200"/>
          </a:p>
        </p:txBody>
      </p:sp>
      <p:sp>
        <p:nvSpPr>
          <p:cNvPr id="147486795" name="Shape 12"/>
          <p:cNvSpPr/>
          <p:nvPr/>
        </p:nvSpPr>
        <p:spPr bwMode="auto">
          <a:xfrm>
            <a:off x="480060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4199099" name="Shape 13"/>
          <p:cNvSpPr/>
          <p:nvPr/>
        </p:nvSpPr>
        <p:spPr bwMode="auto">
          <a:xfrm>
            <a:off x="41148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84180428" name="Shape 14"/>
          <p:cNvSpPr/>
          <p:nvPr/>
        </p:nvSpPr>
        <p:spPr bwMode="auto">
          <a:xfrm>
            <a:off x="54864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7948500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2648" y="2944368"/>
            <a:ext cx="502920" cy="502920"/>
          </a:xfrm>
          <a:prstGeom prst="rect">
            <a:avLst/>
          </a:prstGeom>
        </p:spPr>
      </p:pic>
      <p:sp>
        <p:nvSpPr>
          <p:cNvPr id="622404447" name="Text 15"/>
          <p:cNvSpPr/>
          <p:nvPr/>
        </p:nvSpPr>
        <p:spPr bwMode="auto">
          <a:xfrm>
            <a:off x="132588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Automatisches Alerting einrichten</a:t>
            </a:r>
            <a:endParaRPr lang="en-US" sz="1300"/>
          </a:p>
        </p:txBody>
      </p:sp>
      <p:sp>
        <p:nvSpPr>
          <p:cNvPr id="554566687" name="Text 16"/>
          <p:cNvSpPr/>
          <p:nvPr/>
        </p:nvSpPr>
        <p:spPr bwMode="auto">
          <a:xfrm>
            <a:off x="132588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E-Mail-Benachrichtigung bei Systemausfall</a:t>
            </a:r>
            <a:endParaRPr lang="en-US" sz="1200"/>
          </a:p>
        </p:txBody>
      </p:sp>
      <p:sp>
        <p:nvSpPr>
          <p:cNvPr id="1801604178" name="Shape 17"/>
          <p:cNvSpPr/>
          <p:nvPr/>
        </p:nvSpPr>
        <p:spPr bwMode="auto">
          <a:xfrm>
            <a:off x="41148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67964679" name="Shape 18"/>
          <p:cNvSpPr/>
          <p:nvPr/>
        </p:nvSpPr>
        <p:spPr bwMode="auto">
          <a:xfrm>
            <a:off x="480060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82691640" name="Shape 19"/>
          <p:cNvSpPr/>
          <p:nvPr/>
        </p:nvSpPr>
        <p:spPr bwMode="auto">
          <a:xfrm>
            <a:off x="493776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2771983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01768" y="2944368"/>
            <a:ext cx="502920" cy="502920"/>
          </a:xfrm>
          <a:prstGeom prst="rect">
            <a:avLst/>
          </a:prstGeom>
        </p:spPr>
      </p:pic>
      <p:sp>
        <p:nvSpPr>
          <p:cNvPr id="2020927917" name="Text 20"/>
          <p:cNvSpPr/>
          <p:nvPr/>
        </p:nvSpPr>
        <p:spPr bwMode="auto">
          <a:xfrm>
            <a:off x="571500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Prometheus/Grafana evaluieren</a:t>
            </a:r>
            <a:endParaRPr lang="en-US" sz="1300"/>
          </a:p>
        </p:txBody>
      </p:sp>
      <p:sp>
        <p:nvSpPr>
          <p:cNvPr id="1304411092" name="Text 21"/>
          <p:cNvSpPr/>
          <p:nvPr/>
        </p:nvSpPr>
        <p:spPr bwMode="auto">
          <a:xfrm>
            <a:off x="571500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Nutzwertanalyse als Entscheidungsgrundlage</a:t>
            </a:r>
            <a:endParaRPr lang="en-US" sz="1200"/>
          </a:p>
        </p:txBody>
      </p:sp>
      <p:sp>
        <p:nvSpPr>
          <p:cNvPr id="1085620951" name="Shape 22"/>
          <p:cNvSpPr/>
          <p:nvPr/>
        </p:nvSpPr>
        <p:spPr bwMode="auto">
          <a:xfrm>
            <a:off x="480060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035734" name="!!Shape 22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7226579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03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71545170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29828" name="!!Text 2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Systemarchitektur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Testumgebung</a:t>
            </a:r>
            <a:endParaRPr lang="en-US" sz="2600" dirty="0"/>
          </a:p>
        </p:txBody>
      </p:sp>
      <p:sp>
        <p:nvSpPr>
          <p:cNvPr id="12070241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951705" name="Text 3"/>
          <p:cNvSpPr/>
          <p:nvPr/>
        </p:nvSpPr>
        <p:spPr bwMode="auto">
          <a:xfrm>
            <a:off x="41148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Überwachte Systeme</a:t>
            </a:r>
            <a:endParaRPr lang="en-US" sz="1400"/>
          </a:p>
        </p:txBody>
      </p:sp>
      <p:sp>
        <p:nvSpPr>
          <p:cNvPr id="451211784" name="Shape 4"/>
          <p:cNvSpPr/>
          <p:nvPr/>
        </p:nvSpPr>
        <p:spPr bwMode="auto">
          <a:xfrm>
            <a:off x="411480" y="13716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5654336" name="Shape 5"/>
          <p:cNvSpPr/>
          <p:nvPr/>
        </p:nvSpPr>
        <p:spPr bwMode="auto">
          <a:xfrm>
            <a:off x="411480" y="13716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6984198" name="Text 6"/>
          <p:cNvSpPr/>
          <p:nvPr/>
        </p:nvSpPr>
        <p:spPr bwMode="auto">
          <a:xfrm>
            <a:off x="5943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11 VM</a:t>
            </a:r>
            <a:endParaRPr lang="en-US" sz="1200"/>
          </a:p>
        </p:txBody>
      </p:sp>
      <p:sp>
        <p:nvSpPr>
          <p:cNvPr id="1043680759" name="Text 7"/>
          <p:cNvSpPr/>
          <p:nvPr/>
        </p:nvSpPr>
        <p:spPr bwMode="auto">
          <a:xfrm>
            <a:off x="594360" y="1673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Client  |  Windows Exporter :9182</a:t>
            </a:r>
            <a:endParaRPr lang="en-US" sz="1000"/>
          </a:p>
        </p:txBody>
      </p:sp>
      <p:sp>
        <p:nvSpPr>
          <p:cNvPr id="2049797370" name="Shape 8"/>
          <p:cNvSpPr/>
          <p:nvPr/>
        </p:nvSpPr>
        <p:spPr bwMode="auto">
          <a:xfrm>
            <a:off x="411480" y="20574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51245476" name="Shape 9"/>
          <p:cNvSpPr/>
          <p:nvPr/>
        </p:nvSpPr>
        <p:spPr bwMode="auto">
          <a:xfrm>
            <a:off x="411480" y="20574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51658635" name="Text 10"/>
          <p:cNvSpPr/>
          <p:nvPr/>
        </p:nvSpPr>
        <p:spPr bwMode="auto">
          <a:xfrm>
            <a:off x="59436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Server 2022</a:t>
            </a:r>
            <a:endParaRPr lang="en-US" sz="1200"/>
          </a:p>
        </p:txBody>
      </p:sp>
      <p:sp>
        <p:nvSpPr>
          <p:cNvPr id="1294134032" name="Text 11"/>
          <p:cNvSpPr/>
          <p:nvPr/>
        </p:nvSpPr>
        <p:spPr bwMode="auto">
          <a:xfrm>
            <a:off x="594360" y="2359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 |  Windows Exporter :9182</a:t>
            </a:r>
            <a:endParaRPr lang="en-US" sz="1000"/>
          </a:p>
        </p:txBody>
      </p:sp>
      <p:sp>
        <p:nvSpPr>
          <p:cNvPr id="633632301" name="Shape 12"/>
          <p:cNvSpPr/>
          <p:nvPr/>
        </p:nvSpPr>
        <p:spPr bwMode="auto">
          <a:xfrm>
            <a:off x="411480" y="27432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3769474" name="Shape 13"/>
          <p:cNvSpPr/>
          <p:nvPr/>
        </p:nvSpPr>
        <p:spPr bwMode="auto">
          <a:xfrm>
            <a:off x="411480" y="27432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32979499" name="Text 14"/>
          <p:cNvSpPr/>
          <p:nvPr/>
        </p:nvSpPr>
        <p:spPr bwMode="auto">
          <a:xfrm>
            <a:off x="59436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Ubuntu VM</a:t>
            </a:r>
            <a:endParaRPr lang="en-US" sz="1200"/>
          </a:p>
        </p:txBody>
      </p:sp>
      <p:sp>
        <p:nvSpPr>
          <p:cNvPr id="1403436414" name="Text 15"/>
          <p:cNvSpPr/>
          <p:nvPr/>
        </p:nvSpPr>
        <p:spPr bwMode="auto">
          <a:xfrm>
            <a:off x="594360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 |  Node Exporter :9100</a:t>
            </a:r>
            <a:endParaRPr lang="en-US" sz="1000"/>
          </a:p>
        </p:txBody>
      </p:sp>
      <p:sp>
        <p:nvSpPr>
          <p:cNvPr id="6833234" name="Shape 16"/>
          <p:cNvSpPr/>
          <p:nvPr/>
        </p:nvSpPr>
        <p:spPr bwMode="auto">
          <a:xfrm>
            <a:off x="411480" y="34290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8796994" name="Shape 17"/>
          <p:cNvSpPr/>
          <p:nvPr/>
        </p:nvSpPr>
        <p:spPr bwMode="auto">
          <a:xfrm>
            <a:off x="411480" y="34290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9637071" name="Text 18"/>
          <p:cNvSpPr/>
          <p:nvPr/>
        </p:nvSpPr>
        <p:spPr bwMode="auto">
          <a:xfrm>
            <a:off x="594360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Host-Rechner</a:t>
            </a:r>
            <a:endParaRPr lang="en-US" sz="1200"/>
          </a:p>
        </p:txBody>
      </p:sp>
      <p:sp>
        <p:nvSpPr>
          <p:cNvPr id="868937588" name="Text 19"/>
          <p:cNvSpPr/>
          <p:nvPr/>
        </p:nvSpPr>
        <p:spPr bwMode="auto">
          <a:xfrm>
            <a:off x="594360" y="3730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Physisches System  |  Windows Exporter :9182</a:t>
            </a:r>
            <a:endParaRPr lang="en-US" sz="1000"/>
          </a:p>
        </p:txBody>
      </p:sp>
      <p:sp>
        <p:nvSpPr>
          <p:cNvPr id="2095741835" name="Shape 20"/>
          <p:cNvSpPr/>
          <p:nvPr/>
        </p:nvSpPr>
        <p:spPr bwMode="auto">
          <a:xfrm>
            <a:off x="4160519" y="2286000"/>
            <a:ext cx="731520" cy="5486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758456" name="Text 21"/>
          <p:cNvSpPr/>
          <p:nvPr/>
        </p:nvSpPr>
        <p:spPr bwMode="auto">
          <a:xfrm>
            <a:off x="4133088" y="235915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scrape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15s</a:t>
            </a:r>
            <a:endParaRPr lang="en-US" sz="900"/>
          </a:p>
        </p:txBody>
      </p:sp>
      <p:sp>
        <p:nvSpPr>
          <p:cNvPr id="1874272337" name="!!Shape 22"/>
          <p:cNvSpPr/>
          <p:nvPr/>
        </p:nvSpPr>
        <p:spPr bwMode="auto">
          <a:xfrm>
            <a:off x="4983480" y="960120"/>
            <a:ext cx="3749040" cy="1965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1521895" name="Text 23"/>
          <p:cNvSpPr/>
          <p:nvPr/>
        </p:nvSpPr>
        <p:spPr bwMode="auto">
          <a:xfrm>
            <a:off x="50749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Monitoring-Server  (Ubuntu VM)</a:t>
            </a:r>
            <a:endParaRPr lang="en-US" sz="1300"/>
          </a:p>
        </p:txBody>
      </p:sp>
      <p:sp>
        <p:nvSpPr>
          <p:cNvPr id="939657310" name="Shape 24"/>
          <p:cNvSpPr/>
          <p:nvPr/>
        </p:nvSpPr>
        <p:spPr bwMode="auto">
          <a:xfrm>
            <a:off x="5166360" y="14813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8483411" name="Text 25"/>
          <p:cNvSpPr/>
          <p:nvPr/>
        </p:nvSpPr>
        <p:spPr bwMode="auto">
          <a:xfrm>
            <a:off x="5230368" y="15179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100"/>
          </a:p>
        </p:txBody>
      </p:sp>
      <p:sp>
        <p:nvSpPr>
          <p:cNvPr id="1450073767" name="Text 26"/>
          <p:cNvSpPr/>
          <p:nvPr/>
        </p:nvSpPr>
        <p:spPr bwMode="auto">
          <a:xfrm>
            <a:off x="644652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Metriken-Scraping &amp; Speicherung</a:t>
            </a:r>
            <a:endParaRPr lang="en-US" sz="1000"/>
          </a:p>
        </p:txBody>
      </p:sp>
      <p:sp>
        <p:nvSpPr>
          <p:cNvPr id="1285369335" name="Shape 27"/>
          <p:cNvSpPr/>
          <p:nvPr/>
        </p:nvSpPr>
        <p:spPr bwMode="auto">
          <a:xfrm>
            <a:off x="5166360" y="19385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756977" name="Text 28"/>
          <p:cNvSpPr/>
          <p:nvPr/>
        </p:nvSpPr>
        <p:spPr bwMode="auto">
          <a:xfrm>
            <a:off x="5230368" y="1975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100"/>
          </a:p>
        </p:txBody>
      </p:sp>
      <p:sp>
        <p:nvSpPr>
          <p:cNvPr id="1054116948" name="Text 29"/>
          <p:cNvSpPr/>
          <p:nvPr/>
        </p:nvSpPr>
        <p:spPr bwMode="auto">
          <a:xfrm>
            <a:off x="64465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Dashboards  (Port 3000)</a:t>
            </a:r>
            <a:endParaRPr lang="en-US" sz="1000"/>
          </a:p>
        </p:txBody>
      </p:sp>
      <p:sp>
        <p:nvSpPr>
          <p:cNvPr id="1692561844" name="Shape 30"/>
          <p:cNvSpPr/>
          <p:nvPr/>
        </p:nvSpPr>
        <p:spPr bwMode="auto">
          <a:xfrm>
            <a:off x="5166360" y="23957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3944076" name="Text 31"/>
          <p:cNvSpPr/>
          <p:nvPr/>
        </p:nvSpPr>
        <p:spPr bwMode="auto">
          <a:xfrm>
            <a:off x="5230368" y="243230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100"/>
          </a:p>
        </p:txBody>
      </p:sp>
      <p:sp>
        <p:nvSpPr>
          <p:cNvPr id="2052723797" name="Text 32"/>
          <p:cNvSpPr/>
          <p:nvPr/>
        </p:nvSpPr>
        <p:spPr bwMode="auto">
          <a:xfrm>
            <a:off x="64465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Alert-Routing &amp; E-Mail</a:t>
            </a:r>
            <a:endParaRPr lang="en-US" sz="1000"/>
          </a:p>
        </p:txBody>
      </p:sp>
      <p:sp>
        <p:nvSpPr>
          <p:cNvPr id="179983062" name="Shape 33"/>
          <p:cNvSpPr/>
          <p:nvPr/>
        </p:nvSpPr>
        <p:spPr bwMode="auto">
          <a:xfrm>
            <a:off x="4983480" y="3017519"/>
            <a:ext cx="37490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80577583" name="Text 34"/>
          <p:cNvSpPr/>
          <p:nvPr/>
        </p:nvSpPr>
        <p:spPr bwMode="auto">
          <a:xfrm>
            <a:off x="5120640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Blackbox Exporter: HTTP &amp; ICMP Probes (Erreichbarkeit)</a:t>
            </a:r>
            <a:endParaRPr lang="en-US" sz="1100"/>
          </a:p>
        </p:txBody>
      </p:sp>
      <p:sp>
        <p:nvSpPr>
          <p:cNvPr id="2113879572" name="Shape 35"/>
          <p:cNvSpPr/>
          <p:nvPr/>
        </p:nvSpPr>
        <p:spPr bwMode="auto">
          <a:xfrm>
            <a:off x="411480" y="4219215"/>
            <a:ext cx="8321039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7240031" name="Text 36"/>
          <p:cNvSpPr/>
          <p:nvPr/>
        </p:nvSpPr>
        <p:spPr bwMode="auto">
          <a:xfrm>
            <a:off x="594360" y="4301511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⚡  Alertmanager → E-Mail-Benachrichtigung bei Ausfall oder kritischen Schwellenwerten  |  Scrape-Intervall: 15 Sekunden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77283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31341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04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29109771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Technologie-</a:t>
            </a:r>
            <a:r>
              <a:rPr lang="en-US" sz="32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Entscheidung</a:t>
            </a:r>
            <a:endParaRPr lang="en-US" sz="3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Pfeil: nach oben 1">
            <a:extLst>
              <a:ext uri="{FF2B5EF4-FFF2-40B4-BE49-F238E27FC236}">
                <a16:creationId xmlns:a16="http://schemas.microsoft.com/office/drawing/2014/main" id="{44F7C935-14D3-E4E7-7E3B-1914EE9836B1}"/>
              </a:ext>
            </a:extLst>
          </p:cNvPr>
          <p:cNvSpPr/>
          <p:nvPr/>
        </p:nvSpPr>
        <p:spPr>
          <a:xfrm>
            <a:off x="6697499" y="5448258"/>
            <a:ext cx="921488" cy="3131643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feil: nach links 2">
            <a:extLst>
              <a:ext uri="{FF2B5EF4-FFF2-40B4-BE49-F238E27FC236}">
                <a16:creationId xmlns:a16="http://schemas.microsoft.com/office/drawing/2014/main" id="{DFA2D4B0-2FD8-A244-4A04-653002CBE0F8}"/>
              </a:ext>
            </a:extLst>
          </p:cNvPr>
          <p:cNvSpPr/>
          <p:nvPr/>
        </p:nvSpPr>
        <p:spPr>
          <a:xfrm>
            <a:off x="9625174" y="1928037"/>
            <a:ext cx="2069450" cy="82615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A060DA68-136F-6AFA-4FCD-684A4CDA9C83}"/>
              </a:ext>
            </a:extLst>
          </p:cNvPr>
          <p:cNvSpPr/>
          <p:nvPr/>
        </p:nvSpPr>
        <p:spPr>
          <a:xfrm>
            <a:off x="-2401895" y="1928037"/>
            <a:ext cx="2211927" cy="826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88EE0-A68A-36B8-60ED-7E0BF4053D0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77283" name="Shape 0">
            <a:extLst>
              <a:ext uri="{FF2B5EF4-FFF2-40B4-BE49-F238E27FC236}">
                <a16:creationId xmlns:a16="http://schemas.microsoft.com/office/drawing/2014/main" id="{B984F2DF-D059-AC88-AFA5-5B2B405384C9}"/>
              </a:ext>
            </a:extLst>
          </p:cNvPr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3134187" name="Text 1">
            <a:extLst>
              <a:ext uri="{FF2B5EF4-FFF2-40B4-BE49-F238E27FC236}">
                <a16:creationId xmlns:a16="http://schemas.microsoft.com/office/drawing/2014/main" id="{CD68A7A6-BB62-65A2-EBD4-6BB60069B42E}"/>
              </a:ext>
            </a:extLst>
          </p:cNvPr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04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29109771" name="!!Text 2">
            <a:extLst>
              <a:ext uri="{FF2B5EF4-FFF2-40B4-BE49-F238E27FC236}">
                <a16:creationId xmlns:a16="http://schemas.microsoft.com/office/drawing/2014/main" id="{1E812678-8497-10DD-44F9-C8006364EBB5}"/>
              </a:ext>
            </a:extLst>
          </p:cNvPr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Technologie-</a:t>
            </a:r>
            <a:r>
              <a:rPr lang="en-US" sz="32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Entscheidung</a:t>
            </a:r>
            <a:endParaRPr lang="en-US" sz="3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Pfeil: nach oben 1">
            <a:extLst>
              <a:ext uri="{FF2B5EF4-FFF2-40B4-BE49-F238E27FC236}">
                <a16:creationId xmlns:a16="http://schemas.microsoft.com/office/drawing/2014/main" id="{0AFE3195-6545-2EA3-4889-BA5D6495D461}"/>
              </a:ext>
            </a:extLst>
          </p:cNvPr>
          <p:cNvSpPr/>
          <p:nvPr/>
        </p:nvSpPr>
        <p:spPr>
          <a:xfrm>
            <a:off x="6436242" y="992372"/>
            <a:ext cx="921488" cy="3131643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feil: nach links 2">
            <a:extLst>
              <a:ext uri="{FF2B5EF4-FFF2-40B4-BE49-F238E27FC236}">
                <a16:creationId xmlns:a16="http://schemas.microsoft.com/office/drawing/2014/main" id="{E9663F1B-8E4C-51AB-22D1-B5D5B211CCAE}"/>
              </a:ext>
            </a:extLst>
          </p:cNvPr>
          <p:cNvSpPr/>
          <p:nvPr/>
        </p:nvSpPr>
        <p:spPr>
          <a:xfrm>
            <a:off x="5401517" y="1928037"/>
            <a:ext cx="2069450" cy="82615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CD721AF1-0E87-2696-0196-038662DCE303}"/>
              </a:ext>
            </a:extLst>
          </p:cNvPr>
          <p:cNvSpPr/>
          <p:nvPr/>
        </p:nvSpPr>
        <p:spPr>
          <a:xfrm>
            <a:off x="6166883" y="1928037"/>
            <a:ext cx="2211927" cy="826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213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726975" name="!!Text 2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Eingesetzte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Technologien</a:t>
            </a:r>
            <a:endParaRPr lang="en-US" sz="2600" dirty="0"/>
          </a:p>
        </p:txBody>
      </p:sp>
      <p:sp>
        <p:nvSpPr>
          <p:cNvPr id="168908199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11333891" name="Shape 3"/>
          <p:cNvSpPr/>
          <p:nvPr/>
        </p:nvSpPr>
        <p:spPr bwMode="auto">
          <a:xfrm>
            <a:off x="41148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3972915" name="Shape 4"/>
          <p:cNvSpPr/>
          <p:nvPr/>
        </p:nvSpPr>
        <p:spPr bwMode="auto">
          <a:xfrm>
            <a:off x="411480" y="960120"/>
            <a:ext cx="27432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0132375" name="Text 5"/>
          <p:cNvSpPr/>
          <p:nvPr/>
        </p:nvSpPr>
        <p:spPr bwMode="auto">
          <a:xfrm>
            <a:off x="52120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300"/>
          </a:p>
        </p:txBody>
      </p:sp>
      <p:sp>
        <p:nvSpPr>
          <p:cNvPr id="926915875" name="Text 6"/>
          <p:cNvSpPr/>
          <p:nvPr/>
        </p:nvSpPr>
        <p:spPr bwMode="auto">
          <a:xfrm>
            <a:off x="5029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Monitoring-Backend</a:t>
            </a:r>
            <a:endParaRPr lang="en-US" sz="1100"/>
          </a:p>
        </p:txBody>
      </p:sp>
      <p:sp>
        <p:nvSpPr>
          <p:cNvPr id="1539219040" name="Text 7"/>
          <p:cNvSpPr/>
          <p:nvPr/>
        </p:nvSpPr>
        <p:spPr bwMode="auto">
          <a:xfrm>
            <a:off x="50292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Pull-basiertes Scraping, Time-Series-DB, PromQL, Alert-Regeln</a:t>
            </a:r>
            <a:endParaRPr lang="en-US" sz="1100"/>
          </a:p>
        </p:txBody>
      </p:sp>
      <p:sp>
        <p:nvSpPr>
          <p:cNvPr id="1453580646" name="Shape 8"/>
          <p:cNvSpPr/>
          <p:nvPr/>
        </p:nvSpPr>
        <p:spPr bwMode="auto">
          <a:xfrm>
            <a:off x="333756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9329823" name="Shape 9"/>
          <p:cNvSpPr>
            <a:spLocks/>
          </p:cNvSpPr>
          <p:nvPr/>
        </p:nvSpPr>
        <p:spPr bwMode="auto">
          <a:xfrm>
            <a:off x="3337560" y="960120"/>
            <a:ext cx="274320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1970219" name="Text 10"/>
          <p:cNvSpPr/>
          <p:nvPr/>
        </p:nvSpPr>
        <p:spPr bwMode="auto">
          <a:xfrm>
            <a:off x="344728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300"/>
          </a:p>
        </p:txBody>
      </p:sp>
      <p:sp>
        <p:nvSpPr>
          <p:cNvPr id="1900962049" name="Text 11"/>
          <p:cNvSpPr/>
          <p:nvPr/>
        </p:nvSpPr>
        <p:spPr bwMode="auto">
          <a:xfrm>
            <a:off x="34290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Visualisierung</a:t>
            </a:r>
            <a:endParaRPr lang="en-US" sz="1100"/>
          </a:p>
        </p:txBody>
      </p:sp>
      <p:sp>
        <p:nvSpPr>
          <p:cNvPr id="1860984587" name="Text 12"/>
          <p:cNvSpPr/>
          <p:nvPr/>
        </p:nvSpPr>
        <p:spPr bwMode="auto">
          <a:xfrm>
            <a:off x="342900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Individuelle Dashboards, Datenquellen-Integration, Web-UI Port 3000</a:t>
            </a:r>
            <a:endParaRPr lang="en-US" sz="1100"/>
          </a:p>
        </p:txBody>
      </p:sp>
      <p:sp>
        <p:nvSpPr>
          <p:cNvPr id="103895243" name="Shape 13"/>
          <p:cNvSpPr/>
          <p:nvPr/>
        </p:nvSpPr>
        <p:spPr bwMode="auto">
          <a:xfrm>
            <a:off x="626364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1650789" name="Shape 14"/>
          <p:cNvSpPr/>
          <p:nvPr/>
        </p:nvSpPr>
        <p:spPr bwMode="auto">
          <a:xfrm>
            <a:off x="6263640" y="96012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57845952" name="Text 15"/>
          <p:cNvSpPr/>
          <p:nvPr/>
        </p:nvSpPr>
        <p:spPr bwMode="auto">
          <a:xfrm>
            <a:off x="637336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300"/>
          </a:p>
        </p:txBody>
      </p:sp>
      <p:sp>
        <p:nvSpPr>
          <p:cNvPr id="702345956" name="Text 16"/>
          <p:cNvSpPr/>
          <p:nvPr/>
        </p:nvSpPr>
        <p:spPr bwMode="auto">
          <a:xfrm>
            <a:off x="63550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Alerting</a:t>
            </a:r>
            <a:endParaRPr lang="en-US" sz="1100"/>
          </a:p>
        </p:txBody>
      </p:sp>
      <p:sp>
        <p:nvSpPr>
          <p:cNvPr id="334033921" name="Text 17"/>
          <p:cNvSpPr/>
          <p:nvPr/>
        </p:nvSpPr>
        <p:spPr bwMode="auto">
          <a:xfrm>
            <a:off x="635508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E-Mail-Routing, Gruppierung, Stilles Alarmmanagement</a:t>
            </a:r>
            <a:endParaRPr lang="en-US" sz="1100"/>
          </a:p>
        </p:txBody>
      </p:sp>
      <p:sp>
        <p:nvSpPr>
          <p:cNvPr id="616157370" name="Shape 18"/>
          <p:cNvSpPr/>
          <p:nvPr/>
        </p:nvSpPr>
        <p:spPr bwMode="auto">
          <a:xfrm>
            <a:off x="41148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6291239" name="Shape 19"/>
          <p:cNvSpPr/>
          <p:nvPr/>
        </p:nvSpPr>
        <p:spPr bwMode="auto">
          <a:xfrm>
            <a:off x="411480" y="2788920"/>
            <a:ext cx="27432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46282817" name="Text 20"/>
          <p:cNvSpPr/>
          <p:nvPr/>
        </p:nvSpPr>
        <p:spPr bwMode="auto">
          <a:xfrm>
            <a:off x="52120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 Exporter</a:t>
            </a:r>
            <a:endParaRPr lang="en-US" sz="1300"/>
          </a:p>
        </p:txBody>
      </p:sp>
      <p:sp>
        <p:nvSpPr>
          <p:cNvPr id="248977945" name="Text 21"/>
          <p:cNvSpPr/>
          <p:nvPr/>
        </p:nvSpPr>
        <p:spPr bwMode="auto">
          <a:xfrm>
            <a:off x="5029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Linux-Metriken</a:t>
            </a:r>
            <a:endParaRPr lang="en-US" sz="1100"/>
          </a:p>
        </p:txBody>
      </p:sp>
      <p:sp>
        <p:nvSpPr>
          <p:cNvPr id="1953079363" name="Text 22"/>
          <p:cNvSpPr/>
          <p:nvPr/>
        </p:nvSpPr>
        <p:spPr bwMode="auto">
          <a:xfrm>
            <a:off x="50292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9100</a:t>
            </a:r>
            <a:endParaRPr lang="en-US" sz="1100"/>
          </a:p>
        </p:txBody>
      </p:sp>
      <p:sp>
        <p:nvSpPr>
          <p:cNvPr id="353330540" name="Shape 23"/>
          <p:cNvSpPr/>
          <p:nvPr/>
        </p:nvSpPr>
        <p:spPr bwMode="auto">
          <a:xfrm>
            <a:off x="333756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58871465" name="Shape 24"/>
          <p:cNvSpPr/>
          <p:nvPr/>
        </p:nvSpPr>
        <p:spPr bwMode="auto">
          <a:xfrm>
            <a:off x="3337560" y="2788920"/>
            <a:ext cx="2743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192479" name="Text 25"/>
          <p:cNvSpPr/>
          <p:nvPr/>
        </p:nvSpPr>
        <p:spPr bwMode="auto">
          <a:xfrm>
            <a:off x="344728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Windows Exporter</a:t>
            </a:r>
            <a:endParaRPr lang="en-US" sz="1300"/>
          </a:p>
        </p:txBody>
      </p:sp>
      <p:sp>
        <p:nvSpPr>
          <p:cNvPr id="1801627816" name="Text 26"/>
          <p:cNvSpPr/>
          <p:nvPr/>
        </p:nvSpPr>
        <p:spPr bwMode="auto">
          <a:xfrm>
            <a:off x="34290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Windows-Metriken</a:t>
            </a:r>
            <a:endParaRPr lang="en-US" sz="1100"/>
          </a:p>
        </p:txBody>
      </p:sp>
      <p:sp>
        <p:nvSpPr>
          <p:cNvPr id="893791350" name="Text 27"/>
          <p:cNvSpPr/>
          <p:nvPr/>
        </p:nvSpPr>
        <p:spPr bwMode="auto">
          <a:xfrm>
            <a:off x="342900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9182</a:t>
            </a:r>
            <a:endParaRPr lang="en-US" sz="1100"/>
          </a:p>
        </p:txBody>
      </p:sp>
      <p:sp>
        <p:nvSpPr>
          <p:cNvPr id="1896857497" name="Shape 28"/>
          <p:cNvSpPr/>
          <p:nvPr/>
        </p:nvSpPr>
        <p:spPr bwMode="auto">
          <a:xfrm>
            <a:off x="626364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57030237" name="Shape 29"/>
          <p:cNvSpPr/>
          <p:nvPr/>
        </p:nvSpPr>
        <p:spPr bwMode="auto">
          <a:xfrm>
            <a:off x="6263640" y="2788920"/>
            <a:ext cx="274320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7866074" name="Text 30"/>
          <p:cNvSpPr/>
          <p:nvPr/>
        </p:nvSpPr>
        <p:spPr bwMode="auto">
          <a:xfrm>
            <a:off x="637336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Blackbox Exporter</a:t>
            </a:r>
            <a:endParaRPr lang="en-US" sz="1300"/>
          </a:p>
        </p:txBody>
      </p:sp>
      <p:sp>
        <p:nvSpPr>
          <p:cNvPr id="918166972" name="Text 31"/>
          <p:cNvSpPr/>
          <p:nvPr/>
        </p:nvSpPr>
        <p:spPr bwMode="auto">
          <a:xfrm>
            <a:off x="63550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Erreichbarkeit</a:t>
            </a:r>
            <a:endParaRPr lang="en-US" sz="1100"/>
          </a:p>
        </p:txBody>
      </p:sp>
      <p:sp>
        <p:nvSpPr>
          <p:cNvPr id="273427752" name="Text 32"/>
          <p:cNvSpPr/>
          <p:nvPr/>
        </p:nvSpPr>
        <p:spPr bwMode="auto">
          <a:xfrm>
            <a:off x="635508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HTTP / ICMP Probes – Dienst- und Ping-Monitoring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90477" name="!!Shape 4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3229412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05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73688468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39908" name="!!Text 2"/>
          <p:cNvSpPr/>
          <p:nvPr/>
        </p:nvSpPr>
        <p:spPr bwMode="auto">
          <a:xfrm>
            <a:off x="411480" y="1666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Implementierung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– Schritt für Schritt</a:t>
            </a:r>
            <a:endParaRPr lang="en-US" sz="2600" dirty="0"/>
          </a:p>
        </p:txBody>
      </p:sp>
      <p:sp>
        <p:nvSpPr>
          <p:cNvPr id="141096794" name="Shape 1"/>
          <p:cNvSpPr/>
          <p:nvPr/>
        </p:nvSpPr>
        <p:spPr bwMode="auto">
          <a:xfrm>
            <a:off x="411480" y="788448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86940380" name="Shape 3"/>
          <p:cNvSpPr/>
          <p:nvPr/>
        </p:nvSpPr>
        <p:spPr bwMode="auto">
          <a:xfrm>
            <a:off x="411480" y="925608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66350422" name="!!Shape 4"/>
          <p:cNvSpPr/>
          <p:nvPr/>
        </p:nvSpPr>
        <p:spPr bwMode="auto">
          <a:xfrm>
            <a:off x="411480" y="925608"/>
            <a:ext cx="50292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3583295" name="Text 5"/>
          <p:cNvSpPr/>
          <p:nvPr/>
        </p:nvSpPr>
        <p:spPr bwMode="auto">
          <a:xfrm>
            <a:off x="411480" y="92560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800"/>
          </a:p>
        </p:txBody>
      </p:sp>
      <p:sp>
        <p:nvSpPr>
          <p:cNvPr id="2143755094" name="Text 6"/>
          <p:cNvSpPr/>
          <p:nvPr/>
        </p:nvSpPr>
        <p:spPr bwMode="auto">
          <a:xfrm>
            <a:off x="1005840" y="98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VMs erstellen &amp; OS installieren</a:t>
            </a:r>
            <a:endParaRPr lang="en-US" sz="1200"/>
          </a:p>
        </p:txBody>
      </p:sp>
      <p:sp>
        <p:nvSpPr>
          <p:cNvPr id="1241077090" name="Text 7"/>
          <p:cNvSpPr/>
          <p:nvPr/>
        </p:nvSpPr>
        <p:spPr bwMode="auto">
          <a:xfrm>
            <a:off x="1005840" y="1254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Ubuntu 22.04 (×2), Windows Server 2022, Windows 11 – alle im selben virtuellen Netz</a:t>
            </a:r>
            <a:endParaRPr lang="en-US" sz="1100"/>
          </a:p>
        </p:txBody>
      </p:sp>
      <p:sp>
        <p:nvSpPr>
          <p:cNvPr id="1065925424" name="Shape 8"/>
          <p:cNvSpPr/>
          <p:nvPr/>
        </p:nvSpPr>
        <p:spPr bwMode="auto">
          <a:xfrm>
            <a:off x="411480" y="1638840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3661706" name="Shape 9"/>
          <p:cNvSpPr/>
          <p:nvPr/>
        </p:nvSpPr>
        <p:spPr bwMode="auto">
          <a:xfrm>
            <a:off x="411480" y="1638840"/>
            <a:ext cx="502920" cy="6217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7347758" name="Text 10"/>
          <p:cNvSpPr/>
          <p:nvPr/>
        </p:nvSpPr>
        <p:spPr bwMode="auto">
          <a:xfrm>
            <a:off x="411480" y="16388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800"/>
          </a:p>
        </p:txBody>
      </p:sp>
      <p:sp>
        <p:nvSpPr>
          <p:cNvPr id="992388136" name="Text 11"/>
          <p:cNvSpPr/>
          <p:nvPr/>
        </p:nvSpPr>
        <p:spPr bwMode="auto">
          <a:xfrm>
            <a:off x="1005840" y="1693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Dienste installieren</a:t>
            </a:r>
            <a:endParaRPr lang="en-US" sz="1200"/>
          </a:p>
        </p:txBody>
      </p:sp>
      <p:sp>
        <p:nvSpPr>
          <p:cNvPr id="691101513" name="Text 12"/>
          <p:cNvSpPr/>
          <p:nvPr/>
        </p:nvSpPr>
        <p:spPr bwMode="auto">
          <a:xfrm>
            <a:off x="1005840" y="19680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(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IIS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) auf Windows Server 2022 · Apache Webserver auf Ubuntu</a:t>
            </a:r>
            <a:endParaRPr lang="en-US" sz="1100"/>
          </a:p>
        </p:txBody>
      </p:sp>
      <p:sp>
        <p:nvSpPr>
          <p:cNvPr id="1538804328" name="Shape 13"/>
          <p:cNvSpPr/>
          <p:nvPr/>
        </p:nvSpPr>
        <p:spPr bwMode="auto">
          <a:xfrm>
            <a:off x="411480" y="2352072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74622113" name="Shape 14"/>
          <p:cNvSpPr/>
          <p:nvPr/>
        </p:nvSpPr>
        <p:spPr bwMode="auto">
          <a:xfrm>
            <a:off x="411480" y="2352072"/>
            <a:ext cx="502920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08209758" name="Text 15"/>
          <p:cNvSpPr/>
          <p:nvPr/>
        </p:nvSpPr>
        <p:spPr bwMode="auto">
          <a:xfrm>
            <a:off x="411480" y="23520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800"/>
          </a:p>
        </p:txBody>
      </p:sp>
      <p:sp>
        <p:nvSpPr>
          <p:cNvPr id="562656948" name="Text 16"/>
          <p:cNvSpPr/>
          <p:nvPr/>
        </p:nvSpPr>
        <p:spPr bwMode="auto">
          <a:xfrm>
            <a:off x="1005840" y="240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Exporters auf allen Systemen</a:t>
            </a:r>
            <a:endParaRPr lang="en-US" sz="1200"/>
          </a:p>
        </p:txBody>
      </p:sp>
      <p:sp>
        <p:nvSpPr>
          <p:cNvPr id="1764880135" name="Text 17"/>
          <p:cNvSpPr/>
          <p:nvPr/>
        </p:nvSpPr>
        <p:spPr bwMode="auto">
          <a:xfrm>
            <a:off x="1005840" y="26812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Node Exporter (Linux), Windows Exporter (Windows), Blackbox Exporter (Monitoring-VM)</a:t>
            </a:r>
            <a:endParaRPr lang="en-US" sz="1100"/>
          </a:p>
        </p:txBody>
      </p:sp>
      <p:sp>
        <p:nvSpPr>
          <p:cNvPr id="922177226" name="Shape 18"/>
          <p:cNvSpPr/>
          <p:nvPr/>
        </p:nvSpPr>
        <p:spPr bwMode="auto">
          <a:xfrm>
            <a:off x="411480" y="3065304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79293264" name="Shape 19"/>
          <p:cNvSpPr/>
          <p:nvPr/>
        </p:nvSpPr>
        <p:spPr bwMode="auto">
          <a:xfrm>
            <a:off x="411480" y="3065304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53877928" name="Text 20"/>
          <p:cNvSpPr/>
          <p:nvPr/>
        </p:nvSpPr>
        <p:spPr bwMode="auto">
          <a:xfrm>
            <a:off x="411480" y="30653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800"/>
          </a:p>
        </p:txBody>
      </p:sp>
      <p:sp>
        <p:nvSpPr>
          <p:cNvPr id="1044276522" name="Text 21"/>
          <p:cNvSpPr/>
          <p:nvPr/>
        </p:nvSpPr>
        <p:spPr bwMode="auto">
          <a:xfrm>
            <a:off x="1005840" y="312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konfigurieren</a:t>
            </a:r>
            <a:endParaRPr lang="en-US" sz="1200"/>
          </a:p>
        </p:txBody>
      </p:sp>
      <p:sp>
        <p:nvSpPr>
          <p:cNvPr id="442684820" name="Text 22"/>
          <p:cNvSpPr/>
          <p:nvPr/>
        </p:nvSpPr>
        <p:spPr bwMode="auto">
          <a:xfrm>
            <a:off x="1005840" y="3394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prometheus.yml: Scrape-Targets, Jobs, Intervall 15s · Als Systemdienst gestartet</a:t>
            </a:r>
            <a:endParaRPr lang="en-US" sz="1100"/>
          </a:p>
        </p:txBody>
      </p:sp>
      <p:sp>
        <p:nvSpPr>
          <p:cNvPr id="897058526" name="Shape 23"/>
          <p:cNvSpPr/>
          <p:nvPr/>
        </p:nvSpPr>
        <p:spPr bwMode="auto">
          <a:xfrm>
            <a:off x="411480" y="3778536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5331205" name="Shape 24"/>
          <p:cNvSpPr/>
          <p:nvPr/>
        </p:nvSpPr>
        <p:spPr bwMode="auto">
          <a:xfrm>
            <a:off x="411480" y="3778536"/>
            <a:ext cx="502920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88541698" name="Text 25"/>
          <p:cNvSpPr/>
          <p:nvPr/>
        </p:nvSpPr>
        <p:spPr bwMode="auto">
          <a:xfrm>
            <a:off x="411480" y="377853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800"/>
          </a:p>
        </p:txBody>
      </p:sp>
      <p:sp>
        <p:nvSpPr>
          <p:cNvPr id="1071788120" name="Text 26"/>
          <p:cNvSpPr/>
          <p:nvPr/>
        </p:nvSpPr>
        <p:spPr bwMode="auto">
          <a:xfrm>
            <a:off x="1005840" y="383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Grafana &amp; Dashboards</a:t>
            </a:r>
            <a:endParaRPr lang="en-US" sz="1200"/>
          </a:p>
        </p:txBody>
      </p:sp>
      <p:sp>
        <p:nvSpPr>
          <p:cNvPr id="1581106595" name="Text 27"/>
          <p:cNvSpPr/>
          <p:nvPr/>
        </p:nvSpPr>
        <p:spPr bwMode="auto">
          <a:xfrm>
            <a:off x="1005840" y="4107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 als Datenquelle · Individuelle Dashboards pro System und Gesamtübersicht</a:t>
            </a:r>
            <a:endParaRPr lang="en-US" sz="1100"/>
          </a:p>
        </p:txBody>
      </p:sp>
      <p:sp>
        <p:nvSpPr>
          <p:cNvPr id="2103267391" name="Shape 28"/>
          <p:cNvSpPr/>
          <p:nvPr/>
        </p:nvSpPr>
        <p:spPr bwMode="auto">
          <a:xfrm>
            <a:off x="411480" y="4491768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3782344" name="!!Shape 29"/>
          <p:cNvSpPr/>
          <p:nvPr/>
        </p:nvSpPr>
        <p:spPr bwMode="auto">
          <a:xfrm>
            <a:off x="411480" y="4491768"/>
            <a:ext cx="50292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0493578" name="Text 30"/>
          <p:cNvSpPr/>
          <p:nvPr/>
        </p:nvSpPr>
        <p:spPr bwMode="auto">
          <a:xfrm>
            <a:off x="411480" y="449176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800"/>
          </a:p>
        </p:txBody>
      </p:sp>
      <p:sp>
        <p:nvSpPr>
          <p:cNvPr id="864439876" name="Text 31"/>
          <p:cNvSpPr/>
          <p:nvPr/>
        </p:nvSpPr>
        <p:spPr bwMode="auto">
          <a:xfrm>
            <a:off x="1005840" y="454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Alerting konfigurieren</a:t>
            </a:r>
            <a:endParaRPr lang="en-US" sz="1200"/>
          </a:p>
        </p:txBody>
      </p:sp>
      <p:sp>
        <p:nvSpPr>
          <p:cNvPr id="605356952" name="Text 32"/>
          <p:cNvSpPr/>
          <p:nvPr/>
        </p:nvSpPr>
        <p:spPr bwMode="auto">
          <a:xfrm>
            <a:off x="1005840" y="48209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Alert-Regeln (CPU &gt;90%, RAM &gt;85%, Disk 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&gt;80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%, Host down) · Alertmanager → E-Mail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588733" name="!!Shape 29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0563630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06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08522008" name="!!Text 5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Ergebnisse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383221" name="!!Text 5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Testergebnisse</a:t>
            </a:r>
            <a:endParaRPr lang="en-US" sz="2600" dirty="0"/>
          </a:p>
        </p:txBody>
      </p:sp>
      <p:sp>
        <p:nvSpPr>
          <p:cNvPr id="8233801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9266883" name="Shape 3"/>
          <p:cNvSpPr/>
          <p:nvPr/>
        </p:nvSpPr>
        <p:spPr bwMode="auto">
          <a:xfrm>
            <a:off x="411480" y="96012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863408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069848"/>
            <a:ext cx="347472" cy="347472"/>
          </a:xfrm>
          <a:prstGeom prst="rect">
            <a:avLst/>
          </a:prstGeom>
        </p:spPr>
      </p:pic>
      <p:sp>
        <p:nvSpPr>
          <p:cNvPr id="256780337" name="Text 4"/>
          <p:cNvSpPr/>
          <p:nvPr/>
        </p:nvSpPr>
        <p:spPr bwMode="auto">
          <a:xfrm>
            <a:off x="1005840" y="1014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Exporter-Erreichbarkeit</a:t>
            </a:r>
            <a:endParaRPr lang="en-US" sz="1200"/>
          </a:p>
        </p:txBody>
      </p:sp>
      <p:sp>
        <p:nvSpPr>
          <p:cNvPr id="1761545369" name="Text 5"/>
          <p:cNvSpPr/>
          <p:nvPr/>
        </p:nvSpPr>
        <p:spPr bwMode="auto">
          <a:xfrm>
            <a:off x="1005840" y="127101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Alle Targets in Prometheus auf Status 'UP'</a:t>
            </a:r>
            <a:endParaRPr lang="en-US" sz="1100"/>
          </a:p>
        </p:txBody>
      </p:sp>
      <p:sp>
        <p:nvSpPr>
          <p:cNvPr id="1523396932" name="Text 6"/>
          <p:cNvSpPr/>
          <p:nvPr/>
        </p:nvSpPr>
        <p:spPr bwMode="auto">
          <a:xfrm>
            <a:off x="7589520" y="10515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28370225" name="Shape 7"/>
          <p:cNvSpPr/>
          <p:nvPr/>
        </p:nvSpPr>
        <p:spPr bwMode="auto">
          <a:xfrm>
            <a:off x="411480" y="1618488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23089402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728216"/>
            <a:ext cx="347472" cy="347472"/>
          </a:xfrm>
          <a:prstGeom prst="rect">
            <a:avLst/>
          </a:prstGeom>
        </p:spPr>
      </p:pic>
      <p:sp>
        <p:nvSpPr>
          <p:cNvPr id="836997205" name="Text 8"/>
          <p:cNvSpPr/>
          <p:nvPr/>
        </p:nvSpPr>
        <p:spPr bwMode="auto">
          <a:xfrm>
            <a:off x="100584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Metrik-Korrektheit</a:t>
            </a:r>
            <a:endParaRPr lang="en-US" sz="1200"/>
          </a:p>
        </p:txBody>
      </p:sp>
      <p:sp>
        <p:nvSpPr>
          <p:cNvPr id="436198241" name="Text 9"/>
          <p:cNvSpPr/>
          <p:nvPr/>
        </p:nvSpPr>
        <p:spPr bwMode="auto">
          <a:xfrm>
            <a:off x="1005840" y="192938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CPU/RAM-Werte verglichen mit Taskmanager / htop</a:t>
            </a:r>
            <a:endParaRPr lang="en-US" sz="1100"/>
          </a:p>
        </p:txBody>
      </p:sp>
      <p:sp>
        <p:nvSpPr>
          <p:cNvPr id="1679651331" name="Text 10"/>
          <p:cNvSpPr/>
          <p:nvPr/>
        </p:nvSpPr>
        <p:spPr bwMode="auto">
          <a:xfrm>
            <a:off x="7589520" y="17099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667126129" name="Shape 11"/>
          <p:cNvSpPr/>
          <p:nvPr/>
        </p:nvSpPr>
        <p:spPr bwMode="auto">
          <a:xfrm>
            <a:off x="411480" y="2276856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5031831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2386584"/>
            <a:ext cx="347472" cy="347472"/>
          </a:xfrm>
          <a:prstGeom prst="rect">
            <a:avLst/>
          </a:prstGeom>
        </p:spPr>
      </p:pic>
      <p:sp>
        <p:nvSpPr>
          <p:cNvPr id="649302859" name="Text 12"/>
          <p:cNvSpPr/>
          <p:nvPr/>
        </p:nvSpPr>
        <p:spPr bwMode="auto">
          <a:xfrm>
            <a:off x="100584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Dashboard-Anzeige</a:t>
            </a:r>
            <a:endParaRPr lang="en-US" sz="1200"/>
          </a:p>
        </p:txBody>
      </p:sp>
      <p:sp>
        <p:nvSpPr>
          <p:cNvPr id="147233559" name="Text 13"/>
          <p:cNvSpPr/>
          <p:nvPr/>
        </p:nvSpPr>
        <p:spPr bwMode="auto">
          <a:xfrm>
            <a:off x="1005840" y="258775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Grafana zeigt alle Panels vollständig und korrekt</a:t>
            </a:r>
            <a:endParaRPr lang="en-US" sz="1100"/>
          </a:p>
        </p:txBody>
      </p:sp>
      <p:sp>
        <p:nvSpPr>
          <p:cNvPr id="1349542539" name="Text 14"/>
          <p:cNvSpPr/>
          <p:nvPr/>
        </p:nvSpPr>
        <p:spPr bwMode="auto">
          <a:xfrm>
            <a:off x="7589520" y="23682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546609580" name="Shape 15"/>
          <p:cNvSpPr/>
          <p:nvPr/>
        </p:nvSpPr>
        <p:spPr bwMode="auto">
          <a:xfrm>
            <a:off x="411480" y="2935224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66214732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044952"/>
            <a:ext cx="347472" cy="347472"/>
          </a:xfrm>
          <a:prstGeom prst="rect">
            <a:avLst/>
          </a:prstGeom>
        </p:spPr>
      </p:pic>
      <p:sp>
        <p:nvSpPr>
          <p:cNvPr id="1799507686" name="Text 16"/>
          <p:cNvSpPr/>
          <p:nvPr/>
        </p:nvSpPr>
        <p:spPr bwMode="auto">
          <a:xfrm>
            <a:off x="1005840" y="2990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Ausfallsimulation</a:t>
            </a:r>
            <a:endParaRPr lang="en-US" sz="1200"/>
          </a:p>
        </p:txBody>
      </p:sp>
      <p:sp>
        <p:nvSpPr>
          <p:cNvPr id="569726906" name="Text 17"/>
          <p:cNvSpPr/>
          <p:nvPr/>
        </p:nvSpPr>
        <p:spPr bwMode="auto">
          <a:xfrm>
            <a:off x="1005840" y="32461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VM manuell heruntergefahren → Alert ausgelöst</a:t>
            </a:r>
            <a:endParaRPr lang="en-US" sz="1100"/>
          </a:p>
        </p:txBody>
      </p:sp>
      <p:sp>
        <p:nvSpPr>
          <p:cNvPr id="914533594" name="Text 18"/>
          <p:cNvSpPr/>
          <p:nvPr/>
        </p:nvSpPr>
        <p:spPr bwMode="auto">
          <a:xfrm>
            <a:off x="758952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711237021" name="Shape 19"/>
          <p:cNvSpPr/>
          <p:nvPr/>
        </p:nvSpPr>
        <p:spPr bwMode="auto">
          <a:xfrm>
            <a:off x="411480" y="3593592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32377916" name="Image 4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703320"/>
            <a:ext cx="347472" cy="347472"/>
          </a:xfrm>
          <a:prstGeom prst="rect">
            <a:avLst/>
          </a:prstGeom>
        </p:spPr>
      </p:pic>
      <p:sp>
        <p:nvSpPr>
          <p:cNvPr id="1055956044" name="Text 20"/>
          <p:cNvSpPr/>
          <p:nvPr/>
        </p:nvSpPr>
        <p:spPr bwMode="auto">
          <a:xfrm>
            <a:off x="1005840" y="3648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E-Mail-Alerting</a:t>
            </a:r>
            <a:endParaRPr lang="en-US" sz="1200"/>
          </a:p>
        </p:txBody>
      </p:sp>
      <p:sp>
        <p:nvSpPr>
          <p:cNvPr id="115962415" name="Text 21"/>
          <p:cNvSpPr/>
          <p:nvPr/>
        </p:nvSpPr>
        <p:spPr bwMode="auto">
          <a:xfrm>
            <a:off x="1005840" y="390448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 bei VM-Ausfall automatisch empfangen</a:t>
            </a:r>
            <a:endParaRPr lang="en-US" sz="1100"/>
          </a:p>
        </p:txBody>
      </p:sp>
      <p:sp>
        <p:nvSpPr>
          <p:cNvPr id="209288238" name="Text 22"/>
          <p:cNvSpPr/>
          <p:nvPr/>
        </p:nvSpPr>
        <p:spPr bwMode="auto">
          <a:xfrm>
            <a:off x="7589520" y="36850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589073897" name="Shape 23"/>
          <p:cNvSpPr/>
          <p:nvPr/>
        </p:nvSpPr>
        <p:spPr bwMode="auto">
          <a:xfrm>
            <a:off x="411480" y="425196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39127230" name="Image 5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361688"/>
            <a:ext cx="347472" cy="347472"/>
          </a:xfrm>
          <a:prstGeom prst="rect">
            <a:avLst/>
          </a:prstGeom>
        </p:spPr>
      </p:pic>
      <p:sp>
        <p:nvSpPr>
          <p:cNvPr id="1248396364" name="Text 24"/>
          <p:cNvSpPr/>
          <p:nvPr/>
        </p:nvSpPr>
        <p:spPr bwMode="auto">
          <a:xfrm>
            <a:off x="1005840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HTTP-Monitoring</a:t>
            </a:r>
            <a:endParaRPr lang="en-US" sz="1200"/>
          </a:p>
        </p:txBody>
      </p:sp>
      <p:sp>
        <p:nvSpPr>
          <p:cNvPr id="1347608334" name="Text 25"/>
          <p:cNvSpPr/>
          <p:nvPr/>
        </p:nvSpPr>
        <p:spPr bwMode="auto">
          <a:xfrm>
            <a:off x="1005840" y="456285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gestoppt → Blackbox meldet Nichterreichbarkeit</a:t>
            </a:r>
            <a:endParaRPr lang="en-US" sz="1100"/>
          </a:p>
        </p:txBody>
      </p:sp>
      <p:sp>
        <p:nvSpPr>
          <p:cNvPr id="810299731" name="Text 26"/>
          <p:cNvSpPr/>
          <p:nvPr/>
        </p:nvSpPr>
        <p:spPr bwMode="auto">
          <a:xfrm>
            <a:off x="7589520" y="4343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26246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821726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07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56149883" name="!!Text 6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Nutzwertanalyse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Empfehlung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11276" name="!!Text 6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 + Grafana</a:t>
            </a:r>
            <a:endParaRPr lang="en-US" sz="2600" dirty="0"/>
          </a:p>
        </p:txBody>
      </p:sp>
      <p:sp>
        <p:nvSpPr>
          <p:cNvPr id="127290726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8601947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57831"/>
              </p:ext>
            </p:extLst>
          </p:nvPr>
        </p:nvGraphicFramePr>
        <p:xfrm>
          <a:off x="411480" y="960120"/>
          <a:ext cx="832104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Kriterium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Gewicht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PRTG kostenlos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Prometheus + Grafana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Lizenzkosten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Skalierbarkeit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★☆☆☆☆  (1)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Dashboard-Flexibilität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Einrichtungsaufwand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Dokumentation/Community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★★★★☆  (4)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Alerting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★★★☆☆  (3)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Gesamtpunktzahl (gewichtet)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62 </a:t>
                      </a:r>
                      <a:r>
                        <a:rPr lang="en-US" sz="1200" b="1" dirty="0" err="1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Punkte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111 </a:t>
                      </a:r>
                      <a:r>
                        <a:rPr lang="en-US" sz="1200" b="1" dirty="0" err="1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Punkte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62494395" name="Shape 3"/>
          <p:cNvSpPr/>
          <p:nvPr/>
        </p:nvSpPr>
        <p:spPr bwMode="auto">
          <a:xfrm>
            <a:off x="411480" y="4023360"/>
            <a:ext cx="8321039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7657183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4360" y="4160519"/>
            <a:ext cx="411480" cy="411480"/>
          </a:xfrm>
          <a:prstGeom prst="rect">
            <a:avLst/>
          </a:prstGeom>
        </p:spPr>
      </p:pic>
      <p:sp>
        <p:nvSpPr>
          <p:cNvPr id="1270981502" name="Text 4"/>
          <p:cNvSpPr/>
          <p:nvPr/>
        </p:nvSpPr>
        <p:spPr bwMode="auto">
          <a:xfrm>
            <a:off x="1097280" y="409651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Empfehlung: Prometheus + Grafana als zukünftige Monitoring-Lösung einsetzen — unbegrenzte Sensoren, volle Dashboard-Freiheit, dauerhaft kostenfrei.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253018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802367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08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5460868" name="!!Text 7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Fazit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Ausblick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22894" name="!!Text 7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Fazit</a:t>
            </a:r>
            <a:endParaRPr lang="en-US" sz="2600" dirty="0"/>
          </a:p>
        </p:txBody>
      </p:sp>
      <p:sp>
        <p:nvSpPr>
          <p:cNvPr id="893738464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47368255" name="Text 3"/>
          <p:cNvSpPr/>
          <p:nvPr/>
        </p:nvSpPr>
        <p:spPr bwMode="auto">
          <a:xfrm>
            <a:off x="41148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Soll-/Ist-Vergleich</a:t>
            </a:r>
            <a:endParaRPr lang="en-US" sz="1400"/>
          </a:p>
        </p:txBody>
      </p:sp>
      <p:graphicFrame>
        <p:nvGraphicFramePr>
          <p:cNvPr id="771967619" name="Table 0"/>
          <p:cNvGraphicFramePr>
            <a:graphicFrameLocks noGrp="1"/>
          </p:cNvGraphicFramePr>
          <p:nvPr/>
        </p:nvGraphicFramePr>
        <p:xfrm>
          <a:off x="411480" y="1325880"/>
          <a:ext cx="484632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Planungsphase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Realisierungsphase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+2,0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Projektabschluss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-2,0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2652978" name="Text 4"/>
          <p:cNvSpPr/>
          <p:nvPr/>
        </p:nvSpPr>
        <p:spPr bwMode="auto">
          <a:xfrm>
            <a:off x="41148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Mehraufwand in der Realisierung durch Troubleshooting (neue Technologien), durch Puffer kompensiert.</a:t>
            </a:r>
            <a:endParaRPr lang="en-US" sz="1100"/>
          </a:p>
        </p:txBody>
      </p:sp>
      <p:sp>
        <p:nvSpPr>
          <p:cNvPr id="238488701" name="Text 5"/>
          <p:cNvSpPr/>
          <p:nvPr/>
        </p:nvSpPr>
        <p:spPr bwMode="auto">
          <a:xfrm>
            <a:off x="54864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Lessons Learned</a:t>
            </a:r>
            <a:endParaRPr lang="en-US" sz="1400"/>
          </a:p>
        </p:txBody>
      </p:sp>
      <p:sp>
        <p:nvSpPr>
          <p:cNvPr id="649228702" name="Shape 6"/>
          <p:cNvSpPr/>
          <p:nvPr/>
        </p:nvSpPr>
        <p:spPr bwMode="auto">
          <a:xfrm>
            <a:off x="5486400" y="137160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1265500" name="Text 7"/>
          <p:cNvSpPr/>
          <p:nvPr/>
        </p:nvSpPr>
        <p:spPr bwMode="auto">
          <a:xfrm>
            <a:off x="5577840" y="1417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1446600265" name="Text 8"/>
          <p:cNvSpPr/>
          <p:nvPr/>
        </p:nvSpPr>
        <p:spPr bwMode="auto">
          <a:xfrm>
            <a:off x="5897880" y="1399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Einarbeitung in neue Tools dauert länger – Puffer einplanen</a:t>
            </a:r>
            <a:endParaRPr lang="en-US" sz="1100"/>
          </a:p>
        </p:txBody>
      </p:sp>
      <p:sp>
        <p:nvSpPr>
          <p:cNvPr id="491296043" name="Shape 9"/>
          <p:cNvSpPr/>
          <p:nvPr/>
        </p:nvSpPr>
        <p:spPr bwMode="auto">
          <a:xfrm>
            <a:off x="5486400" y="187452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87536431" name="Text 10"/>
          <p:cNvSpPr/>
          <p:nvPr/>
        </p:nvSpPr>
        <p:spPr bwMode="auto">
          <a:xfrm>
            <a:off x="557784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455805853" name="Text 11"/>
          <p:cNvSpPr/>
          <p:nvPr/>
        </p:nvSpPr>
        <p:spPr bwMode="auto">
          <a:xfrm>
            <a:off x="5897880" y="1901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YAML-Konfiguration bietet hohe Flexibilität</a:t>
            </a:r>
            <a:endParaRPr lang="en-US" sz="1100"/>
          </a:p>
        </p:txBody>
      </p:sp>
      <p:sp>
        <p:nvSpPr>
          <p:cNvPr id="1333076385" name="Shape 12"/>
          <p:cNvSpPr/>
          <p:nvPr/>
        </p:nvSpPr>
        <p:spPr bwMode="auto">
          <a:xfrm>
            <a:off x="5486400" y="237744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6543378" name="Text 13"/>
          <p:cNvSpPr/>
          <p:nvPr/>
        </p:nvSpPr>
        <p:spPr bwMode="auto">
          <a:xfrm>
            <a:off x="557784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808254286" name="Text 14"/>
          <p:cNvSpPr/>
          <p:nvPr/>
        </p:nvSpPr>
        <p:spPr bwMode="auto">
          <a:xfrm>
            <a:off x="5897880" y="2404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KI-Assistenten beschleunigen Troubleshooting erheblich</a:t>
            </a:r>
            <a:endParaRPr lang="en-US" sz="1100"/>
          </a:p>
        </p:txBody>
      </p:sp>
      <p:sp>
        <p:nvSpPr>
          <p:cNvPr id="1370614850" name="Shape 15"/>
          <p:cNvSpPr/>
          <p:nvPr/>
        </p:nvSpPr>
        <p:spPr bwMode="auto">
          <a:xfrm>
            <a:off x="5486400" y="288036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2434869" name="Text 16"/>
          <p:cNvSpPr/>
          <p:nvPr/>
        </p:nvSpPr>
        <p:spPr bwMode="auto">
          <a:xfrm>
            <a:off x="5577840" y="2926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2018551079" name="Text 17"/>
          <p:cNvSpPr/>
          <p:nvPr/>
        </p:nvSpPr>
        <p:spPr bwMode="auto">
          <a:xfrm>
            <a:off x="5897880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Blackbox Exporter: wertvolles Erreichbarkeits-Tool</a:t>
            </a:r>
            <a:endParaRPr lang="en-US" sz="1100"/>
          </a:p>
        </p:txBody>
      </p:sp>
      <p:sp>
        <p:nvSpPr>
          <p:cNvPr id="1641521709" name="Text 18"/>
          <p:cNvSpPr/>
          <p:nvPr/>
        </p:nvSpPr>
        <p:spPr bwMode="auto">
          <a:xfrm>
            <a:off x="411480" y="3429000"/>
            <a:ext cx="8321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Ausblick</a:t>
            </a:r>
            <a:endParaRPr lang="en-US" sz="1400"/>
          </a:p>
        </p:txBody>
      </p:sp>
      <p:sp>
        <p:nvSpPr>
          <p:cNvPr id="2118143524" name="Shape 19"/>
          <p:cNvSpPr/>
          <p:nvPr/>
        </p:nvSpPr>
        <p:spPr bwMode="auto">
          <a:xfrm>
            <a:off x="41148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41528137" name="Text 20"/>
          <p:cNvSpPr/>
          <p:nvPr/>
        </p:nvSpPr>
        <p:spPr bwMode="auto">
          <a:xfrm>
            <a:off x="54864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Migration des produktiven PRTG-Monitorings auf Prometheus/Grafana</a:t>
            </a:r>
            <a:endParaRPr lang="en-US" sz="1100"/>
          </a:p>
        </p:txBody>
      </p:sp>
      <p:sp>
        <p:nvSpPr>
          <p:cNvPr id="1279234772" name="Shape 21"/>
          <p:cNvSpPr/>
          <p:nvPr/>
        </p:nvSpPr>
        <p:spPr bwMode="auto">
          <a:xfrm>
            <a:off x="466344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3252286" name="Text 22"/>
          <p:cNvSpPr/>
          <p:nvPr/>
        </p:nvSpPr>
        <p:spPr bwMode="auto">
          <a:xfrm>
            <a:off x="480060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Weitere Exporters (Datenbank, Anwendungsmonitoring)</a:t>
            </a:r>
            <a:endParaRPr lang="en-US" sz="1100"/>
          </a:p>
        </p:txBody>
      </p:sp>
      <p:sp>
        <p:nvSpPr>
          <p:cNvPr id="2010859038" name="Shape 23"/>
          <p:cNvSpPr/>
          <p:nvPr/>
        </p:nvSpPr>
        <p:spPr bwMode="auto">
          <a:xfrm>
            <a:off x="41148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1923908" name="Text 24"/>
          <p:cNvSpPr/>
          <p:nvPr/>
        </p:nvSpPr>
        <p:spPr bwMode="auto">
          <a:xfrm>
            <a:off x="54864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Automatisierte Bereitstellung via Docker Compose oder Ansible</a:t>
            </a:r>
            <a:endParaRPr lang="en-US" sz="1100"/>
          </a:p>
        </p:txBody>
      </p:sp>
      <p:sp>
        <p:nvSpPr>
          <p:cNvPr id="2099841793" name="Shape 25"/>
          <p:cNvSpPr/>
          <p:nvPr/>
        </p:nvSpPr>
        <p:spPr bwMode="auto">
          <a:xfrm>
            <a:off x="466344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9510295" name="Text 26"/>
          <p:cNvSpPr/>
          <p:nvPr/>
        </p:nvSpPr>
        <p:spPr bwMode="auto">
          <a:xfrm>
            <a:off x="480060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Zusätzliche Alerting-Kanäle (Slack, Microsoft Teams)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13433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34380851" name="Text 1"/>
          <p:cNvSpPr/>
          <p:nvPr/>
        </p:nvSpPr>
        <p:spPr bwMode="auto">
          <a:xfrm>
            <a:off x="502920" y="1280160"/>
            <a:ext cx="83210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Vielen Dank für Ihre Aufmerksamkeit!</a:t>
            </a:r>
            <a:endParaRPr lang="en-US" sz="3200"/>
          </a:p>
        </p:txBody>
      </p:sp>
      <p:sp>
        <p:nvSpPr>
          <p:cNvPr id="1934068263" name="Text 2"/>
          <p:cNvSpPr/>
          <p:nvPr/>
        </p:nvSpPr>
        <p:spPr bwMode="auto">
          <a:xfrm>
            <a:off x="502920" y="2286000"/>
            <a:ext cx="8321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Fragen &amp; Diskussion</a:t>
            </a:r>
            <a:endParaRPr lang="en-US" sz="2200"/>
          </a:p>
        </p:txBody>
      </p:sp>
      <p:sp>
        <p:nvSpPr>
          <p:cNvPr id="1583270992" name="Shape 3"/>
          <p:cNvSpPr/>
          <p:nvPr/>
        </p:nvSpPr>
        <p:spPr bwMode="auto">
          <a:xfrm>
            <a:off x="50292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4039342" name="Text 4"/>
          <p:cNvSpPr/>
          <p:nvPr/>
        </p:nvSpPr>
        <p:spPr bwMode="auto">
          <a:xfrm>
            <a:off x="50292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3200"/>
          </a:p>
        </p:txBody>
      </p:sp>
      <p:sp>
        <p:nvSpPr>
          <p:cNvPr id="899129491" name="Text 5"/>
          <p:cNvSpPr/>
          <p:nvPr/>
        </p:nvSpPr>
        <p:spPr bwMode="auto">
          <a:xfrm>
            <a:off x="50292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Systeme überwacht</a:t>
            </a:r>
            <a:endParaRPr lang="en-US" sz="1100"/>
          </a:p>
        </p:txBody>
      </p:sp>
      <p:sp>
        <p:nvSpPr>
          <p:cNvPr id="1816074996" name="Shape 6"/>
          <p:cNvSpPr/>
          <p:nvPr/>
        </p:nvSpPr>
        <p:spPr bwMode="auto">
          <a:xfrm>
            <a:off x="265176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26019566" name="Text 7"/>
          <p:cNvSpPr/>
          <p:nvPr/>
        </p:nvSpPr>
        <p:spPr bwMode="auto">
          <a:xfrm>
            <a:off x="265176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6/6</a:t>
            </a:r>
            <a:endParaRPr lang="en-US" sz="3200"/>
          </a:p>
        </p:txBody>
      </p:sp>
      <p:sp>
        <p:nvSpPr>
          <p:cNvPr id="364019345" name="Text 8"/>
          <p:cNvSpPr/>
          <p:nvPr/>
        </p:nvSpPr>
        <p:spPr bwMode="auto">
          <a:xfrm>
            <a:off x="265176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Tests bestanden</a:t>
            </a:r>
            <a:endParaRPr lang="en-US" sz="1100"/>
          </a:p>
        </p:txBody>
      </p:sp>
      <p:sp>
        <p:nvSpPr>
          <p:cNvPr id="1367457574" name="Shape 9"/>
          <p:cNvSpPr/>
          <p:nvPr/>
        </p:nvSpPr>
        <p:spPr bwMode="auto">
          <a:xfrm>
            <a:off x="480060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71775622" name="Text 10"/>
          <p:cNvSpPr/>
          <p:nvPr/>
        </p:nvSpPr>
        <p:spPr bwMode="auto">
          <a:xfrm>
            <a:off x="480060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108</a:t>
            </a:r>
            <a:endParaRPr lang="en-US" sz="3200"/>
          </a:p>
        </p:txBody>
      </p:sp>
      <p:sp>
        <p:nvSpPr>
          <p:cNvPr id="1468719335" name="Text 11"/>
          <p:cNvSpPr/>
          <p:nvPr/>
        </p:nvSpPr>
        <p:spPr bwMode="auto">
          <a:xfrm>
            <a:off x="480060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Nutzwertpunkte</a:t>
            </a:r>
            <a:endParaRPr lang="en-US" sz="1100"/>
          </a:p>
        </p:txBody>
      </p:sp>
      <p:sp>
        <p:nvSpPr>
          <p:cNvPr id="175209456" name="Shape 12"/>
          <p:cNvSpPr/>
          <p:nvPr/>
        </p:nvSpPr>
        <p:spPr bwMode="auto">
          <a:xfrm>
            <a:off x="694944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95263568" name="Text 13"/>
          <p:cNvSpPr/>
          <p:nvPr/>
        </p:nvSpPr>
        <p:spPr bwMode="auto">
          <a:xfrm>
            <a:off x="694944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0 €</a:t>
            </a:r>
            <a:endParaRPr lang="en-US" sz="3200"/>
          </a:p>
        </p:txBody>
      </p:sp>
      <p:sp>
        <p:nvSpPr>
          <p:cNvPr id="1159639584" name="Text 14"/>
          <p:cNvSpPr/>
          <p:nvPr/>
        </p:nvSpPr>
        <p:spPr bwMode="auto">
          <a:xfrm>
            <a:off x="694944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100"/>
          </a:p>
        </p:txBody>
      </p:sp>
      <p:sp>
        <p:nvSpPr>
          <p:cNvPr id="873098706" name="Text 15"/>
          <p:cNvSpPr/>
          <p:nvPr/>
        </p:nvSpPr>
        <p:spPr bwMode="auto">
          <a:xfrm>
            <a:off x="502920" y="4754880"/>
            <a:ext cx="83210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Ioannis Kiourtzidis  |  Fachinformatiker Systemintegration  |  Bissantz &amp; Company GmbH  |  Sommer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1031</Words>
  <Application>Microsoft Office PowerPoint</Application>
  <PresentationFormat>Bildschirmpräsentation (16:9)</PresentationFormat>
  <Paragraphs>388</Paragraphs>
  <Slides>29</Slides>
  <Notes>29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Aufbau einer virtuellen IT-Infrastruktur – Monitoring-System</dc:title>
  <dc:subject>PptxGenJS Presentation</dc:subject>
  <dc:creator>Ioannis Kiourtzidis</dc:creator>
  <cp:lastModifiedBy>Ioannis Kiourtzidis</cp:lastModifiedBy>
  <cp:revision>13</cp:revision>
  <dcterms:created xsi:type="dcterms:W3CDTF">2026-05-07T10:59:05Z</dcterms:created>
  <dcterms:modified xsi:type="dcterms:W3CDTF">2026-05-15T13:01:19Z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03368d-9931-4cf3-ba90-7aab0414e018_Enabled">
    <vt:lpwstr>true</vt:lpwstr>
  </property>
  <property fmtid="{D5CDD505-2E9C-101B-9397-08002B2CF9AE}" pid="3" name="MSIP_Label_1803368d-9931-4cf3-ba90-7aab0414e018_SetDate">
    <vt:lpwstr>2026-05-15T09:05:02Z</vt:lpwstr>
  </property>
  <property fmtid="{D5CDD505-2E9C-101B-9397-08002B2CF9AE}" pid="4" name="MSIP_Label_1803368d-9931-4cf3-ba90-7aab0414e018_Method">
    <vt:lpwstr>Standard</vt:lpwstr>
  </property>
  <property fmtid="{D5CDD505-2E9C-101B-9397-08002B2CF9AE}" pid="5" name="MSIP_Label_1803368d-9931-4cf3-ba90-7aab0414e018_Name">
    <vt:lpwstr>Intern</vt:lpwstr>
  </property>
  <property fmtid="{D5CDD505-2E9C-101B-9397-08002B2CF9AE}" pid="6" name="MSIP_Label_1803368d-9931-4cf3-ba90-7aab0414e018_SiteId">
    <vt:lpwstr>e269c712-f9c3-429a-a5ca-c16f61bbfcb6</vt:lpwstr>
  </property>
  <property fmtid="{D5CDD505-2E9C-101B-9397-08002B2CF9AE}" pid="7" name="MSIP_Label_1803368d-9931-4cf3-ba90-7aab0414e018_ActionId">
    <vt:lpwstr>e6d07c78-7e13-411f-b33d-85261991cb7f</vt:lpwstr>
  </property>
  <property fmtid="{D5CDD505-2E9C-101B-9397-08002B2CF9AE}" pid="8" name="MSIP_Label_1803368d-9931-4cf3-ba90-7aab0414e018_ContentBits">
    <vt:lpwstr>2</vt:lpwstr>
  </property>
  <property fmtid="{D5CDD505-2E9C-101B-9397-08002B2CF9AE}" pid="9" name="MSIP_Label_1803368d-9931-4cf3-ba90-7aab0414e018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</vt:lpwstr>
  </property>
</Properties>
</file>